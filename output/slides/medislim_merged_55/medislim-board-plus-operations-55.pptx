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3A36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B78B3C"/>
          </a:solidFill>
          <a:ln w="12700">
            <a:solidFill>
              <a:srgbClr val="B78B3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603504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MediSlim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58368" y="1261872"/>
            <a:ext cx="5303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5 页董事会版 / 融资版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58368" y="1901952"/>
            <a:ext cx="58521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D9E8E4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中国版 Medvi 的 AI 消费医疗平台：以三圈产品、轻资产履约和 OPC 运营系统构建订阅型健康生意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58368" y="3977640"/>
            <a:ext cx="1783080" cy="1152144"/>
          </a:xfrm>
          <a:prstGeom prst="roundRect">
            <a:avLst>
              <a:gd name="adj" fmla="val 6349"/>
            </a:avLst>
          </a:prstGeom>
          <a:solidFill>
            <a:srgbClr val="2E6C67"/>
          </a:solidFill>
          <a:ln w="12700">
            <a:solidFill>
              <a:srgbClr val="2E6C67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4114800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三圈模型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49808" y="4370832"/>
            <a:ext cx="1600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处方建立信任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药食同源做复购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保健品拉利润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2651760" y="3977640"/>
            <a:ext cx="1783080" cy="1152144"/>
          </a:xfrm>
          <a:prstGeom prst="roundRect">
            <a:avLst>
              <a:gd name="adj" fmla="val 6349"/>
            </a:avLst>
          </a:prstGeom>
          <a:solidFill>
            <a:srgbClr val="4E9177"/>
          </a:solidFill>
          <a:ln w="12700">
            <a:solidFill>
              <a:srgbClr val="4E9177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0" y="4114800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组织模式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743200" y="4370832"/>
            <a:ext cx="1600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1 人 + AI 驱动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持牌与履约外包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系统替代部门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4645152" y="3977640"/>
            <a:ext cx="1783080" cy="1152144"/>
          </a:xfrm>
          <a:prstGeom prst="roundRect">
            <a:avLst>
              <a:gd name="adj" fmla="val 6349"/>
            </a:avLst>
          </a:prstGeom>
          <a:solidFill>
            <a:srgbClr val="B78B3C"/>
          </a:solidFill>
          <a:ln w="12700">
            <a:solidFill>
              <a:srgbClr val="B78B3C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36592" y="4114800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财务假设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36592" y="4370832"/>
            <a:ext cx="1600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M12 目标 1 万付费用户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月收入 765 万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净利率目标 25-30%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7726680" y="914400"/>
            <a:ext cx="3822192" cy="4572000"/>
          </a:xfrm>
          <a:prstGeom prst="roundRect">
            <a:avLst>
              <a:gd name="adj" fmla="val 2871"/>
            </a:avLst>
          </a:prstGeom>
          <a:solidFill>
            <a:srgbClr val="254C47"/>
          </a:solidFill>
          <a:ln w="12700">
            <a:solidFill>
              <a:srgbClr val="3C5A5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0" y="131673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投资摘要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046720" y="1755648"/>
            <a:ext cx="309067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76" dirty="0">
                <a:solidFill>
                  <a:srgbClr val="E6F0E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1. 需求侧：减重、亚健康、女性调养、睡眠与肠胃都在持续消费化。</a:t>
            </a:r>
            <a:endParaRPr lang="en-US" sz="1376" dirty="0"/>
          </a:p>
          <a:p>
            <a:pPr indent="0" marL="0">
              <a:buNone/>
            </a:pPr>
            <a:r>
              <a:rPr lang="en-US" sz="1376" dirty="0">
                <a:solidFill>
                  <a:srgbClr val="E6F0E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2. 模型侧：中国可以用药食同源和体质辨识完成 Medvi 在美国做不到的复购设计。</a:t>
            </a:r>
            <a:endParaRPr lang="en-US" sz="1376" dirty="0"/>
          </a:p>
          <a:p>
            <a:pPr indent="0" marL="0">
              <a:buNone/>
            </a:pPr>
            <a:r>
              <a:rPr lang="en-US" sz="1376" dirty="0">
                <a:solidFill>
                  <a:srgbClr val="E6F0E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3. 合规侧：我们不做医疗主体，只做流量、评估、CRM 和复购管理。</a:t>
            </a:r>
            <a:endParaRPr lang="en-US" sz="1376" dirty="0"/>
          </a:p>
          <a:p>
            <a:pPr indent="0" marL="0">
              <a:buNone/>
            </a:pPr>
            <a:r>
              <a:rPr lang="en-US" sz="1376" dirty="0">
                <a:solidFill>
                  <a:srgbClr val="E6F0E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4. 经营侧：先打爆第二圈，再导向第三圈和第一圈，降低冷启动难度。</a:t>
            </a:r>
            <a:endParaRPr lang="en-US" sz="1376" dirty="0"/>
          </a:p>
          <a:p>
            <a:pPr indent="0" marL="0">
              <a:buNone/>
            </a:pPr>
            <a:r>
              <a:rPr lang="en-US" sz="1376" dirty="0">
                <a:solidFill>
                  <a:srgbClr val="E6F0E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5. 本版用途：用于董事会判断 90 天计划、融资准备与关键合作优先级。</a:t>
            </a:r>
            <a:endParaRPr lang="en-US" sz="1376" dirty="0"/>
          </a:p>
        </p:txBody>
      </p:sp>
      <p:sp>
        <p:nvSpPr>
          <p:cNvPr id="18" name="Text 16"/>
          <p:cNvSpPr/>
          <p:nvPr/>
        </p:nvSpPr>
        <p:spPr>
          <a:xfrm>
            <a:off x="658368" y="6272784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C8D7D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注：本 deck 中财务与增长数字均基于现有商业方案和仓库文档的内部经营测算。</a:t>
            </a:r>
            <a:endParaRPr lang="en-US" sz="860" dirty="0"/>
          </a:p>
        </p:txBody>
      </p:sp>
      <p:sp>
        <p:nvSpPr>
          <p:cNvPr id="19" name="Text 17"/>
          <p:cNvSpPr/>
          <p:nvPr/>
        </p:nvSpPr>
        <p:spPr>
          <a:xfrm>
            <a:off x="11045952" y="6455664"/>
            <a:ext cx="585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01</a:t>
            </a:r>
            <a:endParaRPr lang="en-US" sz="950" dirty="0"/>
          </a:p>
        </p:txBody>
      </p:sp>
    </p:spTree>
  </p:cSld>
  <p:clrMapOvr>
    <a:masterClrMapping/>
  </p:clrMapOvr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6C67"/>
          </a:solidFill>
          <a:ln w="12700">
            <a:solidFill>
              <a:srgbClr val="2E6C6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56032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63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为什么现在值得投 / 值得做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694944"/>
            <a:ext cx="8961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8757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董事会真正要判断的不是“能不能做”，而是“这是不是一个能成立的中国化模型”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10058400" y="256032"/>
            <a:ext cx="1261872" cy="310896"/>
          </a:xfrm>
          <a:prstGeom prst="roundRect">
            <a:avLst>
              <a:gd name="adj" fmla="val 17647"/>
            </a:avLst>
          </a:prstGeom>
          <a:solidFill>
            <a:srgbClr val="DCEFE7"/>
          </a:solidFill>
          <a:ln w="12700">
            <a:solidFill>
              <a:srgbClr val="EEF3F0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0" y="292608"/>
            <a:ext cx="1261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6C67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机会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30352" y="6455664"/>
            <a:ext cx="11119104" cy="0"/>
          </a:xfrm>
          <a:prstGeom prst="line">
            <a:avLst/>
          </a:prstGeom>
          <a:noFill/>
          <a:ln w="12700">
            <a:solidFill>
              <a:srgbClr val="DDD8C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6501384"/>
            <a:ext cx="9601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8757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MediSlim | 董事会版 / 融资版 | 预测数据均为内部经营测算，外发前需标注已验证数据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45952" y="6473952"/>
            <a:ext cx="585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E6C67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02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30352" y="1170432"/>
            <a:ext cx="2743200" cy="2176272"/>
          </a:xfrm>
          <a:prstGeom prst="roundRect">
            <a:avLst>
              <a:gd name="adj" fmla="val 3361"/>
            </a:avLst>
          </a:prstGeom>
          <a:solidFill>
            <a:srgbClr val="FFFFFF"/>
          </a:solidFill>
          <a:ln w="12700">
            <a:solidFill>
              <a:srgbClr val="DDD8CD"/>
            </a:solidFill>
            <a:prstDash val="solid"/>
          </a:ln>
          <a:effectLst>
            <a:outerShdw sx="100000" sy="100000" kx="0" ky="0" algn="bl" rotWithShape="0" blurRad="15240" dist="8890" dir="2700000">
              <a:srgbClr val="86918D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30352" y="1170432"/>
            <a:ext cx="2743200" cy="100584"/>
          </a:xfrm>
          <a:prstGeom prst="rect">
            <a:avLst/>
          </a:prstGeom>
          <a:solidFill>
            <a:srgbClr val="2E6C67"/>
          </a:solidFill>
          <a:ln w="12700">
            <a:solidFill>
              <a:srgbClr val="2E6C67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4944" y="1353312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63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赛道变化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94944" y="1682496"/>
            <a:ext cx="2414016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16" dirty="0">
                <a:solidFill>
                  <a:srgbClr val="17363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医疗消费化已经从单次看病转向长期管理。减重、亚健康、睡眠、女性调养与轻营养都在从“治疗需求”变成“持续付费需求”。</a:t>
            </a:r>
            <a:endParaRPr lang="en-US" sz="1316" dirty="0"/>
          </a:p>
        </p:txBody>
      </p:sp>
      <p:sp>
        <p:nvSpPr>
          <p:cNvPr id="14" name="Shape 12"/>
          <p:cNvSpPr/>
          <p:nvPr/>
        </p:nvSpPr>
        <p:spPr>
          <a:xfrm>
            <a:off x="3438144" y="1170432"/>
            <a:ext cx="2743200" cy="2176272"/>
          </a:xfrm>
          <a:prstGeom prst="roundRect">
            <a:avLst>
              <a:gd name="adj" fmla="val 3361"/>
            </a:avLst>
          </a:prstGeom>
          <a:solidFill>
            <a:srgbClr val="FFFFFF"/>
          </a:solidFill>
          <a:ln w="12700">
            <a:solidFill>
              <a:srgbClr val="DDD8CD"/>
            </a:solidFill>
            <a:prstDash val="solid"/>
          </a:ln>
          <a:effectLst>
            <a:outerShdw sx="100000" sy="100000" kx="0" ky="0" algn="bl" rotWithShape="0" blurRad="15240" dist="8890" dir="2700000">
              <a:srgbClr val="86918D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438144" y="1170432"/>
            <a:ext cx="2743200" cy="100584"/>
          </a:xfrm>
          <a:prstGeom prst="rect">
            <a:avLst/>
          </a:prstGeom>
          <a:solidFill>
            <a:srgbClr val="4E9177"/>
          </a:solidFill>
          <a:ln w="12700">
            <a:solidFill>
              <a:srgbClr val="4E9177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02736" y="1353312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63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中国化机会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602736" y="1682496"/>
            <a:ext cx="2414016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16" dirty="0">
                <a:solidFill>
                  <a:srgbClr val="17363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美国 Medvi 主要靠 GLP-1 和远程处方。中国如果只复制处方路径，会受平台与合规约束；加入药食同源和体质辨识后，冷启动效率更高。</a:t>
            </a:r>
            <a:endParaRPr lang="en-US" sz="1316" dirty="0"/>
          </a:p>
        </p:txBody>
      </p:sp>
      <p:sp>
        <p:nvSpPr>
          <p:cNvPr id="18" name="Shape 16"/>
          <p:cNvSpPr/>
          <p:nvPr/>
        </p:nvSpPr>
        <p:spPr>
          <a:xfrm>
            <a:off x="6345936" y="1170432"/>
            <a:ext cx="2743200" cy="2176272"/>
          </a:xfrm>
          <a:prstGeom prst="roundRect">
            <a:avLst>
              <a:gd name="adj" fmla="val 3361"/>
            </a:avLst>
          </a:prstGeom>
          <a:solidFill>
            <a:srgbClr val="FFFFFF"/>
          </a:solidFill>
          <a:ln w="12700">
            <a:solidFill>
              <a:srgbClr val="DDD8CD"/>
            </a:solidFill>
            <a:prstDash val="solid"/>
          </a:ln>
          <a:effectLst>
            <a:outerShdw sx="100000" sy="100000" kx="0" ky="0" algn="bl" rotWithShape="0" blurRad="15240" dist="8890" dir="2700000">
              <a:srgbClr val="86918D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345936" y="1170432"/>
            <a:ext cx="2743200" cy="100584"/>
          </a:xfrm>
          <a:prstGeom prst="rect">
            <a:avLst/>
          </a:prstGeom>
          <a:solidFill>
            <a:srgbClr val="B78B3C"/>
          </a:solidFill>
          <a:ln w="12700">
            <a:solidFill>
              <a:srgbClr val="B78B3C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10528" y="1353312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63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差异化护城河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510528" y="1682496"/>
            <a:ext cx="2414016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16" dirty="0">
                <a:solidFill>
                  <a:srgbClr val="17363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真正的壁垒不是某个单品，而是：体质辨识、订阅盒、企微陪伴、状态机运营、用户健康数据和低成本 AI 自动化。</a:t>
            </a:r>
            <a:endParaRPr lang="en-US" sz="1316" dirty="0"/>
          </a:p>
        </p:txBody>
      </p:sp>
      <p:sp>
        <p:nvSpPr>
          <p:cNvPr id="22" name="Shape 20"/>
          <p:cNvSpPr/>
          <p:nvPr/>
        </p:nvSpPr>
        <p:spPr>
          <a:xfrm>
            <a:off x="9253728" y="1170432"/>
            <a:ext cx="2386584" cy="2176272"/>
          </a:xfrm>
          <a:prstGeom prst="roundRect">
            <a:avLst>
              <a:gd name="adj" fmla="val 3361"/>
            </a:avLst>
          </a:prstGeom>
          <a:solidFill>
            <a:srgbClr val="FFFFFF"/>
          </a:solidFill>
          <a:ln w="12700">
            <a:solidFill>
              <a:srgbClr val="DDD8CD"/>
            </a:solidFill>
            <a:prstDash val="solid"/>
          </a:ln>
          <a:effectLst>
            <a:outerShdw sx="100000" sy="100000" kx="0" ky="0" algn="bl" rotWithShape="0" blurRad="15240" dist="8890" dir="2700000">
              <a:srgbClr val="86918D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253728" y="1170432"/>
            <a:ext cx="2386584" cy="100584"/>
          </a:xfrm>
          <a:prstGeom prst="rect">
            <a:avLst/>
          </a:prstGeom>
          <a:solidFill>
            <a:srgbClr val="5B84B1"/>
          </a:solidFill>
          <a:ln w="12700">
            <a:solidFill>
              <a:srgbClr val="5B84B1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418320" y="1353312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63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边界清晰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418320" y="1682496"/>
            <a:ext cx="205740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76" dirty="0">
                <a:solidFill>
                  <a:srgbClr val="17363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我们不是医疗主体。处方、问诊、药品经营全部归合作方；我们只做品牌、流量、评估、CRM、复购。</a:t>
            </a:r>
            <a:endParaRPr lang="en-US" sz="1276" dirty="0"/>
          </a:p>
        </p:txBody>
      </p:sp>
      <p:sp>
        <p:nvSpPr>
          <p:cNvPr id="26" name="Shape 24"/>
          <p:cNvSpPr/>
          <p:nvPr/>
        </p:nvSpPr>
        <p:spPr>
          <a:xfrm>
            <a:off x="530352" y="3602736"/>
            <a:ext cx="5559552" cy="2414016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DDD8CD"/>
            </a:solidFill>
            <a:prstDash val="solid"/>
          </a:ln>
          <a:effectLst>
            <a:outerShdw sx="100000" sy="100000" kx="0" ky="0" algn="bl" rotWithShape="0" blurRad="15240" dist="8890" dir="2700000">
              <a:srgbClr val="86918D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30352" y="3602736"/>
            <a:ext cx="5559552" cy="100584"/>
          </a:xfrm>
          <a:prstGeom prst="rect">
            <a:avLst/>
          </a:prstGeom>
          <a:solidFill>
            <a:srgbClr val="BC6652"/>
          </a:solidFill>
          <a:ln w="12700">
            <a:solidFill>
              <a:srgbClr val="BC6652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4944" y="3785616"/>
            <a:ext cx="5230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63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商业模式判断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94944" y="4114800"/>
            <a:ext cx="5230368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35" dirty="0">
                <a:solidFill>
                  <a:srgbClr val="17363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如果先打处方类，会面临高 CAC、高合规压力和高解释成本；如果先打第二圈与第三圈，就能用更低门槛的内容获取用户，再把高意愿人群导入处方私域。这是整套模型能跑起来的关键顺序。</a:t>
            </a:r>
            <a:endParaRPr lang="en-US" sz="1335" dirty="0"/>
          </a:p>
        </p:txBody>
      </p:sp>
      <p:sp>
        <p:nvSpPr>
          <p:cNvPr id="30" name="Shape 28"/>
          <p:cNvSpPr/>
          <p:nvPr/>
        </p:nvSpPr>
        <p:spPr>
          <a:xfrm>
            <a:off x="6309360" y="3602736"/>
            <a:ext cx="5330952" cy="2414016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DDD8CD"/>
            </a:solidFill>
            <a:prstDash val="solid"/>
          </a:ln>
          <a:effectLst>
            <a:outerShdw sx="100000" sy="100000" kx="0" ky="0" algn="bl" rotWithShape="0" blurRad="15240" dist="8890" dir="2700000">
              <a:srgbClr val="86918D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309360" y="3602736"/>
            <a:ext cx="5330952" cy="100584"/>
          </a:xfrm>
          <a:prstGeom prst="rect">
            <a:avLst/>
          </a:prstGeom>
          <a:solidFill>
            <a:srgbClr val="2E6C67"/>
          </a:solidFill>
          <a:ln w="12700">
            <a:solidFill>
              <a:srgbClr val="2E6C67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73952" y="3785616"/>
            <a:ext cx="5001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63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董事会当前应关心的 3 个问题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473952" y="4114800"/>
            <a:ext cx="5001768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97" dirty="0">
                <a:solidFill>
                  <a:srgbClr val="17363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1. 我们是否同意“第二圈优先”的冷启动顺序。</a:t>
            </a:r>
            <a:endParaRPr lang="en-US" sz="1397" dirty="0"/>
          </a:p>
          <a:p>
            <a:pPr indent="0" marL="0">
              <a:buNone/>
            </a:pPr>
            <a:r>
              <a:rPr lang="en-US" sz="1397" dirty="0">
                <a:solidFill>
                  <a:srgbClr val="17363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2. 我们是否接受“流量+技术服务公司”的主体边界。</a:t>
            </a:r>
            <a:endParaRPr lang="en-US" sz="1397" dirty="0"/>
          </a:p>
          <a:p>
            <a:pPr indent="0" marL="0">
              <a:buNone/>
            </a:pPr>
            <a:r>
              <a:rPr lang="en-US" sz="1397" dirty="0">
                <a:solidFill>
                  <a:srgbClr val="17363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3. 我们是否愿意先用 90 天验证模型，再决定规模化投入。</a:t>
            </a:r>
            <a:endParaRPr lang="en-US" sz="1397" dirty="0"/>
          </a:p>
        </p:txBody>
      </p:sp>
    </p:spTree>
  </p:cSld>
  <p:clrMapOvr>
    <a:masterClrMapping/>
  </p:clrMapOvr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6C67"/>
          </a:solidFill>
          <a:ln w="12700">
            <a:solidFill>
              <a:srgbClr val="2E6C6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56032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63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我们怎么赚钱，以及为什么这个模型有机会成立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694944"/>
            <a:ext cx="8961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8757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把业务拆成收入引擎、单位经济和 12 个月经营节奏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10058400" y="256032"/>
            <a:ext cx="1261872" cy="310896"/>
          </a:xfrm>
          <a:prstGeom prst="roundRect">
            <a:avLst>
              <a:gd name="adj" fmla="val 17647"/>
            </a:avLst>
          </a:prstGeom>
          <a:solidFill>
            <a:srgbClr val="DCEFE7"/>
          </a:solidFill>
          <a:ln w="12700">
            <a:solidFill>
              <a:srgbClr val="EEF3F0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0" y="292608"/>
            <a:ext cx="1261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6C67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模型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30352" y="6455664"/>
            <a:ext cx="11119104" cy="0"/>
          </a:xfrm>
          <a:prstGeom prst="line">
            <a:avLst/>
          </a:prstGeom>
          <a:noFill/>
          <a:ln w="12700">
            <a:solidFill>
              <a:srgbClr val="DDD8C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6501384"/>
            <a:ext cx="9601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8757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MediSlim | 董事会版 / 融资版 | 预测数据均为内部经营测算，外发前需标注已验证数据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45952" y="6473952"/>
            <a:ext cx="585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E6C67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03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30352" y="1170432"/>
            <a:ext cx="370332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DD8CD"/>
            </a:solidFill>
            <a:prstDash val="solid"/>
          </a:ln>
          <a:effectLst>
            <a:outerShdw sx="100000" sy="100000" kx="0" ky="0" algn="bl" rotWithShape="0" blurRad="15240" dist="8890" dir="2700000">
              <a:srgbClr val="86918D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30352" y="1170432"/>
            <a:ext cx="3703320" cy="100584"/>
          </a:xfrm>
          <a:prstGeom prst="rect">
            <a:avLst/>
          </a:prstGeom>
          <a:solidFill>
            <a:srgbClr val="2E6C67"/>
          </a:solidFill>
          <a:ln w="12700">
            <a:solidFill>
              <a:srgbClr val="2E6C67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4944" y="1353312"/>
            <a:ext cx="3374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63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三圈收入引擎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94944" y="1682496"/>
            <a:ext cx="3374136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97" dirty="0">
                <a:solidFill>
                  <a:srgbClr val="17363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第一圈：处方医疗，建立专业信任。</a:t>
            </a:r>
            <a:endParaRPr lang="en-US" sz="1397" dirty="0"/>
          </a:p>
          <a:p>
            <a:pPr indent="0" marL="0">
              <a:buNone/>
            </a:pPr>
            <a:r>
              <a:rPr lang="en-US" sz="1397" dirty="0">
                <a:solidFill>
                  <a:srgbClr val="17363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第二圈：药食同源，高频复购，冷启动现金流核心。</a:t>
            </a:r>
            <a:endParaRPr lang="en-US" sz="1397" dirty="0"/>
          </a:p>
          <a:p>
            <a:pPr indent="0" marL="0">
              <a:buNone/>
            </a:pPr>
            <a:r>
              <a:rPr lang="en-US" sz="1397" dirty="0">
                <a:solidFill>
                  <a:srgbClr val="17363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第三圈：保健品，提高客单价和毛利率。</a:t>
            </a:r>
            <a:endParaRPr lang="en-US" sz="1397" dirty="0"/>
          </a:p>
        </p:txBody>
      </p:sp>
      <p:sp>
        <p:nvSpPr>
          <p:cNvPr id="14" name="Shape 12"/>
          <p:cNvSpPr/>
          <p:nvPr/>
        </p:nvSpPr>
        <p:spPr>
          <a:xfrm>
            <a:off x="530352" y="3310128"/>
            <a:ext cx="3703320" cy="2578608"/>
          </a:xfrm>
          <a:prstGeom prst="roundRect">
            <a:avLst>
              <a:gd name="adj" fmla="val 2837"/>
            </a:avLst>
          </a:prstGeom>
          <a:solidFill>
            <a:srgbClr val="FFFFFF"/>
          </a:solidFill>
          <a:ln w="12700">
            <a:solidFill>
              <a:srgbClr val="DDD8CD"/>
            </a:solidFill>
            <a:prstDash val="solid"/>
          </a:ln>
          <a:effectLst>
            <a:outerShdw sx="100000" sy="100000" kx="0" ky="0" algn="bl" rotWithShape="0" blurRad="15240" dist="8890" dir="2700000">
              <a:srgbClr val="86918D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30352" y="3310128"/>
            <a:ext cx="3703320" cy="100584"/>
          </a:xfrm>
          <a:prstGeom prst="rect">
            <a:avLst/>
          </a:prstGeom>
          <a:solidFill>
            <a:srgbClr val="4E9177"/>
          </a:solidFill>
          <a:ln w="12700">
            <a:solidFill>
              <a:srgbClr val="4E9177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4944" y="3493008"/>
            <a:ext cx="3374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63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单位经济摘要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94944" y="3822192"/>
            <a:ext cx="337413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96" dirty="0">
                <a:solidFill>
                  <a:srgbClr val="17363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处方药单：首月 ¥399 / 续费 ¥599，续费毛利约 42.4%。</a:t>
            </a:r>
            <a:endParaRPr lang="en-US" sz="1296" dirty="0"/>
          </a:p>
          <a:p>
            <a:pPr indent="0" marL="0">
              <a:buNone/>
            </a:pPr>
            <a:r>
              <a:rPr lang="en-US" sz="1296" dirty="0">
                <a:solidFill>
                  <a:srgbClr val="17363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药食同源单：¥168 / 月，月毛利约 42.3%。</a:t>
            </a:r>
            <a:endParaRPr lang="en-US" sz="1296" dirty="0"/>
          </a:p>
          <a:p>
            <a:pPr indent="0" marL="0">
              <a:buNone/>
            </a:pPr>
            <a:r>
              <a:rPr lang="en-US" sz="1296" dirty="0">
                <a:solidFill>
                  <a:srgbClr val="17363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保健品单：¥198 / 月，月毛利约 46%。</a:t>
            </a:r>
            <a:endParaRPr lang="en-US" sz="1296" dirty="0"/>
          </a:p>
          <a:p>
            <a:pPr indent="0" marL="0">
              <a:buNone/>
            </a:pPr>
            <a:r>
              <a:rPr lang="en-US" sz="1296" dirty="0">
                <a:solidFill>
                  <a:srgbClr val="17363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结论：真正决定模型成立的不是首单毛利，而是 30 日复购和组合加购。</a:t>
            </a:r>
            <a:endParaRPr lang="en-US" sz="1296" dirty="0"/>
          </a:p>
        </p:txBody>
      </p:sp>
      <p:sp>
        <p:nvSpPr>
          <p:cNvPr id="18" name="Shape 16"/>
          <p:cNvSpPr/>
          <p:nvPr/>
        </p:nvSpPr>
        <p:spPr>
          <a:xfrm>
            <a:off x="4480560" y="1170432"/>
            <a:ext cx="3657600" cy="471830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DD8CD"/>
            </a:solidFill>
            <a:prstDash val="solid"/>
          </a:ln>
          <a:effectLst>
            <a:outerShdw sx="100000" sy="100000" kx="0" ky="0" algn="bl" rotWithShape="0" blurRad="15240" dist="8890" dir="2700000">
              <a:srgbClr val="86918D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480560" y="1170432"/>
            <a:ext cx="3657600" cy="100584"/>
          </a:xfrm>
          <a:prstGeom prst="rect">
            <a:avLst/>
          </a:prstGeom>
          <a:solidFill>
            <a:srgbClr val="B78B3C"/>
          </a:solidFill>
          <a:ln w="12700">
            <a:solidFill>
              <a:srgbClr val="B78B3C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45152" y="1353312"/>
            <a:ext cx="3328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63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12 个月经营测算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645152" y="1682496"/>
            <a:ext cx="3328416" cy="4059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16" dirty="0">
                <a:solidFill>
                  <a:srgbClr val="17363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M1：100 付费用户，月收入约 7.65 万。</a:t>
            </a:r>
            <a:endParaRPr lang="en-US" sz="1316" dirty="0"/>
          </a:p>
          <a:p>
            <a:pPr indent="0" marL="0">
              <a:buNone/>
            </a:pPr>
            <a:r>
              <a:rPr lang="en-US" sz="1316" dirty="0">
                <a:solidFill>
                  <a:srgbClr val="17363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M3：500 用户，月收入约 38.25 万。</a:t>
            </a:r>
            <a:endParaRPr lang="en-US" sz="1316" dirty="0"/>
          </a:p>
          <a:p>
            <a:pPr indent="0" marL="0">
              <a:buNone/>
            </a:pPr>
            <a:r>
              <a:rPr lang="en-US" sz="1316" dirty="0">
                <a:solidFill>
                  <a:srgbClr val="17363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M6：2,000 用户，月收入约 153 万。</a:t>
            </a:r>
            <a:endParaRPr lang="en-US" sz="1316" dirty="0"/>
          </a:p>
          <a:p>
            <a:pPr indent="0" marL="0">
              <a:buNone/>
            </a:pPr>
            <a:r>
              <a:rPr lang="en-US" sz="1316" dirty="0">
                <a:solidFill>
                  <a:srgbClr val="17363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M9：5,000 用户，月收入约 382.5 万。</a:t>
            </a:r>
            <a:endParaRPr lang="en-US" sz="1316" dirty="0"/>
          </a:p>
          <a:p>
            <a:pPr indent="0" marL="0">
              <a:buNone/>
            </a:pPr>
            <a:r>
              <a:rPr lang="en-US" sz="1316" dirty="0">
                <a:solidFill>
                  <a:srgbClr val="17363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M12：10,000 用户，月收入约 765 万，净利率目标 25-30%。</a:t>
            </a:r>
            <a:endParaRPr lang="en-US" sz="1316" dirty="0"/>
          </a:p>
          <a:p>
            <a:pPr indent="0" marL="0">
              <a:buNone/>
            </a:pPr>
            <a:endParaRPr lang="en-US" sz="1316" dirty="0"/>
          </a:p>
          <a:p>
            <a:pPr indent="0" marL="0">
              <a:buNone/>
            </a:pPr>
            <a:r>
              <a:rPr lang="en-US" sz="1316" dirty="0">
                <a:solidFill>
                  <a:srgbClr val="17363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这些数字当前属于经营目标，不是已验证业绩。</a:t>
            </a:r>
            <a:endParaRPr lang="en-US" sz="1316" dirty="0"/>
          </a:p>
        </p:txBody>
      </p:sp>
      <p:sp>
        <p:nvSpPr>
          <p:cNvPr id="22" name="Shape 20"/>
          <p:cNvSpPr/>
          <p:nvPr/>
        </p:nvSpPr>
        <p:spPr>
          <a:xfrm>
            <a:off x="8385048" y="1170432"/>
            <a:ext cx="3255264" cy="2267712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DD8CD"/>
            </a:solidFill>
            <a:prstDash val="solid"/>
          </a:ln>
          <a:effectLst>
            <a:outerShdw sx="100000" sy="100000" kx="0" ky="0" algn="bl" rotWithShape="0" blurRad="15240" dist="8890" dir="2700000">
              <a:srgbClr val="86918D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385048" y="1170432"/>
            <a:ext cx="3255264" cy="100584"/>
          </a:xfrm>
          <a:prstGeom prst="rect">
            <a:avLst/>
          </a:prstGeom>
          <a:solidFill>
            <a:srgbClr val="5B84B1"/>
          </a:solidFill>
          <a:ln w="12700">
            <a:solidFill>
              <a:srgbClr val="5B84B1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49640" y="135331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63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成本结构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549640" y="1682496"/>
            <a:ext cx="292608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76" dirty="0">
                <a:solidFill>
                  <a:srgbClr val="17363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产品成本约 25%，流量获客约 20%，合作方分成约 8%，物流约 5%，AI 系统约 2%，人力约 5%。</a:t>
            </a:r>
            <a:endParaRPr lang="en-US" sz="1276" dirty="0"/>
          </a:p>
          <a:p>
            <a:pPr indent="0" marL="0">
              <a:buNone/>
            </a:pPr>
            <a:r>
              <a:rPr lang="en-US" sz="1276" dirty="0">
                <a:solidFill>
                  <a:srgbClr val="17363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轻资产结构是利润空间的前提。</a:t>
            </a:r>
            <a:endParaRPr lang="en-US" sz="1276" dirty="0"/>
          </a:p>
        </p:txBody>
      </p:sp>
      <p:sp>
        <p:nvSpPr>
          <p:cNvPr id="26" name="Shape 24"/>
          <p:cNvSpPr/>
          <p:nvPr/>
        </p:nvSpPr>
        <p:spPr>
          <a:xfrm>
            <a:off x="8385048" y="3675888"/>
            <a:ext cx="3255264" cy="2212848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 w="12700">
            <a:solidFill>
              <a:srgbClr val="DDD8CD"/>
            </a:solidFill>
            <a:prstDash val="solid"/>
          </a:ln>
          <a:effectLst>
            <a:outerShdw sx="100000" sy="100000" kx="0" ky="0" algn="bl" rotWithShape="0" blurRad="15240" dist="8890" dir="2700000">
              <a:srgbClr val="86918D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385048" y="3675888"/>
            <a:ext cx="3255264" cy="100584"/>
          </a:xfrm>
          <a:prstGeom prst="rect">
            <a:avLst/>
          </a:prstGeom>
          <a:solidFill>
            <a:srgbClr val="BC6652"/>
          </a:solidFill>
          <a:ln w="12700">
            <a:solidFill>
              <a:srgbClr val="BC6652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49640" y="385876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63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融资视角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8549640" y="4187952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96" dirty="0">
                <a:solidFill>
                  <a:srgbClr val="17363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投资逻辑不是“卖货 GMV”，而是“可持续 MRR 生意”。</a:t>
            </a:r>
            <a:endParaRPr lang="en-US" sz="1296" dirty="0"/>
          </a:p>
          <a:p>
            <a:pPr indent="0" marL="0">
              <a:buNone/>
            </a:pPr>
            <a:r>
              <a:rPr lang="en-US" sz="1296" dirty="0">
                <a:solidFill>
                  <a:srgbClr val="17363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只要 CAC 可控、复购成立、伙伴稳定，这就是一个能滚起来的订阅型平台。</a:t>
            </a:r>
            <a:endParaRPr lang="en-US" sz="1296" dirty="0"/>
          </a:p>
        </p:txBody>
      </p:sp>
    </p:spTree>
  </p:cSld>
  <p:clrMapOvr>
    <a:masterClrMapping/>
  </p:clrMapOvr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6C67"/>
          </a:solidFill>
          <a:ln w="12700">
            <a:solidFill>
              <a:srgbClr val="2E6C6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56032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63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增长与运营系统：为什么一人公司仍能推进这件事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694944"/>
            <a:ext cx="8961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8757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关键不在于人少，而在于把重复性工作交给系统和合作网络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10058400" y="256032"/>
            <a:ext cx="1261872" cy="310896"/>
          </a:xfrm>
          <a:prstGeom prst="roundRect">
            <a:avLst>
              <a:gd name="adj" fmla="val 17647"/>
            </a:avLst>
          </a:prstGeom>
          <a:solidFill>
            <a:srgbClr val="DCEFE7"/>
          </a:solidFill>
          <a:ln w="12700">
            <a:solidFill>
              <a:srgbClr val="EEF3F0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0" y="292608"/>
            <a:ext cx="1261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6C67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执行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30352" y="6455664"/>
            <a:ext cx="11119104" cy="0"/>
          </a:xfrm>
          <a:prstGeom prst="line">
            <a:avLst/>
          </a:prstGeom>
          <a:noFill/>
          <a:ln w="12700">
            <a:solidFill>
              <a:srgbClr val="DDD8C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6501384"/>
            <a:ext cx="9601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8757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MediSlim | 董事会版 / 融资版 | 预测数据均为内部经营测算，外发前需标注已验证数据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45952" y="6473952"/>
            <a:ext cx="585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E6C67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04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30352" y="1170432"/>
            <a:ext cx="37947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DD8CD"/>
            </a:solidFill>
            <a:prstDash val="solid"/>
          </a:ln>
          <a:effectLst>
            <a:outerShdw sx="100000" sy="100000" kx="0" ky="0" algn="bl" rotWithShape="0" blurRad="15240" dist="8890" dir="2700000">
              <a:srgbClr val="86918D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30352" y="1170432"/>
            <a:ext cx="3794760" cy="100584"/>
          </a:xfrm>
          <a:prstGeom prst="rect">
            <a:avLst/>
          </a:prstGeom>
          <a:solidFill>
            <a:srgbClr val="2E6C67"/>
          </a:solidFill>
          <a:ln w="12700">
            <a:solidFill>
              <a:srgbClr val="2E6C67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4944" y="13533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63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增长漏斗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94944" y="1682496"/>
            <a:ext cx="3465576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5" dirty="0">
                <a:solidFill>
                  <a:srgbClr val="17363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公域内容（小红书 / 抖音 / 微信）→ H5 留资 → AI 评估 → 企微顾问 → 支付成交 → 随访复购 → 裂变。</a:t>
            </a:r>
            <a:endParaRPr lang="en-US" sz="1355" dirty="0"/>
          </a:p>
          <a:p>
            <a:pPr indent="0" marL="0">
              <a:buNone/>
            </a:pPr>
            <a:r>
              <a:rPr lang="en-US" sz="1355" dirty="0">
                <a:solidFill>
                  <a:srgbClr val="17363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公域做兴趣，私域做成交，社群做留存。</a:t>
            </a:r>
            <a:endParaRPr lang="en-US" sz="1355" dirty="0"/>
          </a:p>
        </p:txBody>
      </p:sp>
      <p:sp>
        <p:nvSpPr>
          <p:cNvPr id="14" name="Shape 12"/>
          <p:cNvSpPr/>
          <p:nvPr/>
        </p:nvSpPr>
        <p:spPr>
          <a:xfrm>
            <a:off x="530352" y="3566160"/>
            <a:ext cx="3794760" cy="2322576"/>
          </a:xfrm>
          <a:prstGeom prst="roundRect">
            <a:avLst>
              <a:gd name="adj" fmla="val 3150"/>
            </a:avLst>
          </a:prstGeom>
          <a:solidFill>
            <a:srgbClr val="FFFFFF"/>
          </a:solidFill>
          <a:ln w="12700">
            <a:solidFill>
              <a:srgbClr val="DDD8CD"/>
            </a:solidFill>
            <a:prstDash val="solid"/>
          </a:ln>
          <a:effectLst>
            <a:outerShdw sx="100000" sy="100000" kx="0" ky="0" algn="bl" rotWithShape="0" blurRad="15240" dist="8890" dir="2700000">
              <a:srgbClr val="86918D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30352" y="3566160"/>
            <a:ext cx="3794760" cy="100584"/>
          </a:xfrm>
          <a:prstGeom prst="rect">
            <a:avLst/>
          </a:prstGeom>
          <a:solidFill>
            <a:srgbClr val="4E9177"/>
          </a:solidFill>
          <a:ln w="12700">
            <a:solidFill>
              <a:srgbClr val="4E9177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4944" y="3749040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63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AI 四层架构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94944" y="4078224"/>
            <a:ext cx="3465576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96" dirty="0">
                <a:solidFill>
                  <a:srgbClr val="17363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Agent 层：内容、客服、运营、数据。</a:t>
            </a:r>
            <a:endParaRPr lang="en-US" sz="1296" dirty="0"/>
          </a:p>
          <a:p>
            <a:pPr indent="0" marL="0">
              <a:buNone/>
            </a:pPr>
            <a:r>
              <a:rPr lang="en-US" sz="1296" dirty="0">
                <a:solidFill>
                  <a:srgbClr val="17363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工具层：评估系统、业务流、后台、内容引擎。</a:t>
            </a:r>
            <a:endParaRPr lang="en-US" sz="1296" dirty="0"/>
          </a:p>
          <a:p>
            <a:pPr indent="0" marL="0">
              <a:buNone/>
            </a:pPr>
            <a:r>
              <a:rPr lang="en-US" sz="1296" dirty="0">
                <a:solidFill>
                  <a:srgbClr val="17363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合作层：医院、药房、工厂、物流、支付。</a:t>
            </a:r>
            <a:endParaRPr lang="en-US" sz="1296" dirty="0"/>
          </a:p>
          <a:p>
            <a:pPr indent="0" marL="0">
              <a:buNone/>
            </a:pPr>
            <a:r>
              <a:rPr lang="en-US" sz="1296" dirty="0">
                <a:solidFill>
                  <a:srgbClr val="17363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人层：创始人只做决策、谈判、合规与关键升级。</a:t>
            </a:r>
            <a:endParaRPr lang="en-US" sz="1296" dirty="0"/>
          </a:p>
        </p:txBody>
      </p:sp>
      <p:sp>
        <p:nvSpPr>
          <p:cNvPr id="18" name="Shape 16"/>
          <p:cNvSpPr/>
          <p:nvPr/>
        </p:nvSpPr>
        <p:spPr>
          <a:xfrm>
            <a:off x="4572000" y="1170432"/>
            <a:ext cx="3456432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DD8CD"/>
            </a:solidFill>
            <a:prstDash val="solid"/>
          </a:ln>
          <a:effectLst>
            <a:outerShdw sx="100000" sy="100000" kx="0" ky="0" algn="bl" rotWithShape="0" blurRad="15240" dist="8890" dir="2700000">
              <a:srgbClr val="86918D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0" y="1170432"/>
            <a:ext cx="3456432" cy="100584"/>
          </a:xfrm>
          <a:prstGeom prst="rect">
            <a:avLst/>
          </a:prstGeom>
          <a:solidFill>
            <a:srgbClr val="B78B3C"/>
          </a:solidFill>
          <a:ln w="12700">
            <a:solidFill>
              <a:srgbClr val="B78B3C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36592" y="1353312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63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90 天重点里程碑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736592" y="1682496"/>
            <a:ext cx="3127248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5" dirty="0">
                <a:solidFill>
                  <a:srgbClr val="17363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D1-D30：跑通最小闭环。</a:t>
            </a:r>
            <a:endParaRPr lang="en-US" sz="1355" dirty="0"/>
          </a:p>
          <a:p>
            <a:pPr indent="0" marL="0">
              <a:buNone/>
            </a:pPr>
            <a:r>
              <a:rPr lang="en-US" sz="1355" dirty="0">
                <a:solidFill>
                  <a:srgbClr val="17363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D31-D60：固定主打品类和主打渠道。</a:t>
            </a:r>
            <a:endParaRPr lang="en-US" sz="1355" dirty="0"/>
          </a:p>
          <a:p>
            <a:pPr indent="0" marL="0">
              <a:buNone/>
            </a:pPr>
            <a:r>
              <a:rPr lang="en-US" sz="1355" dirty="0">
                <a:solidFill>
                  <a:srgbClr val="17363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D61-D90：放大第二圈和第三圈，谨慎引入处方私域服务。</a:t>
            </a:r>
            <a:endParaRPr lang="en-US" sz="1355" dirty="0"/>
          </a:p>
        </p:txBody>
      </p:sp>
      <p:sp>
        <p:nvSpPr>
          <p:cNvPr id="22" name="Shape 20"/>
          <p:cNvSpPr/>
          <p:nvPr/>
        </p:nvSpPr>
        <p:spPr>
          <a:xfrm>
            <a:off x="4572000" y="3566160"/>
            <a:ext cx="3456432" cy="2322576"/>
          </a:xfrm>
          <a:prstGeom prst="roundRect">
            <a:avLst>
              <a:gd name="adj" fmla="val 3150"/>
            </a:avLst>
          </a:prstGeom>
          <a:solidFill>
            <a:srgbClr val="FFFFFF"/>
          </a:solidFill>
          <a:ln w="12700">
            <a:solidFill>
              <a:srgbClr val="DDD8CD"/>
            </a:solidFill>
            <a:prstDash val="solid"/>
          </a:ln>
          <a:effectLst>
            <a:outerShdw sx="100000" sy="100000" kx="0" ky="0" algn="bl" rotWithShape="0" blurRad="15240" dist="8890" dir="2700000">
              <a:srgbClr val="86918D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0" y="3566160"/>
            <a:ext cx="3456432" cy="100584"/>
          </a:xfrm>
          <a:prstGeom prst="rect">
            <a:avLst/>
          </a:prstGeom>
          <a:solidFill>
            <a:srgbClr val="5B84B1"/>
          </a:solidFill>
          <a:ln w="12700">
            <a:solidFill>
              <a:srgbClr val="5B84B1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36592" y="3749040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63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当前系统基础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736592" y="4078224"/>
            <a:ext cx="3127248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6" dirty="0">
                <a:solidFill>
                  <a:srgbClr val="17363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已具备：主站、评估、后台、订单与线索数据结构、内容引擎。</a:t>
            </a:r>
            <a:endParaRPr lang="en-US" sz="1306" dirty="0"/>
          </a:p>
          <a:p>
            <a:pPr indent="0" marL="0">
              <a:buNone/>
            </a:pPr>
            <a:r>
              <a:rPr lang="en-US" sz="1306" dirty="0">
                <a:solidFill>
                  <a:srgbClr val="17363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待补齐：支付闭环、企微承接、订阅管理、伙伴 API 实接。</a:t>
            </a:r>
            <a:endParaRPr lang="en-US" sz="1306" dirty="0"/>
          </a:p>
        </p:txBody>
      </p:sp>
      <p:sp>
        <p:nvSpPr>
          <p:cNvPr id="26" name="Shape 24"/>
          <p:cNvSpPr/>
          <p:nvPr/>
        </p:nvSpPr>
        <p:spPr>
          <a:xfrm>
            <a:off x="8275320" y="1170432"/>
            <a:ext cx="3364992" cy="4718304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DDD8CD"/>
            </a:solidFill>
            <a:prstDash val="solid"/>
          </a:ln>
          <a:effectLst>
            <a:outerShdw sx="100000" sy="100000" kx="0" ky="0" algn="bl" rotWithShape="0" blurRad="15240" dist="8890" dir="2700000">
              <a:srgbClr val="86918D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275320" y="1170432"/>
            <a:ext cx="3364992" cy="100584"/>
          </a:xfrm>
          <a:prstGeom prst="rect">
            <a:avLst/>
          </a:prstGeom>
          <a:solidFill>
            <a:srgbClr val="BC6652"/>
          </a:solidFill>
          <a:ln w="12700">
            <a:solidFill>
              <a:srgbClr val="BC6652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439912" y="1353312"/>
            <a:ext cx="3035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63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为什么现在适合推进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8439912" y="1682496"/>
            <a:ext cx="3035808" cy="4059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16" dirty="0">
                <a:solidFill>
                  <a:srgbClr val="17363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1. 现有文档和仓库已具备最小经营骨架。</a:t>
            </a:r>
            <a:endParaRPr lang="en-US" sz="1316" dirty="0"/>
          </a:p>
          <a:p>
            <a:pPr indent="0" marL="0">
              <a:buNone/>
            </a:pPr>
            <a:r>
              <a:rPr lang="en-US" sz="1316" dirty="0">
                <a:solidFill>
                  <a:srgbClr val="17363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2. 冷启动可以先依赖第二圈与第三圈，不必直接重投处方链路。</a:t>
            </a:r>
            <a:endParaRPr lang="en-US" sz="1316" dirty="0"/>
          </a:p>
          <a:p>
            <a:pPr indent="0" marL="0">
              <a:buNone/>
            </a:pPr>
            <a:r>
              <a:rPr lang="en-US" sz="1316" dirty="0">
                <a:solidFill>
                  <a:srgbClr val="17363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3. 一旦伙伴网络敲定，平台可在较轻的人力结构下扩大。</a:t>
            </a:r>
            <a:endParaRPr lang="en-US" sz="1316" dirty="0"/>
          </a:p>
          <a:p>
            <a:pPr indent="0" marL="0">
              <a:buNone/>
            </a:pPr>
            <a:r>
              <a:rPr lang="en-US" sz="1316" dirty="0">
                <a:solidFill>
                  <a:srgbClr val="17363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4. 风险并不小，但已经足够清楚，可以被前置管理。</a:t>
            </a:r>
            <a:endParaRPr lang="en-US" sz="1316" dirty="0"/>
          </a:p>
        </p:txBody>
      </p:sp>
    </p:spTree>
  </p:cSld>
  <p:clrMapOvr>
    <a:masterClrMapping/>
  </p:clrMapOvr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6C67"/>
          </a:solidFill>
          <a:ln w="12700">
            <a:solidFill>
              <a:srgbClr val="2E6C6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56032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63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董事会版结论：现在需要拍板什么，融资版需要补什么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694944"/>
            <a:ext cx="8961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8757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最后一页只回答“下一步怎么推进”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10058400" y="256032"/>
            <a:ext cx="1261872" cy="310896"/>
          </a:xfrm>
          <a:prstGeom prst="roundRect">
            <a:avLst>
              <a:gd name="adj" fmla="val 17647"/>
            </a:avLst>
          </a:prstGeom>
          <a:solidFill>
            <a:srgbClr val="DCEFE7"/>
          </a:solidFill>
          <a:ln w="12700">
            <a:solidFill>
              <a:srgbClr val="EEF3F0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0" y="292608"/>
            <a:ext cx="1261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6C67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决策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30352" y="6455664"/>
            <a:ext cx="11119104" cy="0"/>
          </a:xfrm>
          <a:prstGeom prst="line">
            <a:avLst/>
          </a:prstGeom>
          <a:noFill/>
          <a:ln w="12700">
            <a:solidFill>
              <a:srgbClr val="DDD8C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6501384"/>
            <a:ext cx="9601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8757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MediSlim | 董事会版 / 融资版 | 预测数据均为内部经营测算，外发前需标注已验证数据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45952" y="6473952"/>
            <a:ext cx="585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E6C67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05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30352" y="1170432"/>
            <a:ext cx="3685032" cy="2121408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DD8CD"/>
            </a:solidFill>
            <a:prstDash val="solid"/>
          </a:ln>
          <a:effectLst>
            <a:outerShdw sx="100000" sy="100000" kx="0" ky="0" algn="bl" rotWithShape="0" blurRad="15240" dist="8890" dir="2700000">
              <a:srgbClr val="86918D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30352" y="1170432"/>
            <a:ext cx="3685032" cy="100584"/>
          </a:xfrm>
          <a:prstGeom prst="rect">
            <a:avLst/>
          </a:prstGeom>
          <a:solidFill>
            <a:srgbClr val="2E6C67"/>
          </a:solidFill>
          <a:ln w="12700">
            <a:solidFill>
              <a:srgbClr val="2E6C67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4944" y="1353312"/>
            <a:ext cx="3355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63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董事会需确认的 4 件事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94944" y="1682496"/>
            <a:ext cx="33558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16" dirty="0">
                <a:solidFill>
                  <a:srgbClr val="17363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1. 是否批准以第二圈为先的冷启动顺序。</a:t>
            </a:r>
            <a:endParaRPr lang="en-US" sz="1316" dirty="0"/>
          </a:p>
          <a:p>
            <a:pPr indent="0" marL="0">
              <a:buNone/>
            </a:pPr>
            <a:r>
              <a:rPr lang="en-US" sz="1316" dirty="0">
                <a:solidFill>
                  <a:srgbClr val="17363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2. 是否批准 90 天验证期及对应预算。</a:t>
            </a:r>
            <a:endParaRPr lang="en-US" sz="1316" dirty="0"/>
          </a:p>
          <a:p>
            <a:pPr indent="0" marL="0">
              <a:buNone/>
            </a:pPr>
            <a:r>
              <a:rPr lang="en-US" sz="1316" dirty="0">
                <a:solidFill>
                  <a:srgbClr val="17363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3. 是否批准优先敲定互联网医院 / 药房 / 供应商三类关键合作。</a:t>
            </a:r>
            <a:endParaRPr lang="en-US" sz="1316" dirty="0"/>
          </a:p>
          <a:p>
            <a:pPr indent="0" marL="0">
              <a:buNone/>
            </a:pPr>
            <a:r>
              <a:rPr lang="en-US" sz="1316" dirty="0">
                <a:solidFill>
                  <a:srgbClr val="17363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4. 是否同意启动融资资料准备。</a:t>
            </a:r>
            <a:endParaRPr lang="en-US" sz="1316" dirty="0"/>
          </a:p>
        </p:txBody>
      </p:sp>
      <p:sp>
        <p:nvSpPr>
          <p:cNvPr id="14" name="Shape 12"/>
          <p:cNvSpPr/>
          <p:nvPr/>
        </p:nvSpPr>
        <p:spPr>
          <a:xfrm>
            <a:off x="530352" y="3529584"/>
            <a:ext cx="3685032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DD8CD"/>
            </a:solidFill>
            <a:prstDash val="solid"/>
          </a:ln>
          <a:effectLst>
            <a:outerShdw sx="100000" sy="100000" kx="0" ky="0" algn="bl" rotWithShape="0" blurRad="15240" dist="8890" dir="2700000">
              <a:srgbClr val="86918D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30352" y="3529584"/>
            <a:ext cx="3685032" cy="100584"/>
          </a:xfrm>
          <a:prstGeom prst="rect">
            <a:avLst/>
          </a:prstGeom>
          <a:solidFill>
            <a:srgbClr val="4E9177"/>
          </a:solidFill>
          <a:ln w="12700">
            <a:solidFill>
              <a:srgbClr val="4E9177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4944" y="3712464"/>
            <a:ext cx="3355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63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本轮资金若启动，建议用途结构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94944" y="4041648"/>
            <a:ext cx="3355848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76" dirty="0">
                <a:solidFill>
                  <a:srgbClr val="17363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35% 用于增长验证与内容投放。</a:t>
            </a:r>
            <a:endParaRPr lang="en-US" sz="1276" dirty="0"/>
          </a:p>
          <a:p>
            <a:pPr indent="0" marL="0">
              <a:buNone/>
            </a:pPr>
            <a:r>
              <a:rPr lang="en-US" sz="1276" dirty="0">
                <a:solidFill>
                  <a:srgbClr val="17363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25% 用于系统补齐：支付、企微、订阅、数据看板。</a:t>
            </a:r>
            <a:endParaRPr lang="en-US" sz="1276" dirty="0"/>
          </a:p>
          <a:p>
            <a:pPr indent="0" marL="0">
              <a:buNone/>
            </a:pPr>
            <a:r>
              <a:rPr lang="en-US" sz="1276" dirty="0">
                <a:solidFill>
                  <a:srgbClr val="17363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20% 用于伙伴接入、合规和打样。</a:t>
            </a:r>
            <a:endParaRPr lang="en-US" sz="1276" dirty="0"/>
          </a:p>
          <a:p>
            <a:pPr indent="0" marL="0">
              <a:buNone/>
            </a:pPr>
            <a:r>
              <a:rPr lang="en-US" sz="1276" dirty="0">
                <a:solidFill>
                  <a:srgbClr val="17363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20% 作为营运与安全垫。</a:t>
            </a:r>
            <a:endParaRPr lang="en-US" sz="1276" dirty="0"/>
          </a:p>
          <a:p>
            <a:pPr indent="0" marL="0">
              <a:buNone/>
            </a:pPr>
            <a:endParaRPr lang="en-US" sz="1276" dirty="0"/>
          </a:p>
          <a:p>
            <a:pPr indent="0" marL="0">
              <a:buNone/>
            </a:pPr>
            <a:r>
              <a:rPr lang="en-US" sz="1276" dirty="0">
                <a:solidFill>
                  <a:srgbClr val="17363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金额由董事会按 12-18 个月 runway 反推。</a:t>
            </a:r>
            <a:endParaRPr lang="en-US" sz="1276" dirty="0"/>
          </a:p>
        </p:txBody>
      </p:sp>
      <p:sp>
        <p:nvSpPr>
          <p:cNvPr id="18" name="Shape 16"/>
          <p:cNvSpPr/>
          <p:nvPr/>
        </p:nvSpPr>
        <p:spPr>
          <a:xfrm>
            <a:off x="4480560" y="1170432"/>
            <a:ext cx="3602736" cy="2121408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DD8CD"/>
            </a:solidFill>
            <a:prstDash val="solid"/>
          </a:ln>
          <a:effectLst>
            <a:outerShdw sx="100000" sy="100000" kx="0" ky="0" algn="bl" rotWithShape="0" blurRad="15240" dist="8890" dir="2700000">
              <a:srgbClr val="86918D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480560" y="1170432"/>
            <a:ext cx="3602736" cy="100584"/>
          </a:xfrm>
          <a:prstGeom prst="rect">
            <a:avLst/>
          </a:prstGeom>
          <a:solidFill>
            <a:srgbClr val="B78B3C"/>
          </a:solidFill>
          <a:ln w="12700">
            <a:solidFill>
              <a:srgbClr val="B78B3C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45152" y="1353312"/>
            <a:ext cx="3273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63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外发融资版还需补齐的 4 个字段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645152" y="1682496"/>
            <a:ext cx="327355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9" dirty="0">
                <a:solidFill>
                  <a:srgbClr val="17363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1. 已验证数据：真实线索、内测用户、成交、复购。</a:t>
            </a:r>
            <a:endParaRPr lang="en-US" sz="1159" dirty="0"/>
          </a:p>
          <a:p>
            <a:pPr indent="0" marL="0">
              <a:buNone/>
            </a:pPr>
            <a:r>
              <a:rPr lang="en-US" sz="1159" dirty="0">
                <a:solidFill>
                  <a:srgbClr val="17363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2. 合作进展：医院、药房、供应商的真实签约状态。</a:t>
            </a:r>
            <a:endParaRPr lang="en-US" sz="1159" dirty="0"/>
          </a:p>
          <a:p>
            <a:pPr indent="0" marL="0">
              <a:buNone/>
            </a:pPr>
            <a:r>
              <a:rPr lang="en-US" sz="1159" dirty="0">
                <a:solidFill>
                  <a:srgbClr val="17363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3. 融资要素：本轮金额、估值区间、资金期限。</a:t>
            </a:r>
            <a:endParaRPr lang="en-US" sz="1159" dirty="0"/>
          </a:p>
          <a:p>
            <a:pPr indent="0" marL="0">
              <a:buNone/>
            </a:pPr>
            <a:r>
              <a:rPr lang="en-US" sz="1159" dirty="0">
                <a:solidFill>
                  <a:srgbClr val="17363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4. 团队亮点：创始人背景、技术与 BD 执行记录。</a:t>
            </a:r>
            <a:endParaRPr lang="en-US" sz="1159" dirty="0"/>
          </a:p>
        </p:txBody>
      </p:sp>
      <p:sp>
        <p:nvSpPr>
          <p:cNvPr id="22" name="Shape 20"/>
          <p:cNvSpPr/>
          <p:nvPr/>
        </p:nvSpPr>
        <p:spPr>
          <a:xfrm>
            <a:off x="4480560" y="3529584"/>
            <a:ext cx="3602736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DD8CD"/>
            </a:solidFill>
            <a:prstDash val="solid"/>
          </a:ln>
          <a:effectLst>
            <a:outerShdw sx="100000" sy="100000" kx="0" ky="0" algn="bl" rotWithShape="0" blurRad="15240" dist="8890" dir="2700000">
              <a:srgbClr val="86918D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480560" y="3529584"/>
            <a:ext cx="3602736" cy="100584"/>
          </a:xfrm>
          <a:prstGeom prst="rect">
            <a:avLst/>
          </a:prstGeom>
          <a:solidFill>
            <a:srgbClr val="5B84B1"/>
          </a:solidFill>
          <a:ln w="12700">
            <a:solidFill>
              <a:srgbClr val="5B84B1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45152" y="3712464"/>
            <a:ext cx="3273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63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核心风险与应对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645152" y="4041648"/>
            <a:ext cx="3273552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96" dirty="0">
                <a:solidFill>
                  <a:srgbClr val="17363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风险：合规踩线、伙伴失效、供应不稳、平台限流、复购不成立。</a:t>
            </a:r>
            <a:endParaRPr lang="en-US" sz="1296" dirty="0"/>
          </a:p>
          <a:p>
            <a:pPr indent="0" marL="0">
              <a:buNone/>
            </a:pPr>
            <a:r>
              <a:rPr lang="en-US" sz="1296" dirty="0">
                <a:solidFill>
                  <a:srgbClr val="17363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应对：边界清晰、备选伙伴、状态机管理、跨平台布局、把复购当北极星。</a:t>
            </a:r>
            <a:endParaRPr lang="en-US" sz="1296" dirty="0"/>
          </a:p>
        </p:txBody>
      </p:sp>
      <p:sp>
        <p:nvSpPr>
          <p:cNvPr id="26" name="Shape 24"/>
          <p:cNvSpPr/>
          <p:nvPr/>
        </p:nvSpPr>
        <p:spPr>
          <a:xfrm>
            <a:off x="8348472" y="1170432"/>
            <a:ext cx="3291840" cy="4736592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DD8CD"/>
            </a:solidFill>
            <a:prstDash val="solid"/>
          </a:ln>
          <a:effectLst>
            <a:outerShdw sx="100000" sy="100000" kx="0" ky="0" algn="bl" rotWithShape="0" blurRad="15240" dist="8890" dir="2700000">
              <a:srgbClr val="86918D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348472" y="1170432"/>
            <a:ext cx="3291840" cy="100584"/>
          </a:xfrm>
          <a:prstGeom prst="rect">
            <a:avLst/>
          </a:prstGeom>
          <a:solidFill>
            <a:srgbClr val="BC6652"/>
          </a:solidFill>
          <a:ln w="12700">
            <a:solidFill>
              <a:srgbClr val="BC6652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13064" y="1353312"/>
            <a:ext cx="2962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63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一句话结论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8513064" y="1682496"/>
            <a:ext cx="2962656" cy="40782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45" dirty="0">
                <a:solidFill>
                  <a:srgbClr val="17363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MediSlim 值得推进的原因，不是它看起来像一个好卖货项目，而是它有机会成为一个中国化的、订阅型的、轻资产的健康管理平台。</a:t>
            </a:r>
            <a:endParaRPr lang="en-US" sz="1345" dirty="0"/>
          </a:p>
          <a:p>
            <a:pPr indent="0" marL="0">
              <a:buNone/>
            </a:pPr>
            <a:endParaRPr lang="en-US" sz="1345" dirty="0"/>
          </a:p>
          <a:p>
            <a:pPr indent="0" marL="0">
              <a:buNone/>
            </a:pPr>
            <a:r>
              <a:rPr lang="en-US" sz="1345" dirty="0">
                <a:solidFill>
                  <a:srgbClr val="17363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董事会如果认可这套顺序：先第二圈、再第三圈、后第一圈；先验证、后放大；先边界、后增长，那么这件事就应该进入下一阶段。</a:t>
            </a:r>
            <a:endParaRPr lang="en-US" sz="1345" dirty="0"/>
          </a:p>
          <a:p>
            <a:pPr indent="0" marL="0">
              <a:buNone/>
            </a:pPr>
            <a:endParaRPr lang="en-US" sz="1345" dirty="0"/>
          </a:p>
          <a:p>
            <a:pPr indent="0" marL="0">
              <a:buNone/>
            </a:pPr>
            <a:r>
              <a:rPr lang="en-US" sz="1345" dirty="0">
                <a:solidFill>
                  <a:srgbClr val="17363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反之，如果想一开始就做重处方、高投放、高复杂度路径，模型会明显变重。</a:t>
            </a:r>
            <a:endParaRPr lang="en-US" sz="1345" dirty="0"/>
          </a:p>
        </p:txBody>
      </p:sp>
    </p:spTree>
  </p:cSld>
  <p:clrMapOvr>
    <a:masterClrMapping/>
  </p:clrMapOvr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322F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322F"/>
          </a:solidFill>
          <a:ln w="12700">
            <a:solidFill>
              <a:srgbClr val="18322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B3883B"/>
          </a:solidFill>
          <a:ln w="12700">
            <a:solidFill>
              <a:srgbClr val="B3883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64008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MediSlim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58368" y="1389888"/>
            <a:ext cx="6217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战略与运营行动方针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58368" y="2139696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9E6E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基于商业方案与 OPC 运营手册整合而成的 50 页内部经营版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58368" y="2761488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CEFE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目标不是做一份介绍稿，而是形成未来 90 天可反复复盘、可逐页执行、可作为团队统一语言的经营蓝图。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58368" y="4069080"/>
            <a:ext cx="1700784" cy="1078992"/>
          </a:xfrm>
          <a:prstGeom prst="roundRect">
            <a:avLst>
              <a:gd name="adj" fmla="val 6780"/>
            </a:avLst>
          </a:prstGeom>
          <a:solidFill>
            <a:srgbClr val="2C6E68"/>
          </a:solidFill>
          <a:ln w="12700">
            <a:solidFill>
              <a:srgbClr val="2C6E68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8096" y="4206240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商业模型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68096" y="4480560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三圈产品结构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轻资产外包履约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订阅制现金流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60320" y="4069080"/>
            <a:ext cx="1700784" cy="1078992"/>
          </a:xfrm>
          <a:prstGeom prst="roundRect">
            <a:avLst>
              <a:gd name="adj" fmla="val 6780"/>
            </a:avLst>
          </a:prstGeom>
          <a:solidFill>
            <a:srgbClr val="4A8F74"/>
          </a:solidFill>
          <a:ln w="12700">
            <a:solidFill>
              <a:srgbClr val="4A8F74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70048" y="4206240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增长系统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670048" y="4480560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公域种草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私域转化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复购裂变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462272" y="4069080"/>
            <a:ext cx="1700784" cy="1078992"/>
          </a:xfrm>
          <a:prstGeom prst="roundRect">
            <a:avLst>
              <a:gd name="adj" fmla="val 6780"/>
            </a:avLst>
          </a:prstGeom>
          <a:solidFill>
            <a:srgbClr val="B3883B"/>
          </a:solidFill>
          <a:ln w="12700">
            <a:solidFill>
              <a:srgbClr val="B3883B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4206240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经营治理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0" y="4480560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合规红线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数据看板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30/90天计划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726680" y="987552"/>
            <a:ext cx="3749040" cy="4480560"/>
          </a:xfrm>
          <a:prstGeom prst="roundRect">
            <a:avLst>
              <a:gd name="adj" fmla="val 2927"/>
            </a:avLst>
          </a:prstGeom>
          <a:solidFill>
            <a:srgbClr val="214540"/>
          </a:solidFill>
          <a:ln w="12700">
            <a:solidFill>
              <a:srgbClr val="40615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46720" y="13258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本版使用方式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046720" y="1783080"/>
            <a:ext cx="310896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96" dirty="0">
                <a:solidFill>
                  <a:srgbClr val="E9F2E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1. 先统一边界：我们是流量+技术服务公司，不是医疗主体。</a:t>
            </a:r>
            <a:endParaRPr lang="en-US" sz="1396" dirty="0"/>
          </a:p>
          <a:p>
            <a:pPr indent="0" marL="0">
              <a:buNone/>
            </a:pPr>
            <a:r>
              <a:rPr lang="en-US" sz="1396" dirty="0">
                <a:solidFill>
                  <a:srgbClr val="E9F2E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2. 先打爆第二圈：药食同源与保健品是冷启动现金流核心。</a:t>
            </a:r>
            <a:endParaRPr lang="en-US" sz="1396" dirty="0"/>
          </a:p>
          <a:p>
            <a:pPr indent="0" marL="0">
              <a:buNone/>
            </a:pPr>
            <a:r>
              <a:rPr lang="en-US" sz="1396" dirty="0">
                <a:solidFill>
                  <a:srgbClr val="E9F2E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3. 处方类只走私域与互联网医院，绝不在公域直接营销。</a:t>
            </a:r>
            <a:endParaRPr lang="en-US" sz="1396" dirty="0"/>
          </a:p>
          <a:p>
            <a:pPr indent="0" marL="0">
              <a:buNone/>
            </a:pPr>
            <a:r>
              <a:rPr lang="en-US" sz="1396" dirty="0">
                <a:solidFill>
                  <a:srgbClr val="E9F2E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4. 每周经营会对照本 deck 更新 KPI、风险、行动人。</a:t>
            </a:r>
            <a:endParaRPr lang="en-US" sz="1396" dirty="0"/>
          </a:p>
          <a:p>
            <a:pPr indent="0" marL="0">
              <a:buNone/>
            </a:pPr>
            <a:r>
              <a:rPr lang="en-US" sz="1396" dirty="0">
                <a:solidFill>
                  <a:srgbClr val="E9F2E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5. 所有新增产品、渠道、活动，都必须穿过合规和单位经济模型。</a:t>
            </a:r>
            <a:endParaRPr lang="en-US" sz="1396" dirty="0"/>
          </a:p>
        </p:txBody>
      </p:sp>
      <p:sp>
        <p:nvSpPr>
          <p:cNvPr id="20" name="Text 18"/>
          <p:cNvSpPr/>
          <p:nvPr/>
        </p:nvSpPr>
        <p:spPr>
          <a:xfrm>
            <a:off x="658368" y="6291072"/>
            <a:ext cx="7406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8D4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版本：2026-04-05 | 生成方式：两份源文档 + 仓库业务文档整合</a:t>
            </a:r>
            <a:endParaRPr lang="en-US" sz="900" dirty="0"/>
          </a:p>
        </p:txBody>
      </p:sp>
    </p:spTree>
  </p:cSld>
  <p:clrMapOvr>
    <a:masterClrMapping/>
  </p:clrMapOvr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C6E68"/>
          </a:solidFill>
          <a:ln w="12700">
            <a:solidFill>
              <a:srgbClr val="2C6E6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5603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这份幻灯怎么用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694944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757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它应当被当作经营操作系统，而不是一次性展示材料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9893808" y="256032"/>
            <a:ext cx="1417320" cy="329184"/>
          </a:xfrm>
          <a:prstGeom prst="roundRect">
            <a:avLst>
              <a:gd name="adj" fmla="val 22222"/>
            </a:avLst>
          </a:prstGeom>
          <a:solidFill>
            <a:srgbClr val="DCEFE8"/>
          </a:solidFill>
          <a:ln w="12700">
            <a:solidFill>
              <a:srgbClr val="E6E1D8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93808" y="30175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6E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总览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30352" y="6473952"/>
            <a:ext cx="11109960" cy="0"/>
          </a:xfrm>
          <a:prstGeom prst="line">
            <a:avLst/>
          </a:prstGeom>
          <a:noFill/>
          <a:ln w="13970">
            <a:solidFill>
              <a:srgbClr val="E6E1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651967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757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内部行动方针版 | 来源：MediSlim-商业方案-v1.0 / MediSlim-OPC运营手册-v1.0 / 仓库业务文档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82528" y="647395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C6E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02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30352" y="1133856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30352" y="1133856"/>
            <a:ext cx="5445252" cy="109728"/>
          </a:xfrm>
          <a:prstGeom prst="rect">
            <a:avLst/>
          </a:prstGeom>
          <a:solidFill>
            <a:srgbClr val="2C6E68"/>
          </a:solidFill>
          <a:ln w="12700">
            <a:solidFill>
              <a:srgbClr val="2C6E6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4944" y="1298448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定位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94944" y="1664208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这是内部经营版。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用于统一战略、周会复盘、合作对接、项目排期。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对外融资版可由此压缩成 12-15 页。</a:t>
            </a:r>
            <a:endParaRPr lang="en-US" sz="1356" dirty="0"/>
          </a:p>
        </p:txBody>
      </p:sp>
      <p:sp>
        <p:nvSpPr>
          <p:cNvPr id="14" name="Shape 12"/>
          <p:cNvSpPr/>
          <p:nvPr/>
        </p:nvSpPr>
        <p:spPr>
          <a:xfrm>
            <a:off x="6195060" y="1133856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95060" y="1133856"/>
            <a:ext cx="5445252" cy="109728"/>
          </a:xfrm>
          <a:prstGeom prst="rect">
            <a:avLst/>
          </a:prstGeom>
          <a:solidFill>
            <a:srgbClr val="4A8F74"/>
          </a:solidFill>
          <a:ln w="12700">
            <a:solidFill>
              <a:srgbClr val="4A8F74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9652" y="1298448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更新频率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359652" y="1664208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每周更新 KPI、风险、行动项。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每月更新财务假设、渠道 ROI、合作方状态。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每季度更新品类路线图。</a:t>
            </a:r>
            <a:endParaRPr lang="en-US" sz="1356" dirty="0"/>
          </a:p>
        </p:txBody>
      </p:sp>
      <p:sp>
        <p:nvSpPr>
          <p:cNvPr id="18" name="Shape 16"/>
          <p:cNvSpPr/>
          <p:nvPr/>
        </p:nvSpPr>
        <p:spPr>
          <a:xfrm>
            <a:off x="530352" y="3781044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30352" y="3781044"/>
            <a:ext cx="5445252" cy="109728"/>
          </a:xfrm>
          <a:prstGeom prst="rect">
            <a:avLst/>
          </a:prstGeom>
          <a:solidFill>
            <a:srgbClr val="B3883B"/>
          </a:solidFill>
          <a:ln w="12700">
            <a:solidFill>
              <a:srgbClr val="B3883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4944" y="3945636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阅读顺序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694944" y="4311396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先看 1-10 页定边界。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再看增长、运营、财务、合规模块。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最后用 30/90 天计划落地。</a:t>
            </a:r>
            <a:endParaRPr lang="en-US" sz="1356" dirty="0"/>
          </a:p>
        </p:txBody>
      </p:sp>
      <p:sp>
        <p:nvSpPr>
          <p:cNvPr id="22" name="Shape 20"/>
          <p:cNvSpPr/>
          <p:nvPr/>
        </p:nvSpPr>
        <p:spPr>
          <a:xfrm>
            <a:off x="6195060" y="3781044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95060" y="3781044"/>
            <a:ext cx="5445252" cy="109728"/>
          </a:xfrm>
          <a:prstGeom prst="rect">
            <a:avLst/>
          </a:prstGeom>
          <a:solidFill>
            <a:srgbClr val="5078A5"/>
          </a:solidFill>
          <a:ln w="12700">
            <a:solidFill>
              <a:srgbClr val="5078A5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59652" y="3945636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管理要求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6359652" y="4311396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每页必须对应一个动作、一个负责人、一个指标。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无法落到动作的内容不进入经营版。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数字统一以数据看板为准。</a:t>
            </a:r>
            <a:endParaRPr lang="en-US" sz="1356" dirty="0"/>
          </a:p>
        </p:txBody>
      </p:sp>
    </p:spTree>
  </p:cSld>
  <p:clrMapOvr>
    <a:masterClrMapping/>
  </p:clrMapOvr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C6E68"/>
          </a:solidFill>
          <a:ln w="12700">
            <a:solidFill>
              <a:srgbClr val="2C6E6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5603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50 页内容地图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694944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757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全 deck 分成 10 个模块，分别回答 10 个经营问题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9893808" y="256032"/>
            <a:ext cx="1417320" cy="329184"/>
          </a:xfrm>
          <a:prstGeom prst="roundRect">
            <a:avLst>
              <a:gd name="adj" fmla="val 22222"/>
            </a:avLst>
          </a:prstGeom>
          <a:solidFill>
            <a:srgbClr val="DCEFE8"/>
          </a:solidFill>
          <a:ln w="12700">
            <a:solidFill>
              <a:srgbClr val="E6E1D8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93808" y="30175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6E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总览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30352" y="6473952"/>
            <a:ext cx="11109960" cy="0"/>
          </a:xfrm>
          <a:prstGeom prst="line">
            <a:avLst/>
          </a:prstGeom>
          <a:noFill/>
          <a:ln w="13970">
            <a:solidFill>
              <a:srgbClr val="E6E1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651967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757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内部行动方针版 | 来源：MediSlim-商业方案-v1.0 / MediSlim-OPC运营手册-v1.0 / 仓库业务文档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82528" y="647395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C6E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03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30352" y="1133856"/>
            <a:ext cx="5445252" cy="1545336"/>
          </a:xfrm>
          <a:prstGeom prst="roundRect">
            <a:avLst>
              <a:gd name="adj" fmla="val 4734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30352" y="1133856"/>
            <a:ext cx="5445252" cy="109728"/>
          </a:xfrm>
          <a:prstGeom prst="rect">
            <a:avLst/>
          </a:prstGeom>
          <a:solidFill>
            <a:srgbClr val="2C6E68"/>
          </a:solidFill>
          <a:ln w="12700">
            <a:solidFill>
              <a:srgbClr val="2C6E6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4944" y="1298448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模块 1 战略总览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94944" y="1664208"/>
            <a:ext cx="5116068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回答：为什么是现在、为什么是我们、为什么是这个模式。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覆盖市场、对标、边界、目标、商业模型。</a:t>
            </a:r>
            <a:endParaRPr lang="en-US" sz="1356" dirty="0"/>
          </a:p>
        </p:txBody>
      </p:sp>
      <p:sp>
        <p:nvSpPr>
          <p:cNvPr id="14" name="Shape 12"/>
          <p:cNvSpPr/>
          <p:nvPr/>
        </p:nvSpPr>
        <p:spPr>
          <a:xfrm>
            <a:off x="6195060" y="1133856"/>
            <a:ext cx="5445252" cy="1545336"/>
          </a:xfrm>
          <a:prstGeom prst="roundRect">
            <a:avLst>
              <a:gd name="adj" fmla="val 4734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95060" y="1133856"/>
            <a:ext cx="5445252" cy="109728"/>
          </a:xfrm>
          <a:prstGeom prst="rect">
            <a:avLst/>
          </a:prstGeom>
          <a:solidFill>
            <a:srgbClr val="4A8F74"/>
          </a:solidFill>
          <a:ln w="12700">
            <a:solidFill>
              <a:srgbClr val="4A8F74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9652" y="1298448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模块 2 产品设计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359652" y="1664208"/>
            <a:ext cx="5116068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回答：卖什么、先卖什么、如何组合。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覆盖三圈模型、价格带、爆品、订阅盒子、用户画像。</a:t>
            </a:r>
            <a:endParaRPr lang="en-US" sz="1356" dirty="0"/>
          </a:p>
        </p:txBody>
      </p:sp>
      <p:sp>
        <p:nvSpPr>
          <p:cNvPr id="18" name="Shape 16"/>
          <p:cNvSpPr/>
          <p:nvPr/>
        </p:nvSpPr>
        <p:spPr>
          <a:xfrm>
            <a:off x="530352" y="2898648"/>
            <a:ext cx="5445252" cy="1545336"/>
          </a:xfrm>
          <a:prstGeom prst="roundRect">
            <a:avLst>
              <a:gd name="adj" fmla="val 4734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30352" y="2898648"/>
            <a:ext cx="5445252" cy="109728"/>
          </a:xfrm>
          <a:prstGeom prst="rect">
            <a:avLst/>
          </a:prstGeom>
          <a:solidFill>
            <a:srgbClr val="B3883B"/>
          </a:solidFill>
          <a:ln w="12700">
            <a:solidFill>
              <a:srgbClr val="B3883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4944" y="3063240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模块 3 增长引擎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694944" y="3429000"/>
            <a:ext cx="5116068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回答：流量从哪里来、如何沉淀到私域。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覆盖公域矩阵、内容工厂、企微、公众号、小红书、抖音。</a:t>
            </a:r>
            <a:endParaRPr lang="en-US" sz="1356" dirty="0"/>
          </a:p>
        </p:txBody>
      </p:sp>
      <p:sp>
        <p:nvSpPr>
          <p:cNvPr id="22" name="Shape 20"/>
          <p:cNvSpPr/>
          <p:nvPr/>
        </p:nvSpPr>
        <p:spPr>
          <a:xfrm>
            <a:off x="6195060" y="2898648"/>
            <a:ext cx="5445252" cy="1545336"/>
          </a:xfrm>
          <a:prstGeom prst="roundRect">
            <a:avLst>
              <a:gd name="adj" fmla="val 4734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95060" y="2898648"/>
            <a:ext cx="5445252" cy="109728"/>
          </a:xfrm>
          <a:prstGeom prst="rect">
            <a:avLst/>
          </a:prstGeom>
          <a:solidFill>
            <a:srgbClr val="5078A5"/>
          </a:solidFill>
          <a:ln w="12700">
            <a:solidFill>
              <a:srgbClr val="5078A5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59652" y="3063240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模块 4 交付系统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6359652" y="3429000"/>
            <a:ext cx="5116068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回答：用户如何从线索变成复购客户。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覆盖评估、分诊、方案、下单、状态机、履约、随访、裂变。</a:t>
            </a:r>
            <a:endParaRPr lang="en-US" sz="1356" dirty="0"/>
          </a:p>
        </p:txBody>
      </p:sp>
      <p:sp>
        <p:nvSpPr>
          <p:cNvPr id="26" name="Shape 24"/>
          <p:cNvSpPr/>
          <p:nvPr/>
        </p:nvSpPr>
        <p:spPr>
          <a:xfrm>
            <a:off x="530352" y="4663440"/>
            <a:ext cx="5445252" cy="1545336"/>
          </a:xfrm>
          <a:prstGeom prst="roundRect">
            <a:avLst>
              <a:gd name="adj" fmla="val 4734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30352" y="4663440"/>
            <a:ext cx="5445252" cy="109728"/>
          </a:xfrm>
          <a:prstGeom prst="rect">
            <a:avLst/>
          </a:prstGeom>
          <a:solidFill>
            <a:srgbClr val="B65C49"/>
          </a:solidFill>
          <a:ln w="12700">
            <a:solidFill>
              <a:srgbClr val="B65C49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4944" y="4828032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模块 5 组织与系统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694944" y="5193792"/>
            <a:ext cx="5116068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回答：一人公司如何运转。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覆盖 AI 四层架构、自动化清单、OPC 组织模型、合作伙伴管理。</a:t>
            </a:r>
            <a:endParaRPr lang="en-US" sz="1356" dirty="0"/>
          </a:p>
        </p:txBody>
      </p:sp>
      <p:sp>
        <p:nvSpPr>
          <p:cNvPr id="30" name="Shape 28"/>
          <p:cNvSpPr/>
          <p:nvPr/>
        </p:nvSpPr>
        <p:spPr>
          <a:xfrm>
            <a:off x="6195060" y="4663440"/>
            <a:ext cx="5445252" cy="1545336"/>
          </a:xfrm>
          <a:prstGeom prst="roundRect">
            <a:avLst>
              <a:gd name="adj" fmla="val 4734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95060" y="4663440"/>
            <a:ext cx="5445252" cy="109728"/>
          </a:xfrm>
          <a:prstGeom prst="rect">
            <a:avLst/>
          </a:prstGeom>
          <a:solidFill>
            <a:srgbClr val="8DB4A0"/>
          </a:solidFill>
          <a:ln w="12700">
            <a:solidFill>
              <a:srgbClr val="8DB4A0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59652" y="4828032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模块 6 财务与治理</a:t>
            </a: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6359652" y="5193792"/>
            <a:ext cx="5116068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42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回答：怎么赚钱、怎么控风险、怎么推进。</a:t>
            </a:r>
            <a:endParaRPr lang="en-US" sz="1242" dirty="0"/>
          </a:p>
          <a:p>
            <a:pPr indent="0" marL="0">
              <a:buNone/>
            </a:pPr>
            <a:r>
              <a:rPr lang="en-US" sz="1242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覆盖资金流、单位经济、收入预测、看板、合规、应急、30/90 天计划。</a:t>
            </a:r>
            <a:endParaRPr lang="en-US" sz="1242" dirty="0"/>
          </a:p>
        </p:txBody>
      </p:sp>
    </p:spTree>
  </p:cSld>
  <p:clrMapOvr>
    <a:masterClrMapping/>
  </p:clrMapOvr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C6E68"/>
          </a:solidFill>
          <a:ln w="12700">
            <a:solidFill>
              <a:srgbClr val="2C6E6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5603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执行摘要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694944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757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先用 4 张卡片记住经营判断，再展开所有细节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9893808" y="256032"/>
            <a:ext cx="1417320" cy="329184"/>
          </a:xfrm>
          <a:prstGeom prst="roundRect">
            <a:avLst>
              <a:gd name="adj" fmla="val 22222"/>
            </a:avLst>
          </a:prstGeom>
          <a:solidFill>
            <a:srgbClr val="DCEFE8"/>
          </a:solidFill>
          <a:ln w="12700">
            <a:solidFill>
              <a:srgbClr val="E6E1D8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93808" y="30175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6E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战略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30352" y="6473952"/>
            <a:ext cx="11109960" cy="0"/>
          </a:xfrm>
          <a:prstGeom prst="line">
            <a:avLst/>
          </a:prstGeom>
          <a:noFill/>
          <a:ln w="13970">
            <a:solidFill>
              <a:srgbClr val="E6E1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651967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757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内部行动方针版 | 来源：MediSlim-商业方案-v1.0 / MediSlim-OPC运营手册-v1.0 / 仓库业务文档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82528" y="647395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C6E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04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30352" y="1133856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30352" y="1133856"/>
            <a:ext cx="5445252" cy="109728"/>
          </a:xfrm>
          <a:prstGeom prst="rect">
            <a:avLst/>
          </a:prstGeom>
          <a:solidFill>
            <a:srgbClr val="2C6E68"/>
          </a:solidFill>
          <a:ln w="12700">
            <a:solidFill>
              <a:srgbClr val="2C6E6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4944" y="1298448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一句话模式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94944" y="1664208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MediSlim 是 AI 驱动的消费医疗+健康消费品平台。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我们做品牌、流量、评估、CRM、复购；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持牌问诊、处方与药品销售交给合作方。</a:t>
            </a:r>
            <a:endParaRPr lang="en-US" sz="1356" dirty="0"/>
          </a:p>
        </p:txBody>
      </p:sp>
      <p:sp>
        <p:nvSpPr>
          <p:cNvPr id="14" name="Shape 12"/>
          <p:cNvSpPr/>
          <p:nvPr/>
        </p:nvSpPr>
        <p:spPr>
          <a:xfrm>
            <a:off x="6195060" y="1133856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95060" y="1133856"/>
            <a:ext cx="5445252" cy="109728"/>
          </a:xfrm>
          <a:prstGeom prst="rect">
            <a:avLst/>
          </a:prstGeom>
          <a:solidFill>
            <a:srgbClr val="4A8F74"/>
          </a:solidFill>
          <a:ln w="12700">
            <a:solidFill>
              <a:srgbClr val="4A8F74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9652" y="1298448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核心增长逻辑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359652" y="1664208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公域以药食同源和保健品建立低门槛流量入口。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私域再承接到互联网医院与处方类服务。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长期靠订阅、复购、裂变形成现金流。</a:t>
            </a:r>
            <a:endParaRPr lang="en-US" sz="1356" dirty="0"/>
          </a:p>
        </p:txBody>
      </p:sp>
      <p:sp>
        <p:nvSpPr>
          <p:cNvPr id="18" name="Shape 16"/>
          <p:cNvSpPr/>
          <p:nvPr/>
        </p:nvSpPr>
        <p:spPr>
          <a:xfrm>
            <a:off x="530352" y="3781044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30352" y="3781044"/>
            <a:ext cx="5445252" cy="109728"/>
          </a:xfrm>
          <a:prstGeom prst="rect">
            <a:avLst/>
          </a:prstGeom>
          <a:solidFill>
            <a:srgbClr val="B3883B"/>
          </a:solidFill>
          <a:ln w="12700">
            <a:solidFill>
              <a:srgbClr val="B3883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4944" y="3945636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经营优先级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694944" y="4311396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优先做第二圈现金流，再用第三圈拉利润，再用第一圈建立专业信任。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顺序错误，组织会直接陷入合规和获客成本问题。</a:t>
            </a:r>
            <a:endParaRPr lang="en-US" sz="1356" dirty="0"/>
          </a:p>
        </p:txBody>
      </p:sp>
      <p:sp>
        <p:nvSpPr>
          <p:cNvPr id="22" name="Shape 20"/>
          <p:cNvSpPr/>
          <p:nvPr/>
        </p:nvSpPr>
        <p:spPr>
          <a:xfrm>
            <a:off x="6195060" y="3781044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95060" y="3781044"/>
            <a:ext cx="5445252" cy="109728"/>
          </a:xfrm>
          <a:prstGeom prst="rect">
            <a:avLst/>
          </a:prstGeom>
          <a:solidFill>
            <a:srgbClr val="5078A5"/>
          </a:solidFill>
          <a:ln w="12700">
            <a:solidFill>
              <a:srgbClr val="5078A5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59652" y="3945636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12 个月目标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6359652" y="4311396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内部测算目标：M12 达到 10,000 付费用户、月收入约 765 万元。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关键前提是线索转化、复购率和合规稳定三件事同时成立。</a:t>
            </a:r>
            <a:endParaRPr lang="en-US" sz="1356" dirty="0"/>
          </a:p>
        </p:txBody>
      </p:sp>
    </p:spTree>
  </p:cSld>
  <p:clrMapOvr>
    <a:masterClrMapping/>
  </p:clrMapOvr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C6E68"/>
          </a:solidFill>
          <a:ln w="12700">
            <a:solidFill>
              <a:srgbClr val="2C6E6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5603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市场机会：为什么这个赛道值得做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694944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757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不是做“线上卖货”，而是做“持续健康管理的消费入口”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9893808" y="256032"/>
            <a:ext cx="1417320" cy="329184"/>
          </a:xfrm>
          <a:prstGeom prst="roundRect">
            <a:avLst>
              <a:gd name="adj" fmla="val 22222"/>
            </a:avLst>
          </a:prstGeom>
          <a:solidFill>
            <a:srgbClr val="DCEFE8"/>
          </a:solidFill>
          <a:ln w="12700">
            <a:solidFill>
              <a:srgbClr val="E6E1D8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93808" y="30175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6E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战略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30352" y="6473952"/>
            <a:ext cx="11109960" cy="0"/>
          </a:xfrm>
          <a:prstGeom prst="line">
            <a:avLst/>
          </a:prstGeom>
          <a:noFill/>
          <a:ln w="13970">
            <a:solidFill>
              <a:srgbClr val="E6E1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651967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757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内部行动方针版 | 来源：MediSlim-商业方案-v1.0 / MediSlim-OPC运营手册-v1.0 / 仓库业务文档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82528" y="647395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C6E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05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30352" y="1133856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30352" y="1133856"/>
            <a:ext cx="5445252" cy="109728"/>
          </a:xfrm>
          <a:prstGeom prst="rect">
            <a:avLst/>
          </a:prstGeom>
          <a:solidFill>
            <a:srgbClr val="2C6E68"/>
          </a:solidFill>
          <a:ln w="12700">
            <a:solidFill>
              <a:srgbClr val="2C6E6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4944" y="1298448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需求端变化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94944" y="1664208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减重、亚健康、女性调养、睡眠、肠胃、护肝都在持续消费化。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用户想要的是轻诊疗、轻咨询、轻决策，而不是复杂医疗流程。</a:t>
            </a:r>
            <a:endParaRPr lang="en-US" sz="1356" dirty="0"/>
          </a:p>
        </p:txBody>
      </p:sp>
      <p:sp>
        <p:nvSpPr>
          <p:cNvPr id="14" name="Shape 12"/>
          <p:cNvSpPr/>
          <p:nvPr/>
        </p:nvSpPr>
        <p:spPr>
          <a:xfrm>
            <a:off x="6195060" y="1133856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95060" y="1133856"/>
            <a:ext cx="5445252" cy="109728"/>
          </a:xfrm>
          <a:prstGeom prst="rect">
            <a:avLst/>
          </a:prstGeom>
          <a:solidFill>
            <a:srgbClr val="4A8F74"/>
          </a:solidFill>
          <a:ln w="12700">
            <a:solidFill>
              <a:srgbClr val="4A8F74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9652" y="1298448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供给端空缺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359652" y="1664208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传统医院看病效率低，保健品市场同质化重，用户缺可信的个性化方案。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“有人解释+有人跟进”仍然是巨大空缺。</a:t>
            </a:r>
            <a:endParaRPr lang="en-US" sz="1356" dirty="0"/>
          </a:p>
        </p:txBody>
      </p:sp>
      <p:sp>
        <p:nvSpPr>
          <p:cNvPr id="18" name="Shape 16"/>
          <p:cNvSpPr/>
          <p:nvPr/>
        </p:nvSpPr>
        <p:spPr>
          <a:xfrm>
            <a:off x="530352" y="3781044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30352" y="3781044"/>
            <a:ext cx="5445252" cy="109728"/>
          </a:xfrm>
          <a:prstGeom prst="rect">
            <a:avLst/>
          </a:prstGeom>
          <a:solidFill>
            <a:srgbClr val="B3883B"/>
          </a:solidFill>
          <a:ln w="12700">
            <a:solidFill>
              <a:srgbClr val="B3883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4944" y="3945636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渠道端机会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694944" y="4311396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微信生态、小红书、抖音已经形成“内容种草-私域成交-社群复购”的成熟路径。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只要合规边界清晰，流量并不缺。</a:t>
            </a:r>
            <a:endParaRPr lang="en-US" sz="1356" dirty="0"/>
          </a:p>
        </p:txBody>
      </p:sp>
      <p:sp>
        <p:nvSpPr>
          <p:cNvPr id="22" name="Shape 20"/>
          <p:cNvSpPr/>
          <p:nvPr/>
        </p:nvSpPr>
        <p:spPr>
          <a:xfrm>
            <a:off x="6195060" y="3781044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95060" y="3781044"/>
            <a:ext cx="5445252" cy="109728"/>
          </a:xfrm>
          <a:prstGeom prst="rect">
            <a:avLst/>
          </a:prstGeom>
          <a:solidFill>
            <a:srgbClr val="5078A5"/>
          </a:solidFill>
          <a:ln w="12700">
            <a:solidFill>
              <a:srgbClr val="5078A5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59652" y="3945636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模型端优势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6359652" y="4311396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中国的药食同源文化与体质调理认知，给了我们 Medvi 在美国没有的第二增长曲线。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这决定了更高复购率和更低毛利压力。</a:t>
            </a:r>
            <a:endParaRPr lang="en-US" sz="1356" dirty="0"/>
          </a:p>
        </p:txBody>
      </p:sp>
    </p:spTree>
  </p:cSld>
  <p:clrMapOvr>
    <a:masterClrMapping/>
  </p:clrMapOvr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C6E68"/>
          </a:solidFill>
          <a:ln w="12700">
            <a:solidFill>
              <a:srgbClr val="2C6E6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5603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对标 Medvi：该学什么，不该学什么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694944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757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学它的极简架构，不复制它的监管灰区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9893808" y="256032"/>
            <a:ext cx="1417320" cy="329184"/>
          </a:xfrm>
          <a:prstGeom prst="roundRect">
            <a:avLst>
              <a:gd name="adj" fmla="val 22222"/>
            </a:avLst>
          </a:prstGeom>
          <a:solidFill>
            <a:srgbClr val="DCEFE8"/>
          </a:solidFill>
          <a:ln w="12700">
            <a:solidFill>
              <a:srgbClr val="E6E1D8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93808" y="30175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6E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战略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30352" y="6473952"/>
            <a:ext cx="11109960" cy="0"/>
          </a:xfrm>
          <a:prstGeom prst="line">
            <a:avLst/>
          </a:prstGeom>
          <a:noFill/>
          <a:ln w="13970">
            <a:solidFill>
              <a:srgbClr val="E6E1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651967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757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内部行动方针版 | 来源：MediSlim-商业方案-v1.0 / MediSlim-OPC运营手册-v1.0 / 仓库业务文档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82528" y="647395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C6E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06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30352" y="1133856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30352" y="1133856"/>
            <a:ext cx="5445252" cy="109728"/>
          </a:xfrm>
          <a:prstGeom prst="rect">
            <a:avLst/>
          </a:prstGeom>
          <a:solidFill>
            <a:srgbClr val="2C6E68"/>
          </a:solidFill>
          <a:ln w="12700">
            <a:solidFill>
              <a:srgbClr val="2C6E6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4944" y="1298448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必须复制的部分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94944" y="1664208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前端只做流量、评估、支付、复购管理。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把持牌能力交给外部网络。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让平台像 SaaS 一样运转，而不是像医院一样运转。</a:t>
            </a:r>
            <a:endParaRPr lang="en-US" sz="1356" dirty="0"/>
          </a:p>
        </p:txBody>
      </p:sp>
      <p:sp>
        <p:nvSpPr>
          <p:cNvPr id="14" name="Shape 12"/>
          <p:cNvSpPr/>
          <p:nvPr/>
        </p:nvSpPr>
        <p:spPr>
          <a:xfrm>
            <a:off x="6195060" y="1133856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95060" y="1133856"/>
            <a:ext cx="5445252" cy="109728"/>
          </a:xfrm>
          <a:prstGeom prst="rect">
            <a:avLst/>
          </a:prstGeom>
          <a:solidFill>
            <a:srgbClr val="4A8F74"/>
          </a:solidFill>
          <a:ln w="12700">
            <a:solidFill>
              <a:srgbClr val="4A8F74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9652" y="1298448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必须本土化的部分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359652" y="1664208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美国靠 Google/Meta 广告，中国必须靠微信、小红书、抖音和私域沉淀。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美国靠 GLP-1 单品，中国需要三圈模型。</a:t>
            </a:r>
            <a:endParaRPr lang="en-US" sz="1356" dirty="0"/>
          </a:p>
        </p:txBody>
      </p:sp>
      <p:sp>
        <p:nvSpPr>
          <p:cNvPr id="18" name="Shape 16"/>
          <p:cNvSpPr/>
          <p:nvPr/>
        </p:nvSpPr>
        <p:spPr>
          <a:xfrm>
            <a:off x="530352" y="3781044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30352" y="3781044"/>
            <a:ext cx="5445252" cy="109728"/>
          </a:xfrm>
          <a:prstGeom prst="rect">
            <a:avLst/>
          </a:prstGeom>
          <a:solidFill>
            <a:srgbClr val="B3883B"/>
          </a:solidFill>
          <a:ln w="12700">
            <a:solidFill>
              <a:srgbClr val="B3883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4944" y="3945636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不能照搬的部分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694944" y="4311396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不能在中国公域直接营销处方药。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不能把模糊疗效表述当作增长技巧。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不能假设用户会接受纯海外式的功能性话术。</a:t>
            </a:r>
            <a:endParaRPr lang="en-US" sz="1356" dirty="0"/>
          </a:p>
        </p:txBody>
      </p:sp>
      <p:sp>
        <p:nvSpPr>
          <p:cNvPr id="22" name="Shape 20"/>
          <p:cNvSpPr/>
          <p:nvPr/>
        </p:nvSpPr>
        <p:spPr>
          <a:xfrm>
            <a:off x="6195060" y="3781044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95060" y="3781044"/>
            <a:ext cx="5445252" cy="109728"/>
          </a:xfrm>
          <a:prstGeom prst="rect">
            <a:avLst/>
          </a:prstGeom>
          <a:solidFill>
            <a:srgbClr val="5078A5"/>
          </a:solidFill>
          <a:ln w="12700">
            <a:solidFill>
              <a:srgbClr val="5078A5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59652" y="3945636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我们的升级点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6359652" y="4311396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中医体质辨识、药食同源订阅、企微陪伴式服务、低成本 AI 自动化。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这些才是中国版 MediSlim 的真实护城河。</a:t>
            </a:r>
            <a:endParaRPr lang="en-US" sz="1356" dirty="0"/>
          </a:p>
        </p:txBody>
      </p:sp>
    </p:spTree>
  </p:cSld>
  <p:clrMapOvr>
    <a:masterClrMapping/>
  </p:clrMapOvr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C6E68"/>
          </a:solidFill>
          <a:ln w="12700">
            <a:solidFill>
              <a:srgbClr val="2C6E6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5603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中国化机会与约束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694944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757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增长空间巨大，但必须先画出红线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9893808" y="256032"/>
            <a:ext cx="1417320" cy="329184"/>
          </a:xfrm>
          <a:prstGeom prst="roundRect">
            <a:avLst>
              <a:gd name="adj" fmla="val 22222"/>
            </a:avLst>
          </a:prstGeom>
          <a:solidFill>
            <a:srgbClr val="DCEFE8"/>
          </a:solidFill>
          <a:ln w="12700">
            <a:solidFill>
              <a:srgbClr val="E6E1D8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93808" y="30175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6E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战略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30352" y="6473952"/>
            <a:ext cx="11109960" cy="0"/>
          </a:xfrm>
          <a:prstGeom prst="line">
            <a:avLst/>
          </a:prstGeom>
          <a:noFill/>
          <a:ln w="13970">
            <a:solidFill>
              <a:srgbClr val="E6E1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651967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757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内部行动方针版 | 来源：MediSlim-商业方案-v1.0 / MediSlim-OPC运营手册-v1.0 / 仓库业务文档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82528" y="647395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C6E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07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30352" y="1133856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30352" y="1133856"/>
            <a:ext cx="5445252" cy="109728"/>
          </a:xfrm>
          <a:prstGeom prst="rect">
            <a:avLst/>
          </a:prstGeom>
          <a:solidFill>
            <a:srgbClr val="2C6E68"/>
          </a:solidFill>
          <a:ln w="12700">
            <a:solidFill>
              <a:srgbClr val="2C6E6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4944" y="1298448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平台约束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94944" y="1664208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小红书、抖音、微信都对药品、医疗功效、前后对比图极度敏感。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公域要做健康内容，不做直接药品销售表达。</a:t>
            </a:r>
            <a:endParaRPr lang="en-US" sz="1356" dirty="0"/>
          </a:p>
        </p:txBody>
      </p:sp>
      <p:sp>
        <p:nvSpPr>
          <p:cNvPr id="14" name="Shape 12"/>
          <p:cNvSpPr/>
          <p:nvPr/>
        </p:nvSpPr>
        <p:spPr>
          <a:xfrm>
            <a:off x="6195060" y="1133856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95060" y="1133856"/>
            <a:ext cx="5445252" cy="109728"/>
          </a:xfrm>
          <a:prstGeom prst="rect">
            <a:avLst/>
          </a:prstGeom>
          <a:solidFill>
            <a:srgbClr val="4A8F74"/>
          </a:solidFill>
          <a:ln w="12700">
            <a:solidFill>
              <a:srgbClr val="4A8F74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9652" y="1298448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持牌约束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359652" y="1664208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问诊与处方必须归互联网医院和执业医师。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药品销售必须归持牌药房。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我们不能变成事实上的非法医疗主体。</a:t>
            </a:r>
            <a:endParaRPr lang="en-US" sz="1356" dirty="0"/>
          </a:p>
        </p:txBody>
      </p:sp>
      <p:sp>
        <p:nvSpPr>
          <p:cNvPr id="18" name="Shape 16"/>
          <p:cNvSpPr/>
          <p:nvPr/>
        </p:nvSpPr>
        <p:spPr>
          <a:xfrm>
            <a:off x="530352" y="3781044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30352" y="3781044"/>
            <a:ext cx="5445252" cy="109728"/>
          </a:xfrm>
          <a:prstGeom prst="rect">
            <a:avLst/>
          </a:prstGeom>
          <a:solidFill>
            <a:srgbClr val="B3883B"/>
          </a:solidFill>
          <a:ln w="12700">
            <a:solidFill>
              <a:srgbClr val="B3883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4944" y="3945636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内容机会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694944" y="4311396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养生、调理、体质、节气、轻体、睡眠、情绪管理都天然适合内容传播。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这使第二圈和第三圈更适合冷启动。</a:t>
            </a:r>
            <a:endParaRPr lang="en-US" sz="1356" dirty="0"/>
          </a:p>
        </p:txBody>
      </p:sp>
      <p:sp>
        <p:nvSpPr>
          <p:cNvPr id="22" name="Shape 20"/>
          <p:cNvSpPr/>
          <p:nvPr/>
        </p:nvSpPr>
        <p:spPr>
          <a:xfrm>
            <a:off x="6195060" y="3781044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95060" y="3781044"/>
            <a:ext cx="5445252" cy="109728"/>
          </a:xfrm>
          <a:prstGeom prst="rect">
            <a:avLst/>
          </a:prstGeom>
          <a:solidFill>
            <a:srgbClr val="5078A5"/>
          </a:solidFill>
          <a:ln w="12700">
            <a:solidFill>
              <a:srgbClr val="5078A5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59652" y="3945636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商业机会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6359652" y="4311396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中国用户更能接受“组合式管理”而不是单一药物。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套餐盒、社群、直播、节日活动都能把 LTV 做高。</a:t>
            </a:r>
            <a:endParaRPr lang="en-US" sz="1356" dirty="0"/>
          </a:p>
        </p:txBody>
      </p:sp>
    </p:spTree>
  </p:cSld>
  <p:clrMapOvr>
    <a:masterClrMapping/>
  </p:clrMapOvr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C6E68"/>
          </a:solidFill>
          <a:ln w="12700">
            <a:solidFill>
              <a:srgbClr val="2C6E6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5603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项目定位与边界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694944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757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边界不清，后面所有增长动作都会出问题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9893808" y="256032"/>
            <a:ext cx="1417320" cy="329184"/>
          </a:xfrm>
          <a:prstGeom prst="roundRect">
            <a:avLst>
              <a:gd name="adj" fmla="val 22222"/>
            </a:avLst>
          </a:prstGeom>
          <a:solidFill>
            <a:srgbClr val="DCEFE8"/>
          </a:solidFill>
          <a:ln w="12700">
            <a:solidFill>
              <a:srgbClr val="E6E1D8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93808" y="30175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6E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战略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30352" y="6473952"/>
            <a:ext cx="11109960" cy="0"/>
          </a:xfrm>
          <a:prstGeom prst="line">
            <a:avLst/>
          </a:prstGeom>
          <a:noFill/>
          <a:ln w="13970">
            <a:solidFill>
              <a:srgbClr val="E6E1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651967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757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内部行动方针版 | 来源：MediSlim-商业方案-v1.0 / MediSlim-OPC运营手册-v1.0 / 仓库业务文档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82528" y="647395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C6E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08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30352" y="1133856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30352" y="1133856"/>
            <a:ext cx="5445252" cy="109728"/>
          </a:xfrm>
          <a:prstGeom prst="rect">
            <a:avLst/>
          </a:prstGeom>
          <a:solidFill>
            <a:srgbClr val="2C6E68"/>
          </a:solidFill>
          <a:ln w="12700">
            <a:solidFill>
              <a:srgbClr val="2C6E6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4944" y="1298448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我们是谁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94944" y="1664208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流量+技术服务公司。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主营品牌、用户获取、AI 评估、患者管理、复购运营、数据看板。</a:t>
            </a:r>
            <a:endParaRPr lang="en-US" sz="1356" dirty="0"/>
          </a:p>
        </p:txBody>
      </p:sp>
      <p:sp>
        <p:nvSpPr>
          <p:cNvPr id="14" name="Shape 12"/>
          <p:cNvSpPr/>
          <p:nvPr/>
        </p:nvSpPr>
        <p:spPr>
          <a:xfrm>
            <a:off x="6195060" y="1133856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95060" y="1133856"/>
            <a:ext cx="5445252" cy="109728"/>
          </a:xfrm>
          <a:prstGeom prst="rect">
            <a:avLst/>
          </a:prstGeom>
          <a:solidFill>
            <a:srgbClr val="4A8F74"/>
          </a:solidFill>
          <a:ln w="12700">
            <a:solidFill>
              <a:srgbClr val="4A8F74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9652" y="1298448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我们不是什么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359652" y="1664208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不是医疗机构，不直接行医，不直接持有处方权，不直接销售处方药。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不碰高风险诊疗动作。</a:t>
            </a:r>
            <a:endParaRPr lang="en-US" sz="1356" dirty="0"/>
          </a:p>
        </p:txBody>
      </p:sp>
      <p:sp>
        <p:nvSpPr>
          <p:cNvPr id="18" name="Shape 16"/>
          <p:cNvSpPr/>
          <p:nvPr/>
        </p:nvSpPr>
        <p:spPr>
          <a:xfrm>
            <a:off x="530352" y="3781044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30352" y="3781044"/>
            <a:ext cx="5445252" cy="109728"/>
          </a:xfrm>
          <a:prstGeom prst="rect">
            <a:avLst/>
          </a:prstGeom>
          <a:solidFill>
            <a:srgbClr val="B3883B"/>
          </a:solidFill>
          <a:ln w="12700">
            <a:solidFill>
              <a:srgbClr val="B3883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4944" y="3945636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合作方边界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694944" y="4311396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互联网医院负责问诊和处方。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药房负责药品调配与配送。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食品工厂/保健品企业负责生产与供货。</a:t>
            </a:r>
            <a:endParaRPr lang="en-US" sz="1356" dirty="0"/>
          </a:p>
        </p:txBody>
      </p:sp>
      <p:sp>
        <p:nvSpPr>
          <p:cNvPr id="22" name="Shape 20"/>
          <p:cNvSpPr/>
          <p:nvPr/>
        </p:nvSpPr>
        <p:spPr>
          <a:xfrm>
            <a:off x="6195060" y="3781044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95060" y="3781044"/>
            <a:ext cx="5445252" cy="109728"/>
          </a:xfrm>
          <a:prstGeom prst="rect">
            <a:avLst/>
          </a:prstGeom>
          <a:solidFill>
            <a:srgbClr val="5078A5"/>
          </a:solidFill>
          <a:ln w="12700">
            <a:solidFill>
              <a:srgbClr val="5078A5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59652" y="3945636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经营红线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6359652" y="4311396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任何人不能在公域许诺疗效、暗示治愈、绕开医师审核、伪造案例或超范围采集数据。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红线优先于短期 GMV。</a:t>
            </a:r>
            <a:endParaRPr lang="en-US" sz="1356" dirty="0"/>
          </a:p>
        </p:txBody>
      </p:sp>
    </p:spTree>
  </p:cSld>
  <p:clrMapOvr>
    <a:masterClrMapping/>
  </p:clrMapOvr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C6E68"/>
          </a:solidFill>
          <a:ln w="12700">
            <a:solidFill>
              <a:srgbClr val="2C6E6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5603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战略目标与北极星指标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694944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757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所有动作必须服务于 4 个阶段目标和 1 个北极星指标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9893808" y="256032"/>
            <a:ext cx="1417320" cy="329184"/>
          </a:xfrm>
          <a:prstGeom prst="roundRect">
            <a:avLst>
              <a:gd name="adj" fmla="val 22222"/>
            </a:avLst>
          </a:prstGeom>
          <a:solidFill>
            <a:srgbClr val="DCEFE8"/>
          </a:solidFill>
          <a:ln w="12700">
            <a:solidFill>
              <a:srgbClr val="E6E1D8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93808" y="30175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6E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战略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30352" y="6473952"/>
            <a:ext cx="11109960" cy="0"/>
          </a:xfrm>
          <a:prstGeom prst="line">
            <a:avLst/>
          </a:prstGeom>
          <a:noFill/>
          <a:ln w="13970">
            <a:solidFill>
              <a:srgbClr val="E6E1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651967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757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内部行动方针版 | 来源：MediSlim-商业方案-v1.0 / MediSlim-OPC运营手册-v1.0 / 仓库业务文档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82528" y="647395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C6E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09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30352" y="1133856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30352" y="1133856"/>
            <a:ext cx="5445252" cy="109728"/>
          </a:xfrm>
          <a:prstGeom prst="rect">
            <a:avLst/>
          </a:prstGeom>
          <a:solidFill>
            <a:srgbClr val="2C6E68"/>
          </a:solidFill>
          <a:ln w="12700">
            <a:solidFill>
              <a:srgbClr val="2C6E6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4944" y="1298448"/>
            <a:ext cx="40187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阶段一：M1-M3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4896612" y="1280160"/>
            <a:ext cx="868680" cy="219456"/>
          </a:xfrm>
          <a:prstGeom prst="roundRect">
            <a:avLst>
              <a:gd name="adj" fmla="val 16667"/>
            </a:avLst>
          </a:prstGeom>
          <a:solidFill>
            <a:srgbClr val="F4F0E7"/>
          </a:solidFill>
          <a:ln w="12700">
            <a:solidFill>
              <a:srgbClr val="E6E1D8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6612" y="1307592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C6E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验证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94944" y="1664208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验证 3 个核心产品、1 条稳定线索链路、1 套私域成交话术。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目标不是规模，而是找对模型。</a:t>
            </a:r>
            <a:endParaRPr lang="en-US" sz="1356" dirty="0"/>
          </a:p>
        </p:txBody>
      </p:sp>
      <p:sp>
        <p:nvSpPr>
          <p:cNvPr id="16" name="Shape 14"/>
          <p:cNvSpPr/>
          <p:nvPr/>
        </p:nvSpPr>
        <p:spPr>
          <a:xfrm>
            <a:off x="6195060" y="1133856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95060" y="1133856"/>
            <a:ext cx="5445252" cy="109728"/>
          </a:xfrm>
          <a:prstGeom prst="rect">
            <a:avLst/>
          </a:prstGeom>
          <a:solidFill>
            <a:srgbClr val="4A8F74"/>
          </a:solidFill>
          <a:ln w="12700">
            <a:solidFill>
              <a:srgbClr val="4A8F74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59652" y="1298448"/>
            <a:ext cx="40187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阶段二：M4-M6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10561320" y="1280160"/>
            <a:ext cx="868680" cy="219456"/>
          </a:xfrm>
          <a:prstGeom prst="roundRect">
            <a:avLst>
              <a:gd name="adj" fmla="val 16667"/>
            </a:avLst>
          </a:prstGeom>
          <a:solidFill>
            <a:srgbClr val="F4F0E7"/>
          </a:solidFill>
          <a:ln w="12700">
            <a:solidFill>
              <a:srgbClr val="E6E1D8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561320" y="1307592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A8F74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复制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59652" y="1664208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建立可复制的投放-私域-成交-复购流程。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形成首个正向现金流月，并确认主打渠道。</a:t>
            </a:r>
            <a:endParaRPr lang="en-US" sz="1356" dirty="0"/>
          </a:p>
        </p:txBody>
      </p:sp>
      <p:sp>
        <p:nvSpPr>
          <p:cNvPr id="22" name="Shape 20"/>
          <p:cNvSpPr/>
          <p:nvPr/>
        </p:nvSpPr>
        <p:spPr>
          <a:xfrm>
            <a:off x="530352" y="3781044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30352" y="3781044"/>
            <a:ext cx="5445252" cy="109728"/>
          </a:xfrm>
          <a:prstGeom prst="rect">
            <a:avLst/>
          </a:prstGeom>
          <a:solidFill>
            <a:srgbClr val="B3883B"/>
          </a:solidFill>
          <a:ln w="12700">
            <a:solidFill>
              <a:srgbClr val="B3883B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4944" y="3945636"/>
            <a:ext cx="40187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阶段三：M7-M9</a:t>
            </a:r>
            <a:endParaRPr lang="en-US" sz="1550" dirty="0"/>
          </a:p>
        </p:txBody>
      </p:sp>
      <p:sp>
        <p:nvSpPr>
          <p:cNvPr id="25" name="Shape 23"/>
          <p:cNvSpPr/>
          <p:nvPr/>
        </p:nvSpPr>
        <p:spPr>
          <a:xfrm>
            <a:off x="4896612" y="3927348"/>
            <a:ext cx="868680" cy="219456"/>
          </a:xfrm>
          <a:prstGeom prst="roundRect">
            <a:avLst>
              <a:gd name="adj" fmla="val 16667"/>
            </a:avLst>
          </a:prstGeom>
          <a:solidFill>
            <a:srgbClr val="F4F0E7"/>
          </a:solidFill>
          <a:ln w="12700">
            <a:solidFill>
              <a:srgbClr val="E6E1D8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6612" y="3954780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3883B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放大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94944" y="4311396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扩大品类、提高复购、引入订阅盒。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把组织从“创始人亲自盯”切到“系统自动跑”。</a:t>
            </a:r>
            <a:endParaRPr lang="en-US" sz="1356" dirty="0"/>
          </a:p>
        </p:txBody>
      </p:sp>
      <p:sp>
        <p:nvSpPr>
          <p:cNvPr id="28" name="Shape 26"/>
          <p:cNvSpPr/>
          <p:nvPr/>
        </p:nvSpPr>
        <p:spPr>
          <a:xfrm>
            <a:off x="6195060" y="3781044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195060" y="3781044"/>
            <a:ext cx="5445252" cy="109728"/>
          </a:xfrm>
          <a:prstGeom prst="rect">
            <a:avLst/>
          </a:prstGeom>
          <a:solidFill>
            <a:srgbClr val="5078A5"/>
          </a:solidFill>
          <a:ln w="12700">
            <a:solidFill>
              <a:srgbClr val="5078A5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59652" y="3945636"/>
            <a:ext cx="40187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北极星</a:t>
            </a:r>
            <a:endParaRPr lang="en-US" sz="1550" dirty="0"/>
          </a:p>
        </p:txBody>
      </p:sp>
      <p:sp>
        <p:nvSpPr>
          <p:cNvPr id="31" name="Shape 29"/>
          <p:cNvSpPr/>
          <p:nvPr/>
        </p:nvSpPr>
        <p:spPr>
          <a:xfrm>
            <a:off x="10561320" y="3927348"/>
            <a:ext cx="868680" cy="219456"/>
          </a:xfrm>
          <a:prstGeom prst="roundRect">
            <a:avLst>
              <a:gd name="adj" fmla="val 16667"/>
            </a:avLst>
          </a:prstGeom>
          <a:solidFill>
            <a:srgbClr val="F4F0E7"/>
          </a:solidFill>
          <a:ln w="12700">
            <a:solidFill>
              <a:srgbClr val="E6E1D8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561320" y="3954780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078A5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核心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359652" y="4311396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北极星指标不是单日 GMV，而是 MRR（月经常性收入）。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原因：MRR 直接反映复购、订阅和健康经营质量。</a:t>
            </a:r>
            <a:endParaRPr lang="en-US" sz="1356" dirty="0"/>
          </a:p>
        </p:txBody>
      </p:sp>
    </p:spTree>
  </p:cSld>
  <p:clrMapOvr>
    <a:masterClrMapping/>
  </p:clrMapOvr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C6E68"/>
          </a:solidFill>
          <a:ln w="12700">
            <a:solidFill>
              <a:srgbClr val="2C6E6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5603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商业模式总览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694944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757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平台的收入、成本、能力边界全部围绕这条链展开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9893808" y="256032"/>
            <a:ext cx="1417320" cy="329184"/>
          </a:xfrm>
          <a:prstGeom prst="roundRect">
            <a:avLst>
              <a:gd name="adj" fmla="val 22222"/>
            </a:avLst>
          </a:prstGeom>
          <a:solidFill>
            <a:srgbClr val="DCEFE8"/>
          </a:solidFill>
          <a:ln w="12700">
            <a:solidFill>
              <a:srgbClr val="E6E1D8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93808" y="30175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6E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商业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30352" y="6473952"/>
            <a:ext cx="11109960" cy="0"/>
          </a:xfrm>
          <a:prstGeom prst="line">
            <a:avLst/>
          </a:prstGeom>
          <a:noFill/>
          <a:ln w="13970">
            <a:solidFill>
              <a:srgbClr val="E6E1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651967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757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内部行动方针版 | 来源：MediSlim-商业方案-v1.0 / MediSlim-OPC运营手册-v1.0 / 仓库业务文档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82528" y="647395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C6E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10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30352" y="1133856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30352" y="1133856"/>
            <a:ext cx="5445252" cy="109728"/>
          </a:xfrm>
          <a:prstGeom prst="rect">
            <a:avLst/>
          </a:prstGeom>
          <a:solidFill>
            <a:srgbClr val="2C6E68"/>
          </a:solidFill>
          <a:ln w="12700">
            <a:solidFill>
              <a:srgbClr val="2C6E6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4944" y="1298448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收入来源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94944" y="1664208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首单成交收入。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订阅续费收入。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组合盒/加购收入。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私域活动带来的增量收入。</a:t>
            </a:r>
            <a:endParaRPr lang="en-US" sz="1356" dirty="0"/>
          </a:p>
        </p:txBody>
      </p:sp>
      <p:sp>
        <p:nvSpPr>
          <p:cNvPr id="14" name="Shape 12"/>
          <p:cNvSpPr/>
          <p:nvPr/>
        </p:nvSpPr>
        <p:spPr>
          <a:xfrm>
            <a:off x="6195060" y="1133856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95060" y="1133856"/>
            <a:ext cx="5445252" cy="109728"/>
          </a:xfrm>
          <a:prstGeom prst="rect">
            <a:avLst/>
          </a:prstGeom>
          <a:solidFill>
            <a:srgbClr val="4A8F74"/>
          </a:solidFill>
          <a:ln w="12700">
            <a:solidFill>
              <a:srgbClr val="4A8F74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9652" y="1298448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核心成本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359652" y="1664208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产品与药品成本、合作方分成、物流、流量投放、AI 系统、人力。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本质上是 CAC 和复购率的平衡游戏。</a:t>
            </a:r>
            <a:endParaRPr lang="en-US" sz="1356" dirty="0"/>
          </a:p>
        </p:txBody>
      </p:sp>
      <p:sp>
        <p:nvSpPr>
          <p:cNvPr id="18" name="Shape 16"/>
          <p:cNvSpPr/>
          <p:nvPr/>
        </p:nvSpPr>
        <p:spPr>
          <a:xfrm>
            <a:off x="530352" y="3781044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30352" y="3781044"/>
            <a:ext cx="5445252" cy="109728"/>
          </a:xfrm>
          <a:prstGeom prst="rect">
            <a:avLst/>
          </a:prstGeom>
          <a:solidFill>
            <a:srgbClr val="B3883B"/>
          </a:solidFill>
          <a:ln w="12700">
            <a:solidFill>
              <a:srgbClr val="B3883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4944" y="3945636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能力配置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694944" y="4311396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自己做高频、可标准化、能沉淀数据的前端环节。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外包低频、持牌、重履约的后端环节。</a:t>
            </a:r>
            <a:endParaRPr lang="en-US" sz="1356" dirty="0"/>
          </a:p>
        </p:txBody>
      </p:sp>
      <p:sp>
        <p:nvSpPr>
          <p:cNvPr id="22" name="Shape 20"/>
          <p:cNvSpPr/>
          <p:nvPr/>
        </p:nvSpPr>
        <p:spPr>
          <a:xfrm>
            <a:off x="6195060" y="3781044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95060" y="3781044"/>
            <a:ext cx="5445252" cy="109728"/>
          </a:xfrm>
          <a:prstGeom prst="rect">
            <a:avLst/>
          </a:prstGeom>
          <a:solidFill>
            <a:srgbClr val="5078A5"/>
          </a:solidFill>
          <a:ln w="12700">
            <a:solidFill>
              <a:srgbClr val="5078A5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59652" y="3945636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商业判断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6359652" y="4311396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只要 CAC 可控、30 天复购成立、供应稳定，模型就能滚起来。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一旦复购不成立，平台会退化成高成本卖货生意。</a:t>
            </a:r>
            <a:endParaRPr lang="en-US" sz="1356" dirty="0"/>
          </a:p>
        </p:txBody>
      </p:sp>
    </p:spTree>
  </p:cSld>
  <p:clrMapOvr>
    <a:masterClrMapping/>
  </p:clrMapOvr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C6E68"/>
          </a:solidFill>
          <a:ln w="12700">
            <a:solidFill>
              <a:srgbClr val="2C6E6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5603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三圈飞轮：平台最重要的结构设计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694944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757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三圈不是三个业务，而是一套彼此导流的生命周期设计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9893808" y="256032"/>
            <a:ext cx="1417320" cy="329184"/>
          </a:xfrm>
          <a:prstGeom prst="roundRect">
            <a:avLst>
              <a:gd name="adj" fmla="val 22222"/>
            </a:avLst>
          </a:prstGeom>
          <a:solidFill>
            <a:srgbClr val="DCEFE8"/>
          </a:solidFill>
          <a:ln w="12700">
            <a:solidFill>
              <a:srgbClr val="E6E1D8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93808" y="30175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6E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商业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30352" y="6473952"/>
            <a:ext cx="11109960" cy="0"/>
          </a:xfrm>
          <a:prstGeom prst="line">
            <a:avLst/>
          </a:prstGeom>
          <a:noFill/>
          <a:ln w="13970">
            <a:solidFill>
              <a:srgbClr val="E6E1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651967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757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内部行动方针版 | 来源：MediSlim-商业方案-v1.0 / MediSlim-OPC运营手册-v1.0 / 仓库业务文档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82528" y="647395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C6E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11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30352" y="1133856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30352" y="1133856"/>
            <a:ext cx="5445252" cy="109728"/>
          </a:xfrm>
          <a:prstGeom prst="rect">
            <a:avLst/>
          </a:prstGeom>
          <a:solidFill>
            <a:srgbClr val="2C6E68"/>
          </a:solidFill>
          <a:ln w="12700">
            <a:solidFill>
              <a:srgbClr val="2C6E6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4944" y="1298448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第一圈：处方医疗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94944" y="1664208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作用是建立专业信任与解决高痛点需求。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品类重在权威感与用户愿意付费，而不是公域规模。</a:t>
            </a:r>
            <a:endParaRPr lang="en-US" sz="1356" dirty="0"/>
          </a:p>
        </p:txBody>
      </p:sp>
      <p:sp>
        <p:nvSpPr>
          <p:cNvPr id="14" name="Shape 12"/>
          <p:cNvSpPr/>
          <p:nvPr/>
        </p:nvSpPr>
        <p:spPr>
          <a:xfrm>
            <a:off x="6195060" y="1133856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95060" y="1133856"/>
            <a:ext cx="5445252" cy="109728"/>
          </a:xfrm>
          <a:prstGeom prst="rect">
            <a:avLst/>
          </a:prstGeom>
          <a:solidFill>
            <a:srgbClr val="4A8F74"/>
          </a:solidFill>
          <a:ln w="12700">
            <a:solidFill>
              <a:srgbClr val="4A8F74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9652" y="1298448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第二圈：药食同源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359652" y="1664208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作用是低门槛、高频复购、文化认同。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它是最适合冷启动和社交传播的现金流产品带。</a:t>
            </a:r>
            <a:endParaRPr lang="en-US" sz="1356" dirty="0"/>
          </a:p>
        </p:txBody>
      </p:sp>
      <p:sp>
        <p:nvSpPr>
          <p:cNvPr id="18" name="Shape 16"/>
          <p:cNvSpPr/>
          <p:nvPr/>
        </p:nvSpPr>
        <p:spPr>
          <a:xfrm>
            <a:off x="530352" y="3781044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30352" y="3781044"/>
            <a:ext cx="5445252" cy="109728"/>
          </a:xfrm>
          <a:prstGeom prst="rect">
            <a:avLst/>
          </a:prstGeom>
          <a:solidFill>
            <a:srgbClr val="B3883B"/>
          </a:solidFill>
          <a:ln w="12700">
            <a:solidFill>
              <a:srgbClr val="B3883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4944" y="3945636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第三圈：保健品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694944" y="4311396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作用是提升客单价和利润率。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它承接第二圈用户，并把用户带向更丰富的长期健康管理。</a:t>
            </a:r>
            <a:endParaRPr lang="en-US" sz="1356" dirty="0"/>
          </a:p>
        </p:txBody>
      </p:sp>
      <p:sp>
        <p:nvSpPr>
          <p:cNvPr id="22" name="Shape 20"/>
          <p:cNvSpPr/>
          <p:nvPr/>
        </p:nvSpPr>
        <p:spPr>
          <a:xfrm>
            <a:off x="6195060" y="3781044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95060" y="3781044"/>
            <a:ext cx="5445252" cy="109728"/>
          </a:xfrm>
          <a:prstGeom prst="rect">
            <a:avLst/>
          </a:prstGeom>
          <a:solidFill>
            <a:srgbClr val="5078A5"/>
          </a:solidFill>
          <a:ln w="12700">
            <a:solidFill>
              <a:srgbClr val="5078A5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59652" y="3945636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飞轮逻辑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6359652" y="4311396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第一圈给信任，第二圈给复购，第三圈给利润。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数据反哺 AI 推荐，AI 又提升转化和复购，形成闭环。</a:t>
            </a:r>
            <a:endParaRPr lang="en-US" sz="1356" dirty="0"/>
          </a:p>
        </p:txBody>
      </p:sp>
    </p:spTree>
  </p:cSld>
  <p:clrMapOvr>
    <a:masterClrMapping/>
  </p:clrMapOvr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C6E68"/>
          </a:solidFill>
          <a:ln w="12700">
            <a:solidFill>
              <a:srgbClr val="2C6E6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5603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第一圈：处方医疗产品路线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694944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757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目的不是公域放量，而是在私域建立“专业可信”认知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9893808" y="256032"/>
            <a:ext cx="1417320" cy="329184"/>
          </a:xfrm>
          <a:prstGeom prst="roundRect">
            <a:avLst>
              <a:gd name="adj" fmla="val 22222"/>
            </a:avLst>
          </a:prstGeom>
          <a:solidFill>
            <a:srgbClr val="DCEFE8"/>
          </a:solidFill>
          <a:ln w="12700">
            <a:solidFill>
              <a:srgbClr val="E6E1D8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93808" y="30175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6E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产品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30352" y="6473952"/>
            <a:ext cx="11109960" cy="0"/>
          </a:xfrm>
          <a:prstGeom prst="line">
            <a:avLst/>
          </a:prstGeom>
          <a:noFill/>
          <a:ln w="13970">
            <a:solidFill>
              <a:srgbClr val="E6E1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651967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757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内部行动方针版 | 来源：MediSlim-商业方案-v1.0 / MediSlim-OPC运营手册-v1.0 / 仓库业务文档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82528" y="647395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C6E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12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30352" y="1133856"/>
            <a:ext cx="3557016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30352" y="1133856"/>
            <a:ext cx="3557016" cy="109728"/>
          </a:xfrm>
          <a:prstGeom prst="rect">
            <a:avLst/>
          </a:prstGeom>
          <a:solidFill>
            <a:srgbClr val="2C6E68"/>
          </a:solidFill>
          <a:ln w="12700">
            <a:solidFill>
              <a:srgbClr val="2C6E6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4944" y="1298448"/>
            <a:ext cx="3227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GLP-1 减重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94944" y="1664208"/>
            <a:ext cx="3227832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首月 ¥399，续费 ¥599/月。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高痛点、高讨论度、高复购。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必须通过互联网医院与药房链路。</a:t>
            </a:r>
            <a:endParaRPr lang="en-US" sz="1356" dirty="0"/>
          </a:p>
        </p:txBody>
      </p:sp>
      <p:sp>
        <p:nvSpPr>
          <p:cNvPr id="14" name="Shape 12"/>
          <p:cNvSpPr/>
          <p:nvPr/>
        </p:nvSpPr>
        <p:spPr>
          <a:xfrm>
            <a:off x="4306824" y="1133856"/>
            <a:ext cx="3557016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306824" y="1133856"/>
            <a:ext cx="3557016" cy="109728"/>
          </a:xfrm>
          <a:prstGeom prst="rect">
            <a:avLst/>
          </a:prstGeom>
          <a:solidFill>
            <a:srgbClr val="4A8F74"/>
          </a:solidFill>
          <a:ln w="12700">
            <a:solidFill>
              <a:srgbClr val="4A8F74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71416" y="1298448"/>
            <a:ext cx="3227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防脱生发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4471416" y="1664208"/>
            <a:ext cx="3227832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米诺地尔+非那雄胺组合。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适合男性长期管理。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咨询转化率高，复购周期较稳定。</a:t>
            </a:r>
            <a:endParaRPr lang="en-US" sz="1356" dirty="0"/>
          </a:p>
        </p:txBody>
      </p:sp>
      <p:sp>
        <p:nvSpPr>
          <p:cNvPr id="18" name="Shape 16"/>
          <p:cNvSpPr/>
          <p:nvPr/>
        </p:nvSpPr>
        <p:spPr>
          <a:xfrm>
            <a:off x="8083296" y="1133856"/>
            <a:ext cx="3557016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083296" y="1133856"/>
            <a:ext cx="3557016" cy="109728"/>
          </a:xfrm>
          <a:prstGeom prst="rect">
            <a:avLst/>
          </a:prstGeom>
          <a:solidFill>
            <a:srgbClr val="B3883B"/>
          </a:solidFill>
          <a:ln w="12700">
            <a:solidFill>
              <a:srgbClr val="B3883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47888" y="1298448"/>
            <a:ext cx="3227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男性健康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8247888" y="1664208"/>
            <a:ext cx="3227832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西地那非/他达拉非等。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私密需求明显，私域成交效率高。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需要严格处理隐私与话术。</a:t>
            </a:r>
            <a:endParaRPr lang="en-US" sz="1356" dirty="0"/>
          </a:p>
        </p:txBody>
      </p:sp>
      <p:sp>
        <p:nvSpPr>
          <p:cNvPr id="22" name="Shape 20"/>
          <p:cNvSpPr/>
          <p:nvPr/>
        </p:nvSpPr>
        <p:spPr>
          <a:xfrm>
            <a:off x="530352" y="3781044"/>
            <a:ext cx="3557016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30352" y="3781044"/>
            <a:ext cx="3557016" cy="109728"/>
          </a:xfrm>
          <a:prstGeom prst="rect">
            <a:avLst/>
          </a:prstGeom>
          <a:solidFill>
            <a:srgbClr val="5078A5"/>
          </a:solidFill>
          <a:ln w="12700">
            <a:solidFill>
              <a:srgbClr val="5078A5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4944" y="3945636"/>
            <a:ext cx="3227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助眠调理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694944" y="4311396"/>
            <a:ext cx="3227832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以轻症管理切入。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可与褪黑素、放松管理、内容服务组合。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适合作为桥接型产品。</a:t>
            </a:r>
            <a:endParaRPr lang="en-US" sz="1356" dirty="0"/>
          </a:p>
        </p:txBody>
      </p:sp>
      <p:sp>
        <p:nvSpPr>
          <p:cNvPr id="26" name="Shape 24"/>
          <p:cNvSpPr/>
          <p:nvPr/>
        </p:nvSpPr>
        <p:spPr>
          <a:xfrm>
            <a:off x="4306824" y="3781044"/>
            <a:ext cx="3557016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306824" y="3781044"/>
            <a:ext cx="3557016" cy="109728"/>
          </a:xfrm>
          <a:prstGeom prst="rect">
            <a:avLst/>
          </a:prstGeom>
          <a:solidFill>
            <a:srgbClr val="B65C49"/>
          </a:solidFill>
          <a:ln w="12700">
            <a:solidFill>
              <a:srgbClr val="B65C49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71416" y="3945636"/>
            <a:ext cx="3227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皮肤处方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4471416" y="4311396"/>
            <a:ext cx="3227832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祛痘、维 A 酸、阿达帕林等路径。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更适合年轻女性用户。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内容引流能力强，但合规要求高。</a:t>
            </a:r>
            <a:endParaRPr lang="en-US" sz="1356" dirty="0"/>
          </a:p>
        </p:txBody>
      </p:sp>
      <p:sp>
        <p:nvSpPr>
          <p:cNvPr id="30" name="Shape 28"/>
          <p:cNvSpPr/>
          <p:nvPr/>
        </p:nvSpPr>
        <p:spPr>
          <a:xfrm>
            <a:off x="8083296" y="3781044"/>
            <a:ext cx="3557016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083296" y="3781044"/>
            <a:ext cx="3557016" cy="109728"/>
          </a:xfrm>
          <a:prstGeom prst="rect">
            <a:avLst/>
          </a:prstGeom>
          <a:solidFill>
            <a:srgbClr val="8DB4A0"/>
          </a:solidFill>
          <a:ln w="12700">
            <a:solidFill>
              <a:srgbClr val="8DB4A0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47888" y="3945636"/>
            <a:ext cx="2130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经营原则</a:t>
            </a:r>
            <a:endParaRPr lang="en-US" sz="1550" dirty="0"/>
          </a:p>
        </p:txBody>
      </p:sp>
      <p:sp>
        <p:nvSpPr>
          <p:cNvPr id="33" name="Shape 31"/>
          <p:cNvSpPr/>
          <p:nvPr/>
        </p:nvSpPr>
        <p:spPr>
          <a:xfrm>
            <a:off x="10561320" y="3927348"/>
            <a:ext cx="868680" cy="219456"/>
          </a:xfrm>
          <a:prstGeom prst="roundRect">
            <a:avLst>
              <a:gd name="adj" fmla="val 16667"/>
            </a:avLst>
          </a:prstGeom>
          <a:solidFill>
            <a:srgbClr val="F4F0E7"/>
          </a:solidFill>
          <a:ln w="12700">
            <a:solidFill>
              <a:srgbClr val="E6E1D8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561320" y="3954780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DB4A0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原则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8247888" y="4311396"/>
            <a:ext cx="3227832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公域不直接卖药。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私域转互联网医院。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所有处方类只承接已产生咨询意愿的用户。</a:t>
            </a:r>
            <a:endParaRPr lang="en-US" sz="1356" dirty="0"/>
          </a:p>
        </p:txBody>
      </p:sp>
    </p:spTree>
  </p:cSld>
  <p:clrMapOvr>
    <a:masterClrMapping/>
  </p:clrMapOvr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C6E68"/>
          </a:solidFill>
          <a:ln w="12700">
            <a:solidFill>
              <a:srgbClr val="2C6E6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5603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第二圈：药食同源产品路线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694944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757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冷启动现金流的第一优先级，也是最强的中国特色差异化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9893808" y="256032"/>
            <a:ext cx="1417320" cy="329184"/>
          </a:xfrm>
          <a:prstGeom prst="roundRect">
            <a:avLst>
              <a:gd name="adj" fmla="val 22222"/>
            </a:avLst>
          </a:prstGeom>
          <a:solidFill>
            <a:srgbClr val="DCEFE8"/>
          </a:solidFill>
          <a:ln w="12700">
            <a:solidFill>
              <a:srgbClr val="E6E1D8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93808" y="30175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6E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产品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30352" y="6473952"/>
            <a:ext cx="11109960" cy="0"/>
          </a:xfrm>
          <a:prstGeom prst="line">
            <a:avLst/>
          </a:prstGeom>
          <a:noFill/>
          <a:ln w="13970">
            <a:solidFill>
              <a:srgbClr val="E6E1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651967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757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内部行动方针版 | 来源：MediSlim-商业方案-v1.0 / MediSlim-OPC运营手册-v1.0 / 仓库业务文档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82528" y="647395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C6E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13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30352" y="1133856"/>
            <a:ext cx="3557016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30352" y="1133856"/>
            <a:ext cx="3557016" cy="109728"/>
          </a:xfrm>
          <a:prstGeom prst="rect">
            <a:avLst/>
          </a:prstGeom>
          <a:solidFill>
            <a:srgbClr val="2C6E68"/>
          </a:solidFill>
          <a:ln w="12700">
            <a:solidFill>
              <a:srgbClr val="2C6E6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4944" y="1298448"/>
            <a:ext cx="3227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祛湿轻体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94944" y="1664208"/>
            <a:ext cx="3227832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红豆薏米+茯苓+陈皮。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月价 ¥168。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大众认知强，转化与复购潜力高。</a:t>
            </a:r>
            <a:endParaRPr lang="en-US" sz="1356" dirty="0"/>
          </a:p>
        </p:txBody>
      </p:sp>
      <p:sp>
        <p:nvSpPr>
          <p:cNvPr id="14" name="Shape 12"/>
          <p:cNvSpPr/>
          <p:nvPr/>
        </p:nvSpPr>
        <p:spPr>
          <a:xfrm>
            <a:off x="4306824" y="1133856"/>
            <a:ext cx="3557016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306824" y="1133856"/>
            <a:ext cx="3557016" cy="109728"/>
          </a:xfrm>
          <a:prstGeom prst="rect">
            <a:avLst/>
          </a:prstGeom>
          <a:solidFill>
            <a:srgbClr val="4A8F74"/>
          </a:solidFill>
          <a:ln w="12700">
            <a:solidFill>
              <a:srgbClr val="4A8F74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71416" y="1298448"/>
            <a:ext cx="3227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气血调养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4471416" y="1664208"/>
            <a:ext cx="3227832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红枣+枸杞+阿胶+黄芪。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月价 ¥198。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适合女性长期调养与送礼场景。</a:t>
            </a:r>
            <a:endParaRPr lang="en-US" sz="1356" dirty="0"/>
          </a:p>
        </p:txBody>
      </p:sp>
      <p:sp>
        <p:nvSpPr>
          <p:cNvPr id="18" name="Shape 16"/>
          <p:cNvSpPr/>
          <p:nvPr/>
        </p:nvSpPr>
        <p:spPr>
          <a:xfrm>
            <a:off x="8083296" y="1133856"/>
            <a:ext cx="3557016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083296" y="1133856"/>
            <a:ext cx="3557016" cy="109728"/>
          </a:xfrm>
          <a:prstGeom prst="rect">
            <a:avLst/>
          </a:prstGeom>
          <a:solidFill>
            <a:srgbClr val="B3883B"/>
          </a:solidFill>
          <a:ln w="12700">
            <a:solidFill>
              <a:srgbClr val="B3883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47888" y="1298448"/>
            <a:ext cx="3227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护肝养生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8247888" y="1664208"/>
            <a:ext cx="3227832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葛根+枳椇子+菊花+决明子。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月价 ¥168。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适合男性、应酬、熬夜场景。</a:t>
            </a:r>
            <a:endParaRPr lang="en-US" sz="1356" dirty="0"/>
          </a:p>
        </p:txBody>
      </p:sp>
      <p:sp>
        <p:nvSpPr>
          <p:cNvPr id="22" name="Shape 20"/>
          <p:cNvSpPr/>
          <p:nvPr/>
        </p:nvSpPr>
        <p:spPr>
          <a:xfrm>
            <a:off x="530352" y="3781044"/>
            <a:ext cx="3557016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30352" y="3781044"/>
            <a:ext cx="3557016" cy="109728"/>
          </a:xfrm>
          <a:prstGeom prst="rect">
            <a:avLst/>
          </a:prstGeom>
          <a:solidFill>
            <a:srgbClr val="5078A5"/>
          </a:solidFill>
          <a:ln w="12700">
            <a:solidFill>
              <a:srgbClr val="5078A5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4944" y="3945636"/>
            <a:ext cx="3227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暖宫驱寒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694944" y="4311396"/>
            <a:ext cx="3227832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姜+红糖+桂圆+当归。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月价 ¥158。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适合女性月经前后与季节营销。</a:t>
            </a:r>
            <a:endParaRPr lang="en-US" sz="1356" dirty="0"/>
          </a:p>
        </p:txBody>
      </p:sp>
      <p:sp>
        <p:nvSpPr>
          <p:cNvPr id="26" name="Shape 24"/>
          <p:cNvSpPr/>
          <p:nvPr/>
        </p:nvSpPr>
        <p:spPr>
          <a:xfrm>
            <a:off x="4306824" y="3781044"/>
            <a:ext cx="3557016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306824" y="3781044"/>
            <a:ext cx="3557016" cy="109728"/>
          </a:xfrm>
          <a:prstGeom prst="rect">
            <a:avLst/>
          </a:prstGeom>
          <a:solidFill>
            <a:srgbClr val="B65C49"/>
          </a:solidFill>
          <a:ln w="12700">
            <a:solidFill>
              <a:srgbClr val="B65C49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71416" y="3945636"/>
            <a:ext cx="3227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健脾养胃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4471416" y="4311396"/>
            <a:ext cx="3227832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山药+莲子+芡实+薏米。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月价 ¥148。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适合长期肠胃不适与轻体人群。</a:t>
            </a:r>
            <a:endParaRPr lang="en-US" sz="1356" dirty="0"/>
          </a:p>
        </p:txBody>
      </p:sp>
      <p:sp>
        <p:nvSpPr>
          <p:cNvPr id="30" name="Shape 28"/>
          <p:cNvSpPr/>
          <p:nvPr/>
        </p:nvSpPr>
        <p:spPr>
          <a:xfrm>
            <a:off x="8083296" y="3781044"/>
            <a:ext cx="3557016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083296" y="3781044"/>
            <a:ext cx="3557016" cy="109728"/>
          </a:xfrm>
          <a:prstGeom prst="rect">
            <a:avLst/>
          </a:prstGeom>
          <a:solidFill>
            <a:srgbClr val="8DB4A0"/>
          </a:solidFill>
          <a:ln w="12700">
            <a:solidFill>
              <a:srgbClr val="8DB4A0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47888" y="3945636"/>
            <a:ext cx="3227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润肺清燥</a:t>
            </a: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8247888" y="4311396"/>
            <a:ext cx="3227832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雪梨+百合+银耳+枇杷。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月价 ¥138。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季节爆品，适合秋冬专题化内容运营。</a:t>
            </a:r>
            <a:endParaRPr lang="en-US" sz="1356" dirty="0"/>
          </a:p>
        </p:txBody>
      </p:sp>
    </p:spTree>
  </p:cSld>
  <p:clrMapOvr>
    <a:masterClrMapping/>
  </p:clrMapOvr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C6E68"/>
          </a:solidFill>
          <a:ln w="12700">
            <a:solidFill>
              <a:srgbClr val="2C6E6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5603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第三圈：保健品与营养补充路线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694944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757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承接第二圈用户，提高客单价和毛利率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9893808" y="256032"/>
            <a:ext cx="1417320" cy="329184"/>
          </a:xfrm>
          <a:prstGeom prst="roundRect">
            <a:avLst>
              <a:gd name="adj" fmla="val 22222"/>
            </a:avLst>
          </a:prstGeom>
          <a:solidFill>
            <a:srgbClr val="DCEFE8"/>
          </a:solidFill>
          <a:ln w="12700">
            <a:solidFill>
              <a:srgbClr val="E6E1D8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93808" y="30175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6E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产品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30352" y="6473952"/>
            <a:ext cx="11109960" cy="0"/>
          </a:xfrm>
          <a:prstGeom prst="line">
            <a:avLst/>
          </a:prstGeom>
          <a:noFill/>
          <a:ln w="13970">
            <a:solidFill>
              <a:srgbClr val="E6E1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651967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757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内部行动方针版 | 来源：MediSlim-商业方案-v1.0 / MediSlim-OPC运营手册-v1.0 / 仓库业务文档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82528" y="647395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C6E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14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30352" y="1133856"/>
            <a:ext cx="3557016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30352" y="1133856"/>
            <a:ext cx="3557016" cy="109728"/>
          </a:xfrm>
          <a:prstGeom prst="rect">
            <a:avLst/>
          </a:prstGeom>
          <a:solidFill>
            <a:srgbClr val="2C6E68"/>
          </a:solidFill>
          <a:ln w="12700">
            <a:solidFill>
              <a:srgbClr val="2C6E6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4944" y="1298448"/>
            <a:ext cx="3227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益生菌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94944" y="1664208"/>
            <a:ext cx="3227832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减重、肠胃、排便、免疫都可挂钩。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月价 ¥198。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与第二圈联动最强。</a:t>
            </a:r>
            <a:endParaRPr lang="en-US" sz="1356" dirty="0"/>
          </a:p>
        </p:txBody>
      </p:sp>
      <p:sp>
        <p:nvSpPr>
          <p:cNvPr id="14" name="Shape 12"/>
          <p:cNvSpPr/>
          <p:nvPr/>
        </p:nvSpPr>
        <p:spPr>
          <a:xfrm>
            <a:off x="4306824" y="1133856"/>
            <a:ext cx="3557016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306824" y="1133856"/>
            <a:ext cx="3557016" cy="109728"/>
          </a:xfrm>
          <a:prstGeom prst="rect">
            <a:avLst/>
          </a:prstGeom>
          <a:solidFill>
            <a:srgbClr val="4A8F74"/>
          </a:solidFill>
          <a:ln w="12700">
            <a:solidFill>
              <a:srgbClr val="4A8F74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71416" y="1298448"/>
            <a:ext cx="3227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胶原蛋白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4471416" y="1664208"/>
            <a:ext cx="3227832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女性美容与轻医美辅助场景。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月价 ¥228。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更适合内容种草与礼盒化。</a:t>
            </a:r>
            <a:endParaRPr lang="en-US" sz="1356" dirty="0"/>
          </a:p>
        </p:txBody>
      </p:sp>
      <p:sp>
        <p:nvSpPr>
          <p:cNvPr id="18" name="Shape 16"/>
          <p:cNvSpPr/>
          <p:nvPr/>
        </p:nvSpPr>
        <p:spPr>
          <a:xfrm>
            <a:off x="8083296" y="1133856"/>
            <a:ext cx="3557016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083296" y="1133856"/>
            <a:ext cx="3557016" cy="109728"/>
          </a:xfrm>
          <a:prstGeom prst="rect">
            <a:avLst/>
          </a:prstGeom>
          <a:solidFill>
            <a:srgbClr val="B3883B"/>
          </a:solidFill>
          <a:ln w="12700">
            <a:solidFill>
              <a:srgbClr val="B3883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47888" y="1298448"/>
            <a:ext cx="3227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维生素 D / K2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8247888" y="1664208"/>
            <a:ext cx="3227832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办公室人群基础营养。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月价 ¥98。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适合作为低门槛加购单品。</a:t>
            </a:r>
            <a:endParaRPr lang="en-US" sz="1356" dirty="0"/>
          </a:p>
        </p:txBody>
      </p:sp>
      <p:sp>
        <p:nvSpPr>
          <p:cNvPr id="22" name="Shape 20"/>
          <p:cNvSpPr/>
          <p:nvPr/>
        </p:nvSpPr>
        <p:spPr>
          <a:xfrm>
            <a:off x="530352" y="3781044"/>
            <a:ext cx="3557016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30352" y="3781044"/>
            <a:ext cx="3557016" cy="109728"/>
          </a:xfrm>
          <a:prstGeom prst="rect">
            <a:avLst/>
          </a:prstGeom>
          <a:solidFill>
            <a:srgbClr val="5078A5"/>
          </a:solidFill>
          <a:ln w="12700">
            <a:solidFill>
              <a:srgbClr val="5078A5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4944" y="3945636"/>
            <a:ext cx="3227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Omega-3 / 鱼油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694944" y="4311396"/>
            <a:ext cx="3227832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心血管、大脑健康、抗炎认知强。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月价 ¥168。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适合 30+ 人群长期管理。</a:t>
            </a:r>
            <a:endParaRPr lang="en-US" sz="1356" dirty="0"/>
          </a:p>
        </p:txBody>
      </p:sp>
      <p:sp>
        <p:nvSpPr>
          <p:cNvPr id="26" name="Shape 24"/>
          <p:cNvSpPr/>
          <p:nvPr/>
        </p:nvSpPr>
        <p:spPr>
          <a:xfrm>
            <a:off x="4306824" y="3781044"/>
            <a:ext cx="3557016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306824" y="3781044"/>
            <a:ext cx="3557016" cy="109728"/>
          </a:xfrm>
          <a:prstGeom prst="rect">
            <a:avLst/>
          </a:prstGeom>
          <a:solidFill>
            <a:srgbClr val="B65C49"/>
          </a:solidFill>
          <a:ln w="12700">
            <a:solidFill>
              <a:srgbClr val="B65C49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71416" y="3945636"/>
            <a:ext cx="3227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辅酶 Q10 / 叶黄素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4471416" y="4311396"/>
            <a:ext cx="3227832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一个打心脏与抗衰，一个打护眼。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非常适合以场景专题做组合销售。</a:t>
            </a:r>
            <a:endParaRPr lang="en-US" sz="1356" dirty="0"/>
          </a:p>
        </p:txBody>
      </p:sp>
      <p:sp>
        <p:nvSpPr>
          <p:cNvPr id="30" name="Shape 28"/>
          <p:cNvSpPr/>
          <p:nvPr/>
        </p:nvSpPr>
        <p:spPr>
          <a:xfrm>
            <a:off x="8083296" y="3781044"/>
            <a:ext cx="3557016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083296" y="3781044"/>
            <a:ext cx="3557016" cy="109728"/>
          </a:xfrm>
          <a:prstGeom prst="rect">
            <a:avLst/>
          </a:prstGeom>
          <a:solidFill>
            <a:srgbClr val="8DB4A0"/>
          </a:solidFill>
          <a:ln w="12700">
            <a:solidFill>
              <a:srgbClr val="8DB4A0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47888" y="3945636"/>
            <a:ext cx="3227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蛋白粉 / 多维</a:t>
            </a: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8247888" y="4311396"/>
            <a:ext cx="3227832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适合运动、控糖、减脂、全家健康场景。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可做家庭装与订阅盒的标准 SKU。</a:t>
            </a:r>
            <a:endParaRPr lang="en-US" sz="1356" dirty="0"/>
          </a:p>
        </p:txBody>
      </p:sp>
    </p:spTree>
  </p:cSld>
  <p:clrMapOvr>
    <a:masterClrMapping/>
  </p:clrMapOvr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C6E68"/>
          </a:solidFill>
          <a:ln w="12700">
            <a:solidFill>
              <a:srgbClr val="2C6E6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5603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产品组合与价格带设计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694944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757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目标不是 SKU 越多越好，而是让每个价格带都有明确角色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9893808" y="256032"/>
            <a:ext cx="1417320" cy="329184"/>
          </a:xfrm>
          <a:prstGeom prst="roundRect">
            <a:avLst>
              <a:gd name="adj" fmla="val 22222"/>
            </a:avLst>
          </a:prstGeom>
          <a:solidFill>
            <a:srgbClr val="DCEFE8"/>
          </a:solidFill>
          <a:ln w="12700">
            <a:solidFill>
              <a:srgbClr val="E6E1D8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93808" y="30175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6E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产品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30352" y="6473952"/>
            <a:ext cx="11109960" cy="0"/>
          </a:xfrm>
          <a:prstGeom prst="line">
            <a:avLst/>
          </a:prstGeom>
          <a:noFill/>
          <a:ln w="13970">
            <a:solidFill>
              <a:srgbClr val="E6E1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651967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757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内部行动方针版 | 来源：MediSlim-商业方案-v1.0 / MediSlim-OPC运营手册-v1.0 / 仓库业务文档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82528" y="647395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C6E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15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30352" y="1133856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30352" y="1133856"/>
            <a:ext cx="5445252" cy="109728"/>
          </a:xfrm>
          <a:prstGeom prst="rect">
            <a:avLst/>
          </a:prstGeom>
          <a:solidFill>
            <a:srgbClr val="2C6E68"/>
          </a:solidFill>
          <a:ln w="12700">
            <a:solidFill>
              <a:srgbClr val="2C6E6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4944" y="1298448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引流单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94944" y="1664208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用于降低首次下单门槛。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代表 SKU：祛湿轻体、益生菌、轻咨询服务。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原则是痛点明确、文案简单、风险低。</a:t>
            </a:r>
            <a:endParaRPr lang="en-US" sz="1356" dirty="0"/>
          </a:p>
        </p:txBody>
      </p:sp>
      <p:sp>
        <p:nvSpPr>
          <p:cNvPr id="14" name="Shape 12"/>
          <p:cNvSpPr/>
          <p:nvPr/>
        </p:nvSpPr>
        <p:spPr>
          <a:xfrm>
            <a:off x="6195060" y="1133856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95060" y="1133856"/>
            <a:ext cx="5445252" cy="109728"/>
          </a:xfrm>
          <a:prstGeom prst="rect">
            <a:avLst/>
          </a:prstGeom>
          <a:solidFill>
            <a:srgbClr val="4A8F74"/>
          </a:solidFill>
          <a:ln w="12700">
            <a:solidFill>
              <a:srgbClr val="4A8F74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9652" y="1298448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利润单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359652" y="1664208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用于提高毛利和客单。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代表 SKU：胶原蛋白、气血调养、护肝养生、Q10。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原则是效果感知强、故事性强、适合组合售卖。</a:t>
            </a:r>
            <a:endParaRPr lang="en-US" sz="1356" dirty="0"/>
          </a:p>
        </p:txBody>
      </p:sp>
      <p:sp>
        <p:nvSpPr>
          <p:cNvPr id="18" name="Shape 16"/>
          <p:cNvSpPr/>
          <p:nvPr/>
        </p:nvSpPr>
        <p:spPr>
          <a:xfrm>
            <a:off x="530352" y="3781044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30352" y="3781044"/>
            <a:ext cx="5445252" cy="109728"/>
          </a:xfrm>
          <a:prstGeom prst="rect">
            <a:avLst/>
          </a:prstGeom>
          <a:solidFill>
            <a:srgbClr val="B3883B"/>
          </a:solidFill>
          <a:ln w="12700">
            <a:solidFill>
              <a:srgbClr val="B3883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4944" y="3945636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订阅盒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694944" y="4311396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女性养生盒、男性健康盒、全家健康盒。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月价可做到 ¥398-598。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用于提升留存、品牌感和家庭场景渗透。</a:t>
            </a:r>
            <a:endParaRPr lang="en-US" sz="1356" dirty="0"/>
          </a:p>
        </p:txBody>
      </p:sp>
      <p:sp>
        <p:nvSpPr>
          <p:cNvPr id="22" name="Shape 20"/>
          <p:cNvSpPr/>
          <p:nvPr/>
        </p:nvSpPr>
        <p:spPr>
          <a:xfrm>
            <a:off x="6195060" y="3781044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95060" y="3781044"/>
            <a:ext cx="5445252" cy="109728"/>
          </a:xfrm>
          <a:prstGeom prst="rect">
            <a:avLst/>
          </a:prstGeom>
          <a:solidFill>
            <a:srgbClr val="5078A5"/>
          </a:solidFill>
          <a:ln w="12700">
            <a:solidFill>
              <a:srgbClr val="5078A5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59652" y="3945636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价格带逻辑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6359652" y="4311396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¥99-199 做入门与加购。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¥168-228 做主力现金流。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¥398+ 做组合盒与高粘性经营。</a:t>
            </a:r>
            <a:endParaRPr lang="en-US" sz="1356" dirty="0"/>
          </a:p>
        </p:txBody>
      </p:sp>
    </p:spTree>
  </p:cSld>
  <p:clrMapOvr>
    <a:masterClrMapping/>
  </p:clrMapOvr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C6E68"/>
          </a:solidFill>
          <a:ln w="12700">
            <a:solidFill>
              <a:srgbClr val="2C6E6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5603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核心用户画像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694944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757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先抓 4 类高意愿、高复购、高传播人群，不要一开始做全市场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9893808" y="256032"/>
            <a:ext cx="1417320" cy="329184"/>
          </a:xfrm>
          <a:prstGeom prst="roundRect">
            <a:avLst>
              <a:gd name="adj" fmla="val 22222"/>
            </a:avLst>
          </a:prstGeom>
          <a:solidFill>
            <a:srgbClr val="DCEFE8"/>
          </a:solidFill>
          <a:ln w="12700">
            <a:solidFill>
              <a:srgbClr val="E6E1D8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93808" y="30175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6E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用户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30352" y="6473952"/>
            <a:ext cx="11109960" cy="0"/>
          </a:xfrm>
          <a:prstGeom prst="line">
            <a:avLst/>
          </a:prstGeom>
          <a:noFill/>
          <a:ln w="13970">
            <a:solidFill>
              <a:srgbClr val="E6E1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651967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757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内部行动方针版 | 来源：MediSlim-商业方案-v1.0 / MediSlim-OPC运营手册-v1.0 / 仓库业务文档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82528" y="647395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C6E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16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30352" y="1133856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30352" y="1133856"/>
            <a:ext cx="5445252" cy="109728"/>
          </a:xfrm>
          <a:prstGeom prst="rect">
            <a:avLst/>
          </a:prstGeom>
          <a:solidFill>
            <a:srgbClr val="2C6E68"/>
          </a:solidFill>
          <a:ln w="12700">
            <a:solidFill>
              <a:srgbClr val="2C6E6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4944" y="1298448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减重白领女性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94944" y="1664208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25-38 岁，长期节食反复失败。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关注体重、代谢、颜值、肠胃与内分泌。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愿意为“省脑子+有人跟进”付费。</a:t>
            </a:r>
            <a:endParaRPr lang="en-US" sz="1356" dirty="0"/>
          </a:p>
        </p:txBody>
      </p:sp>
      <p:sp>
        <p:nvSpPr>
          <p:cNvPr id="14" name="Shape 12"/>
          <p:cNvSpPr/>
          <p:nvPr/>
        </p:nvSpPr>
        <p:spPr>
          <a:xfrm>
            <a:off x="6195060" y="1133856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95060" y="1133856"/>
            <a:ext cx="5445252" cy="109728"/>
          </a:xfrm>
          <a:prstGeom prst="rect">
            <a:avLst/>
          </a:prstGeom>
          <a:solidFill>
            <a:srgbClr val="4A8F74"/>
          </a:solidFill>
          <a:ln w="12700">
            <a:solidFill>
              <a:srgbClr val="4A8F74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9652" y="1298448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湿气焦虑型人群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359652" y="1664208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长期感觉水肿、乏力、困倦、肠胃差。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对“祛湿”“体质调理”认知强。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更适合第二圈冷启动。</a:t>
            </a:r>
            <a:endParaRPr lang="en-US" sz="1356" dirty="0"/>
          </a:p>
        </p:txBody>
      </p:sp>
      <p:sp>
        <p:nvSpPr>
          <p:cNvPr id="18" name="Shape 16"/>
          <p:cNvSpPr/>
          <p:nvPr/>
        </p:nvSpPr>
        <p:spPr>
          <a:xfrm>
            <a:off x="530352" y="3781044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30352" y="3781044"/>
            <a:ext cx="5445252" cy="109728"/>
          </a:xfrm>
          <a:prstGeom prst="rect">
            <a:avLst/>
          </a:prstGeom>
          <a:solidFill>
            <a:srgbClr val="B3883B"/>
          </a:solidFill>
          <a:ln w="12700">
            <a:solidFill>
              <a:srgbClr val="B3883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4944" y="3945636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熬夜应酬男士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694944" y="4311396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30-45 岁，护肝、睡眠、男性健康都是高频痛点。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更偏向私域成交，重视隐私、效率和体面表达。</a:t>
            </a:r>
            <a:endParaRPr lang="en-US" sz="1356" dirty="0"/>
          </a:p>
        </p:txBody>
      </p:sp>
      <p:sp>
        <p:nvSpPr>
          <p:cNvPr id="22" name="Shape 20"/>
          <p:cNvSpPr/>
          <p:nvPr/>
        </p:nvSpPr>
        <p:spPr>
          <a:xfrm>
            <a:off x="6195060" y="3781044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95060" y="3781044"/>
            <a:ext cx="5445252" cy="109728"/>
          </a:xfrm>
          <a:prstGeom prst="rect">
            <a:avLst/>
          </a:prstGeom>
          <a:solidFill>
            <a:srgbClr val="5078A5"/>
          </a:solidFill>
          <a:ln w="12700">
            <a:solidFill>
              <a:srgbClr val="5078A5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59652" y="3945636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家庭健康采购者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6359652" y="4311396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习惯为伴侣、父母、孩子采购健康产品。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更看重品牌可信、组合管理、长期配送和售后稳定。</a:t>
            </a:r>
            <a:endParaRPr lang="en-US" sz="1356" dirty="0"/>
          </a:p>
        </p:txBody>
      </p:sp>
    </p:spTree>
  </p:cSld>
  <p:clrMapOvr>
    <a:masterClrMapping/>
  </p:clrMapOvr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C6E68"/>
          </a:solidFill>
          <a:ln w="12700">
            <a:solidFill>
              <a:srgbClr val="2C6E6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5603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用户真实需求：他们不是想买产品，而是想买确定性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694944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757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解决“不会选、怕踩坑、没人跟进”比单纯卖功能更重要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9893808" y="256032"/>
            <a:ext cx="1417320" cy="329184"/>
          </a:xfrm>
          <a:prstGeom prst="roundRect">
            <a:avLst>
              <a:gd name="adj" fmla="val 22222"/>
            </a:avLst>
          </a:prstGeom>
          <a:solidFill>
            <a:srgbClr val="DCEFE8"/>
          </a:solidFill>
          <a:ln w="12700">
            <a:solidFill>
              <a:srgbClr val="E6E1D8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93808" y="30175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6E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用户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30352" y="6473952"/>
            <a:ext cx="11109960" cy="0"/>
          </a:xfrm>
          <a:prstGeom prst="line">
            <a:avLst/>
          </a:prstGeom>
          <a:noFill/>
          <a:ln w="13970">
            <a:solidFill>
              <a:srgbClr val="E6E1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651967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757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内部行动方针版 | 来源：MediSlim-商业方案-v1.0 / MediSlim-OPC运营手册-v1.0 / 仓库业务文档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82528" y="647395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C6E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17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30352" y="1133856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30352" y="1133856"/>
            <a:ext cx="5445252" cy="109728"/>
          </a:xfrm>
          <a:prstGeom prst="rect">
            <a:avLst/>
          </a:prstGeom>
          <a:solidFill>
            <a:srgbClr val="2C6E68"/>
          </a:solidFill>
          <a:ln w="12700">
            <a:solidFill>
              <a:srgbClr val="2C6E6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4944" y="1298448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想省决策成本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94944" y="1664208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用户不想自己查功效、成分和禁忌。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他们想要的是“直接告诉我该用什么、怎么用、多久见效”。</a:t>
            </a:r>
            <a:endParaRPr lang="en-US" sz="1356" dirty="0"/>
          </a:p>
        </p:txBody>
      </p:sp>
      <p:sp>
        <p:nvSpPr>
          <p:cNvPr id="14" name="Shape 12"/>
          <p:cNvSpPr/>
          <p:nvPr/>
        </p:nvSpPr>
        <p:spPr>
          <a:xfrm>
            <a:off x="6195060" y="1133856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95060" y="1133856"/>
            <a:ext cx="5445252" cy="109728"/>
          </a:xfrm>
          <a:prstGeom prst="rect">
            <a:avLst/>
          </a:prstGeom>
          <a:solidFill>
            <a:srgbClr val="4A8F74"/>
          </a:solidFill>
          <a:ln w="12700">
            <a:solidFill>
              <a:srgbClr val="4A8F74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9652" y="1298448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想降低试错风险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359652" y="1664208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健康消费最怕买错、吃错、坚持不了。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所以评估、陪伴、提醒、复盘都必须内置进服务里。</a:t>
            </a:r>
            <a:endParaRPr lang="en-US" sz="1356" dirty="0"/>
          </a:p>
        </p:txBody>
      </p:sp>
      <p:sp>
        <p:nvSpPr>
          <p:cNvPr id="18" name="Shape 16"/>
          <p:cNvSpPr/>
          <p:nvPr/>
        </p:nvSpPr>
        <p:spPr>
          <a:xfrm>
            <a:off x="530352" y="3781044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30352" y="3781044"/>
            <a:ext cx="5445252" cy="109728"/>
          </a:xfrm>
          <a:prstGeom prst="rect">
            <a:avLst/>
          </a:prstGeom>
          <a:solidFill>
            <a:srgbClr val="B3883B"/>
          </a:solidFill>
          <a:ln w="12700">
            <a:solidFill>
              <a:srgbClr val="B3883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4944" y="3945636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想要有人盯进展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694944" y="4311396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如果只有商品链接，没有跟进，用户很快流失。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企微顾问与 AI 随访决定了复购率上限。</a:t>
            </a:r>
            <a:endParaRPr lang="en-US" sz="1356" dirty="0"/>
          </a:p>
        </p:txBody>
      </p:sp>
      <p:sp>
        <p:nvSpPr>
          <p:cNvPr id="22" name="Shape 20"/>
          <p:cNvSpPr/>
          <p:nvPr/>
        </p:nvSpPr>
        <p:spPr>
          <a:xfrm>
            <a:off x="6195060" y="3781044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95060" y="3781044"/>
            <a:ext cx="5445252" cy="109728"/>
          </a:xfrm>
          <a:prstGeom prst="rect">
            <a:avLst/>
          </a:prstGeom>
          <a:solidFill>
            <a:srgbClr val="5078A5"/>
          </a:solidFill>
          <a:ln w="12700">
            <a:solidFill>
              <a:srgbClr val="5078A5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59652" y="3945636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想在私密环境成交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6359652" y="4311396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减重、生发、男性健康等需求天然私密。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成交环境必须从公域内容转向私域咨询和可追踪的服务链路。</a:t>
            </a:r>
            <a:endParaRPr lang="en-US" sz="1356" dirty="0"/>
          </a:p>
        </p:txBody>
      </p:sp>
    </p:spTree>
  </p:cSld>
  <p:clrMapOvr>
    <a:masterClrMapping/>
  </p:clrMapOvr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C6E68"/>
          </a:solidFill>
          <a:ln w="12700">
            <a:solidFill>
              <a:srgbClr val="2C6E6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5603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渠道漏斗设计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694944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757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让每个渠道只承担自己最擅长的一段，而不是所有事情都做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9893808" y="256032"/>
            <a:ext cx="1417320" cy="329184"/>
          </a:xfrm>
          <a:prstGeom prst="roundRect">
            <a:avLst>
              <a:gd name="adj" fmla="val 22222"/>
            </a:avLst>
          </a:prstGeom>
          <a:solidFill>
            <a:srgbClr val="DCEFE8"/>
          </a:solidFill>
          <a:ln w="12700">
            <a:solidFill>
              <a:srgbClr val="E6E1D8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93808" y="30175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6E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增长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30352" y="6473952"/>
            <a:ext cx="11109960" cy="0"/>
          </a:xfrm>
          <a:prstGeom prst="line">
            <a:avLst/>
          </a:prstGeom>
          <a:noFill/>
          <a:ln w="13970">
            <a:solidFill>
              <a:srgbClr val="E6E1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651967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757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内部行动方针版 | 来源：MediSlim-商业方案-v1.0 / MediSlim-OPC运营手册-v1.0 / 仓库业务文档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82528" y="647395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C6E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18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30352" y="1133856"/>
            <a:ext cx="3557016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30352" y="1133856"/>
            <a:ext cx="3557016" cy="109728"/>
          </a:xfrm>
          <a:prstGeom prst="rect">
            <a:avLst/>
          </a:prstGeom>
          <a:solidFill>
            <a:srgbClr val="2C6E68"/>
          </a:solidFill>
          <a:ln w="12700">
            <a:solidFill>
              <a:srgbClr val="2C6E6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4944" y="1298448"/>
            <a:ext cx="3227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公域触达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94944" y="1664208"/>
            <a:ext cx="3227832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小红书、抖音、公众号、视频号、朋友圈广告。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负责认知和兴趣，不负责最后成交。</a:t>
            </a:r>
            <a:endParaRPr lang="en-US" sz="1356" dirty="0"/>
          </a:p>
        </p:txBody>
      </p:sp>
      <p:sp>
        <p:nvSpPr>
          <p:cNvPr id="14" name="Shape 12"/>
          <p:cNvSpPr/>
          <p:nvPr/>
        </p:nvSpPr>
        <p:spPr>
          <a:xfrm>
            <a:off x="4306824" y="1133856"/>
            <a:ext cx="3557016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306824" y="1133856"/>
            <a:ext cx="3557016" cy="109728"/>
          </a:xfrm>
          <a:prstGeom prst="rect">
            <a:avLst/>
          </a:prstGeom>
          <a:solidFill>
            <a:srgbClr val="4A8F74"/>
          </a:solidFill>
          <a:ln w="12700">
            <a:solidFill>
              <a:srgbClr val="4A8F74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71416" y="1298448"/>
            <a:ext cx="3227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留资转私域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4471416" y="1664208"/>
            <a:ext cx="3227832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H5 留资、关键词回复、企微加粉、社群引导。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目标是留下可持续触达的关系资产。</a:t>
            </a:r>
            <a:endParaRPr lang="en-US" sz="1356" dirty="0"/>
          </a:p>
        </p:txBody>
      </p:sp>
      <p:sp>
        <p:nvSpPr>
          <p:cNvPr id="18" name="Shape 16"/>
          <p:cNvSpPr/>
          <p:nvPr/>
        </p:nvSpPr>
        <p:spPr>
          <a:xfrm>
            <a:off x="8083296" y="1133856"/>
            <a:ext cx="3557016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083296" y="1133856"/>
            <a:ext cx="3557016" cy="109728"/>
          </a:xfrm>
          <a:prstGeom prst="rect">
            <a:avLst/>
          </a:prstGeom>
          <a:solidFill>
            <a:srgbClr val="B3883B"/>
          </a:solidFill>
          <a:ln w="12700">
            <a:solidFill>
              <a:srgbClr val="B3883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47888" y="1298448"/>
            <a:ext cx="3227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评估与分层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8247888" y="1664208"/>
            <a:ext cx="3227832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AI 问卷把人分成处方类、药食同源类、营养补充类。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不同人走不同转化路径。</a:t>
            </a:r>
            <a:endParaRPr lang="en-US" sz="1356" dirty="0"/>
          </a:p>
        </p:txBody>
      </p:sp>
      <p:sp>
        <p:nvSpPr>
          <p:cNvPr id="22" name="Shape 20"/>
          <p:cNvSpPr/>
          <p:nvPr/>
        </p:nvSpPr>
        <p:spPr>
          <a:xfrm>
            <a:off x="530352" y="3781044"/>
            <a:ext cx="3557016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30352" y="3781044"/>
            <a:ext cx="3557016" cy="109728"/>
          </a:xfrm>
          <a:prstGeom prst="rect">
            <a:avLst/>
          </a:prstGeom>
          <a:solidFill>
            <a:srgbClr val="5078A5"/>
          </a:solidFill>
          <a:ln w="12700">
            <a:solidFill>
              <a:srgbClr val="5078A5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4944" y="3945636"/>
            <a:ext cx="3227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成交转化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694944" y="4311396"/>
            <a:ext cx="3227832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健康顾问+方案说明+支付引导。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处方类进入互联网医院；非处方类直接成单。</a:t>
            </a:r>
            <a:endParaRPr lang="en-US" sz="1356" dirty="0"/>
          </a:p>
        </p:txBody>
      </p:sp>
      <p:sp>
        <p:nvSpPr>
          <p:cNvPr id="26" name="Shape 24"/>
          <p:cNvSpPr/>
          <p:nvPr/>
        </p:nvSpPr>
        <p:spPr>
          <a:xfrm>
            <a:off x="4306824" y="3781044"/>
            <a:ext cx="3557016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306824" y="3781044"/>
            <a:ext cx="3557016" cy="109728"/>
          </a:xfrm>
          <a:prstGeom prst="rect">
            <a:avLst/>
          </a:prstGeom>
          <a:solidFill>
            <a:srgbClr val="B65C49"/>
          </a:solidFill>
          <a:ln w="12700">
            <a:solidFill>
              <a:srgbClr val="B65C49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71416" y="3945636"/>
            <a:ext cx="3227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复购与加购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4471416" y="4311396"/>
            <a:ext cx="3227832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Day 21 提醒、周跟进、场景加购、组合盒升级。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没有复购，漏斗就会塌。</a:t>
            </a:r>
            <a:endParaRPr lang="en-US" sz="1356" dirty="0"/>
          </a:p>
        </p:txBody>
      </p:sp>
      <p:sp>
        <p:nvSpPr>
          <p:cNvPr id="30" name="Shape 28"/>
          <p:cNvSpPr/>
          <p:nvPr/>
        </p:nvSpPr>
        <p:spPr>
          <a:xfrm>
            <a:off x="8083296" y="3781044"/>
            <a:ext cx="3557016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083296" y="3781044"/>
            <a:ext cx="3557016" cy="109728"/>
          </a:xfrm>
          <a:prstGeom prst="rect">
            <a:avLst/>
          </a:prstGeom>
          <a:solidFill>
            <a:srgbClr val="8DB4A0"/>
          </a:solidFill>
          <a:ln w="12700">
            <a:solidFill>
              <a:srgbClr val="8DB4A0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47888" y="3945636"/>
            <a:ext cx="3227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裂变</a:t>
            </a: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8247888" y="4311396"/>
            <a:ext cx="3227832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优惠券、试用装、健康大使、区域合伙人。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裂变不是冷启动核心，但会成为后期 ROI 放大器。</a:t>
            </a:r>
            <a:endParaRPr lang="en-US" sz="1356" dirty="0"/>
          </a:p>
        </p:txBody>
      </p:sp>
    </p:spTree>
  </p:cSld>
  <p:clrMapOvr>
    <a:masterClrMapping/>
  </p:clrMapOvr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C6E68"/>
          </a:solidFill>
          <a:ln w="12700">
            <a:solidFill>
              <a:srgbClr val="2C6E6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5603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完整用户旅程：从触达到裂变的 9 步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694944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757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每一步都要有动作、系统状态和负责主体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9893808" y="256032"/>
            <a:ext cx="1417320" cy="329184"/>
          </a:xfrm>
          <a:prstGeom prst="roundRect">
            <a:avLst>
              <a:gd name="adj" fmla="val 22222"/>
            </a:avLst>
          </a:prstGeom>
          <a:solidFill>
            <a:srgbClr val="DCEFE8"/>
          </a:solidFill>
          <a:ln w="12700">
            <a:solidFill>
              <a:srgbClr val="E6E1D8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93808" y="30175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6E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运营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30352" y="6473952"/>
            <a:ext cx="11109960" cy="0"/>
          </a:xfrm>
          <a:prstGeom prst="line">
            <a:avLst/>
          </a:prstGeom>
          <a:noFill/>
          <a:ln w="13970">
            <a:solidFill>
              <a:srgbClr val="E6E1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651967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757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内部行动方针版 | 来源：MediSlim-商业方案-v1.0 / MediSlim-OPC运营手册-v1.0 / 仓库业务文档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82528" y="647395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C6E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19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30352" y="1133856"/>
            <a:ext cx="3557016" cy="1545336"/>
          </a:xfrm>
          <a:prstGeom prst="roundRect">
            <a:avLst>
              <a:gd name="adj" fmla="val 4734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30352" y="1133856"/>
            <a:ext cx="3557016" cy="109728"/>
          </a:xfrm>
          <a:prstGeom prst="rect">
            <a:avLst/>
          </a:prstGeom>
          <a:solidFill>
            <a:srgbClr val="2C6E68"/>
          </a:solidFill>
          <a:ln w="12700">
            <a:solidFill>
              <a:srgbClr val="2C6E6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4944" y="1298448"/>
            <a:ext cx="2130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1 触达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3008376" y="1280160"/>
            <a:ext cx="868680" cy="219456"/>
          </a:xfrm>
          <a:prstGeom prst="roundRect">
            <a:avLst>
              <a:gd name="adj" fmla="val 16667"/>
            </a:avLst>
          </a:prstGeom>
          <a:solidFill>
            <a:srgbClr val="F4F0E7"/>
          </a:solidFill>
          <a:ln w="12700">
            <a:solidFill>
              <a:srgbClr val="E6E1D8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08376" y="1307592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C6E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Step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94944" y="1664208"/>
            <a:ext cx="3227832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社交媒体广告、社群推荐、口碑传播。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目标：获取注意力和第一兴趣。</a:t>
            </a:r>
            <a:endParaRPr lang="en-US" sz="1356" dirty="0"/>
          </a:p>
        </p:txBody>
      </p:sp>
      <p:sp>
        <p:nvSpPr>
          <p:cNvPr id="16" name="Shape 14"/>
          <p:cNvSpPr/>
          <p:nvPr/>
        </p:nvSpPr>
        <p:spPr>
          <a:xfrm>
            <a:off x="4306824" y="1133856"/>
            <a:ext cx="3557016" cy="1545336"/>
          </a:xfrm>
          <a:prstGeom prst="roundRect">
            <a:avLst>
              <a:gd name="adj" fmla="val 4734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306824" y="1133856"/>
            <a:ext cx="3557016" cy="109728"/>
          </a:xfrm>
          <a:prstGeom prst="rect">
            <a:avLst/>
          </a:prstGeom>
          <a:solidFill>
            <a:srgbClr val="4A8F74"/>
          </a:solidFill>
          <a:ln w="12700">
            <a:solidFill>
              <a:srgbClr val="4A8F74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71416" y="1298448"/>
            <a:ext cx="2130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2 落地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6784848" y="1280160"/>
            <a:ext cx="868680" cy="219456"/>
          </a:xfrm>
          <a:prstGeom prst="roundRect">
            <a:avLst>
              <a:gd name="adj" fmla="val 16667"/>
            </a:avLst>
          </a:prstGeom>
          <a:solidFill>
            <a:srgbClr val="F4F0E7"/>
          </a:solidFill>
          <a:ln w="12700">
            <a:solidFill>
              <a:srgbClr val="E6E1D8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84848" y="1307592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A8F74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Step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471416" y="1664208"/>
            <a:ext cx="3227832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H5 落地页、企微社群、朋友推荐。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目标：把流量变成线索。</a:t>
            </a:r>
            <a:endParaRPr lang="en-US" sz="1356" dirty="0"/>
          </a:p>
        </p:txBody>
      </p:sp>
      <p:sp>
        <p:nvSpPr>
          <p:cNvPr id="22" name="Shape 20"/>
          <p:cNvSpPr/>
          <p:nvPr/>
        </p:nvSpPr>
        <p:spPr>
          <a:xfrm>
            <a:off x="8083296" y="1133856"/>
            <a:ext cx="3557016" cy="1545336"/>
          </a:xfrm>
          <a:prstGeom prst="roundRect">
            <a:avLst>
              <a:gd name="adj" fmla="val 4734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083296" y="1133856"/>
            <a:ext cx="3557016" cy="109728"/>
          </a:xfrm>
          <a:prstGeom prst="rect">
            <a:avLst/>
          </a:prstGeom>
          <a:solidFill>
            <a:srgbClr val="B3883B"/>
          </a:solidFill>
          <a:ln w="12700">
            <a:solidFill>
              <a:srgbClr val="B3883B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47888" y="1298448"/>
            <a:ext cx="2130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3 评估</a:t>
            </a:r>
            <a:endParaRPr lang="en-US" sz="1550" dirty="0"/>
          </a:p>
        </p:txBody>
      </p:sp>
      <p:sp>
        <p:nvSpPr>
          <p:cNvPr id="25" name="Shape 23"/>
          <p:cNvSpPr/>
          <p:nvPr/>
        </p:nvSpPr>
        <p:spPr>
          <a:xfrm>
            <a:off x="10561320" y="1280160"/>
            <a:ext cx="868680" cy="219456"/>
          </a:xfrm>
          <a:prstGeom prst="roundRect">
            <a:avLst>
              <a:gd name="adj" fmla="val 16667"/>
            </a:avLst>
          </a:prstGeom>
          <a:solidFill>
            <a:srgbClr val="F4F0E7"/>
          </a:solidFill>
          <a:ln w="12700">
            <a:solidFill>
              <a:srgbClr val="E6E1D8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561320" y="1307592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3883B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Step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8247888" y="1664208"/>
            <a:ext cx="3227832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AI 问卷 5 分钟完成。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根据症状、体质、需求进入不同方案流。</a:t>
            </a:r>
            <a:endParaRPr lang="en-US" sz="1356" dirty="0"/>
          </a:p>
        </p:txBody>
      </p:sp>
      <p:sp>
        <p:nvSpPr>
          <p:cNvPr id="28" name="Shape 26"/>
          <p:cNvSpPr/>
          <p:nvPr/>
        </p:nvSpPr>
        <p:spPr>
          <a:xfrm>
            <a:off x="530352" y="2898648"/>
            <a:ext cx="3557016" cy="1545336"/>
          </a:xfrm>
          <a:prstGeom prst="roundRect">
            <a:avLst>
              <a:gd name="adj" fmla="val 4734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30352" y="2898648"/>
            <a:ext cx="3557016" cy="109728"/>
          </a:xfrm>
          <a:prstGeom prst="rect">
            <a:avLst/>
          </a:prstGeom>
          <a:solidFill>
            <a:srgbClr val="5078A5"/>
          </a:solidFill>
          <a:ln w="12700">
            <a:solidFill>
              <a:srgbClr val="5078A5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4944" y="3063240"/>
            <a:ext cx="2130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4 方案</a:t>
            </a:r>
            <a:endParaRPr lang="en-US" sz="1550" dirty="0"/>
          </a:p>
        </p:txBody>
      </p:sp>
      <p:sp>
        <p:nvSpPr>
          <p:cNvPr id="31" name="Shape 29"/>
          <p:cNvSpPr/>
          <p:nvPr/>
        </p:nvSpPr>
        <p:spPr>
          <a:xfrm>
            <a:off x="3008376" y="3044952"/>
            <a:ext cx="868680" cy="219456"/>
          </a:xfrm>
          <a:prstGeom prst="roundRect">
            <a:avLst>
              <a:gd name="adj" fmla="val 16667"/>
            </a:avLst>
          </a:prstGeom>
          <a:solidFill>
            <a:srgbClr val="F4F0E7"/>
          </a:solidFill>
          <a:ln w="12700">
            <a:solidFill>
              <a:srgbClr val="E6E1D8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008376" y="3072384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078A5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Step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94944" y="3429000"/>
            <a:ext cx="3227832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AI 生成初步方案，必要时交医师审核。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目标：让用户看到清晰路径。</a:t>
            </a:r>
            <a:endParaRPr lang="en-US" sz="1356" dirty="0"/>
          </a:p>
        </p:txBody>
      </p:sp>
      <p:sp>
        <p:nvSpPr>
          <p:cNvPr id="34" name="Shape 32"/>
          <p:cNvSpPr/>
          <p:nvPr/>
        </p:nvSpPr>
        <p:spPr>
          <a:xfrm>
            <a:off x="4306824" y="2898648"/>
            <a:ext cx="3557016" cy="1545336"/>
          </a:xfrm>
          <a:prstGeom prst="roundRect">
            <a:avLst>
              <a:gd name="adj" fmla="val 4734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306824" y="2898648"/>
            <a:ext cx="3557016" cy="109728"/>
          </a:xfrm>
          <a:prstGeom prst="rect">
            <a:avLst/>
          </a:prstGeom>
          <a:solidFill>
            <a:srgbClr val="B65C49"/>
          </a:solidFill>
          <a:ln w="12700">
            <a:solidFill>
              <a:srgbClr val="B65C49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471416" y="3063240"/>
            <a:ext cx="2130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5 下单</a:t>
            </a:r>
            <a:endParaRPr lang="en-US" sz="1550" dirty="0"/>
          </a:p>
        </p:txBody>
      </p:sp>
      <p:sp>
        <p:nvSpPr>
          <p:cNvPr id="37" name="Shape 35"/>
          <p:cNvSpPr/>
          <p:nvPr/>
        </p:nvSpPr>
        <p:spPr>
          <a:xfrm>
            <a:off x="6784848" y="3044952"/>
            <a:ext cx="868680" cy="219456"/>
          </a:xfrm>
          <a:prstGeom prst="roundRect">
            <a:avLst>
              <a:gd name="adj" fmla="val 16667"/>
            </a:avLst>
          </a:prstGeom>
          <a:solidFill>
            <a:srgbClr val="F4F0E7"/>
          </a:solidFill>
          <a:ln w="12700">
            <a:solidFill>
              <a:srgbClr val="E6E1D8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784848" y="3072384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65C49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Step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471416" y="3429000"/>
            <a:ext cx="3227832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微信支付 / 支付宝。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目标：降低支付摩擦和退款风险。</a:t>
            </a:r>
            <a:endParaRPr lang="en-US" sz="1356" dirty="0"/>
          </a:p>
        </p:txBody>
      </p:sp>
      <p:sp>
        <p:nvSpPr>
          <p:cNvPr id="40" name="Shape 38"/>
          <p:cNvSpPr/>
          <p:nvPr/>
        </p:nvSpPr>
        <p:spPr>
          <a:xfrm>
            <a:off x="8083296" y="2898648"/>
            <a:ext cx="3557016" cy="1545336"/>
          </a:xfrm>
          <a:prstGeom prst="roundRect">
            <a:avLst>
              <a:gd name="adj" fmla="val 4734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8083296" y="2898648"/>
            <a:ext cx="3557016" cy="109728"/>
          </a:xfrm>
          <a:prstGeom prst="rect">
            <a:avLst/>
          </a:prstGeom>
          <a:solidFill>
            <a:srgbClr val="8DB4A0"/>
          </a:solidFill>
          <a:ln w="12700">
            <a:solidFill>
              <a:srgbClr val="8DB4A0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247888" y="3063240"/>
            <a:ext cx="2130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6 履约</a:t>
            </a:r>
            <a:endParaRPr lang="en-US" sz="1550" dirty="0"/>
          </a:p>
        </p:txBody>
      </p:sp>
      <p:sp>
        <p:nvSpPr>
          <p:cNvPr id="43" name="Shape 41"/>
          <p:cNvSpPr/>
          <p:nvPr/>
        </p:nvSpPr>
        <p:spPr>
          <a:xfrm>
            <a:off x="10561320" y="3044952"/>
            <a:ext cx="868680" cy="219456"/>
          </a:xfrm>
          <a:prstGeom prst="roundRect">
            <a:avLst>
              <a:gd name="adj" fmla="val 16667"/>
            </a:avLst>
          </a:prstGeom>
          <a:solidFill>
            <a:srgbClr val="F4F0E7"/>
          </a:solidFill>
          <a:ln w="12700">
            <a:solidFill>
              <a:srgbClr val="E6E1D8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561320" y="3072384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DB4A0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Step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8247888" y="3429000"/>
            <a:ext cx="3227832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处方类走医院和药房；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药食同源/保健品走工厂或仓库。</a:t>
            </a:r>
            <a:endParaRPr lang="en-US" sz="1356" dirty="0"/>
          </a:p>
        </p:txBody>
      </p:sp>
      <p:sp>
        <p:nvSpPr>
          <p:cNvPr id="46" name="Shape 44"/>
          <p:cNvSpPr/>
          <p:nvPr/>
        </p:nvSpPr>
        <p:spPr>
          <a:xfrm>
            <a:off x="530352" y="4663440"/>
            <a:ext cx="3557016" cy="1545336"/>
          </a:xfrm>
          <a:prstGeom prst="roundRect">
            <a:avLst>
              <a:gd name="adj" fmla="val 4734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530352" y="4663440"/>
            <a:ext cx="3557016" cy="109728"/>
          </a:xfrm>
          <a:prstGeom prst="rect">
            <a:avLst/>
          </a:prstGeom>
          <a:solidFill>
            <a:srgbClr val="2C6E68"/>
          </a:solidFill>
          <a:ln w="12700">
            <a:solidFill>
              <a:srgbClr val="2C6E68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94944" y="4828032"/>
            <a:ext cx="2130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7 随访</a:t>
            </a:r>
            <a:endParaRPr lang="en-US" sz="1550" dirty="0"/>
          </a:p>
        </p:txBody>
      </p:sp>
      <p:sp>
        <p:nvSpPr>
          <p:cNvPr id="49" name="Shape 47"/>
          <p:cNvSpPr/>
          <p:nvPr/>
        </p:nvSpPr>
        <p:spPr>
          <a:xfrm>
            <a:off x="3008376" y="4809744"/>
            <a:ext cx="868680" cy="219456"/>
          </a:xfrm>
          <a:prstGeom prst="roundRect">
            <a:avLst>
              <a:gd name="adj" fmla="val 16667"/>
            </a:avLst>
          </a:prstGeom>
          <a:solidFill>
            <a:srgbClr val="F4F0E7"/>
          </a:solidFill>
          <a:ln w="12700">
            <a:solidFill>
              <a:srgbClr val="E6E1D8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008376" y="4837176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C6E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Step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694944" y="5193792"/>
            <a:ext cx="3227832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企微顾问 1 对 1 跟踪。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配合 AI 每周打卡和效果复盘。</a:t>
            </a:r>
            <a:endParaRPr lang="en-US" sz="1356" dirty="0"/>
          </a:p>
        </p:txBody>
      </p:sp>
      <p:sp>
        <p:nvSpPr>
          <p:cNvPr id="52" name="Shape 50"/>
          <p:cNvSpPr/>
          <p:nvPr/>
        </p:nvSpPr>
        <p:spPr>
          <a:xfrm>
            <a:off x="4306824" y="4663440"/>
            <a:ext cx="3557016" cy="1545336"/>
          </a:xfrm>
          <a:prstGeom prst="roundRect">
            <a:avLst>
              <a:gd name="adj" fmla="val 4734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4306824" y="4663440"/>
            <a:ext cx="3557016" cy="109728"/>
          </a:xfrm>
          <a:prstGeom prst="rect">
            <a:avLst/>
          </a:prstGeom>
          <a:solidFill>
            <a:srgbClr val="4A8F74"/>
          </a:solidFill>
          <a:ln w="12700">
            <a:solidFill>
              <a:srgbClr val="4A8F74">
                <a:alpha val="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471416" y="4828032"/>
            <a:ext cx="2130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8 复购</a:t>
            </a:r>
            <a:endParaRPr lang="en-US" sz="1550" dirty="0"/>
          </a:p>
        </p:txBody>
      </p:sp>
      <p:sp>
        <p:nvSpPr>
          <p:cNvPr id="55" name="Shape 53"/>
          <p:cNvSpPr/>
          <p:nvPr/>
        </p:nvSpPr>
        <p:spPr>
          <a:xfrm>
            <a:off x="6784848" y="4809744"/>
            <a:ext cx="868680" cy="219456"/>
          </a:xfrm>
          <a:prstGeom prst="roundRect">
            <a:avLst>
              <a:gd name="adj" fmla="val 16667"/>
            </a:avLst>
          </a:prstGeom>
          <a:solidFill>
            <a:srgbClr val="F4F0E7"/>
          </a:solidFill>
          <a:ln w="12700">
            <a:solidFill>
              <a:srgbClr val="E6E1D8">
                <a:alpha val="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784848" y="4837176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A8F74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Step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4471416" y="5193792"/>
            <a:ext cx="3227832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Day 21 自动提醒。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一键续费和自动发货，降低决策中断。</a:t>
            </a:r>
            <a:endParaRPr lang="en-US" sz="1356" dirty="0"/>
          </a:p>
        </p:txBody>
      </p:sp>
      <p:sp>
        <p:nvSpPr>
          <p:cNvPr id="58" name="Shape 56"/>
          <p:cNvSpPr/>
          <p:nvPr/>
        </p:nvSpPr>
        <p:spPr>
          <a:xfrm>
            <a:off x="8083296" y="4663440"/>
            <a:ext cx="3557016" cy="1545336"/>
          </a:xfrm>
          <a:prstGeom prst="roundRect">
            <a:avLst>
              <a:gd name="adj" fmla="val 4734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8083296" y="4663440"/>
            <a:ext cx="3557016" cy="109728"/>
          </a:xfrm>
          <a:prstGeom prst="rect">
            <a:avLst/>
          </a:prstGeom>
          <a:solidFill>
            <a:srgbClr val="B3883B"/>
          </a:solidFill>
          <a:ln w="12700">
            <a:solidFill>
              <a:srgbClr val="B3883B">
                <a:alpha val="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247888" y="4828032"/>
            <a:ext cx="2130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9 裂变</a:t>
            </a:r>
            <a:endParaRPr lang="en-US" sz="1550" dirty="0"/>
          </a:p>
        </p:txBody>
      </p:sp>
      <p:sp>
        <p:nvSpPr>
          <p:cNvPr id="61" name="Shape 59"/>
          <p:cNvSpPr/>
          <p:nvPr/>
        </p:nvSpPr>
        <p:spPr>
          <a:xfrm>
            <a:off x="10561320" y="4809744"/>
            <a:ext cx="868680" cy="219456"/>
          </a:xfrm>
          <a:prstGeom prst="roundRect">
            <a:avLst>
              <a:gd name="adj" fmla="val 16667"/>
            </a:avLst>
          </a:prstGeom>
          <a:solidFill>
            <a:srgbClr val="F4F0E7"/>
          </a:solidFill>
          <a:ln w="12700">
            <a:solidFill>
              <a:srgbClr val="E6E1D8">
                <a:alpha val="0"/>
              </a:srgbClr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0561320" y="4837176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3883B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Step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8247888" y="5193792"/>
            <a:ext cx="3227832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1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邀请好友、优惠券、社群活动、用户故事。</a:t>
            </a:r>
            <a:endParaRPr lang="en-US" sz="1316" dirty="0"/>
          </a:p>
          <a:p>
            <a:pPr indent="0" marL="0">
              <a:buNone/>
            </a:pPr>
            <a:r>
              <a:rPr lang="en-US" sz="131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让满意用户变流量入口。</a:t>
            </a:r>
            <a:endParaRPr lang="en-US" sz="1316" dirty="0"/>
          </a:p>
        </p:txBody>
      </p:sp>
    </p:spTree>
  </p:cSld>
  <p:clrMapOvr>
    <a:masterClrMapping/>
  </p:clrMapOvr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C6E68"/>
          </a:solidFill>
          <a:ln w="12700">
            <a:solidFill>
              <a:srgbClr val="2C6E6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5603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AI 评估与分诊引擎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694944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757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评估不是问卷装饰，而是成交前的第一道风控和推荐系统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9893808" y="256032"/>
            <a:ext cx="1417320" cy="329184"/>
          </a:xfrm>
          <a:prstGeom prst="roundRect">
            <a:avLst>
              <a:gd name="adj" fmla="val 22222"/>
            </a:avLst>
          </a:prstGeom>
          <a:solidFill>
            <a:srgbClr val="DCEFE8"/>
          </a:solidFill>
          <a:ln w="12700">
            <a:solidFill>
              <a:srgbClr val="E6E1D8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93808" y="30175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6E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运营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30352" y="6473952"/>
            <a:ext cx="11109960" cy="0"/>
          </a:xfrm>
          <a:prstGeom prst="line">
            <a:avLst/>
          </a:prstGeom>
          <a:noFill/>
          <a:ln w="13970">
            <a:solidFill>
              <a:srgbClr val="E6E1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651967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757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内部行动方针版 | 来源：MediSlim-商业方案-v1.0 / MediSlim-OPC运营手册-v1.0 / 仓库业务文档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82528" y="647395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C6E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20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30352" y="1133856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30352" y="1133856"/>
            <a:ext cx="5445252" cy="109728"/>
          </a:xfrm>
          <a:prstGeom prst="rect">
            <a:avLst/>
          </a:prstGeom>
          <a:solidFill>
            <a:srgbClr val="2C6E68"/>
          </a:solidFill>
          <a:ln w="12700">
            <a:solidFill>
              <a:srgbClr val="2C6E6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4944" y="1298448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评估输入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94944" y="1664208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基础信息、核心诉求、既往病史、过敏史、妊娠状态、当前用药、生活习惯。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不同品类补充不同题组。</a:t>
            </a:r>
            <a:endParaRPr lang="en-US" sz="1356" dirty="0"/>
          </a:p>
        </p:txBody>
      </p:sp>
      <p:sp>
        <p:nvSpPr>
          <p:cNvPr id="14" name="Shape 12"/>
          <p:cNvSpPr/>
          <p:nvPr/>
        </p:nvSpPr>
        <p:spPr>
          <a:xfrm>
            <a:off x="6195060" y="1133856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95060" y="1133856"/>
            <a:ext cx="5445252" cy="109728"/>
          </a:xfrm>
          <a:prstGeom prst="rect">
            <a:avLst/>
          </a:prstGeom>
          <a:solidFill>
            <a:srgbClr val="4A8F74"/>
          </a:solidFill>
          <a:ln w="12700">
            <a:solidFill>
              <a:srgbClr val="4A8F74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9652" y="1298448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评估输出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359652" y="1664208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风险等级、适用品类、推荐方案、禁忌提醒、是否需要医师审核。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用户必须看到“为什么推荐”。</a:t>
            </a:r>
            <a:endParaRPr lang="en-US" sz="1356" dirty="0"/>
          </a:p>
        </p:txBody>
      </p:sp>
      <p:sp>
        <p:nvSpPr>
          <p:cNvPr id="18" name="Shape 16"/>
          <p:cNvSpPr/>
          <p:nvPr/>
        </p:nvSpPr>
        <p:spPr>
          <a:xfrm>
            <a:off x="530352" y="3781044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30352" y="3781044"/>
            <a:ext cx="5445252" cy="109728"/>
          </a:xfrm>
          <a:prstGeom prst="rect">
            <a:avLst/>
          </a:prstGeom>
          <a:solidFill>
            <a:srgbClr val="B3883B"/>
          </a:solidFill>
          <a:ln w="12700">
            <a:solidFill>
              <a:srgbClr val="B3883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4944" y="3945636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分诊规则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694944" y="4311396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高风险或处方类自动进入互联网医院链路。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中低风险用户进入药食同源或保健品成交链路。</a:t>
            </a:r>
            <a:endParaRPr lang="en-US" sz="1356" dirty="0"/>
          </a:p>
        </p:txBody>
      </p:sp>
      <p:sp>
        <p:nvSpPr>
          <p:cNvPr id="22" name="Shape 20"/>
          <p:cNvSpPr/>
          <p:nvPr/>
        </p:nvSpPr>
        <p:spPr>
          <a:xfrm>
            <a:off x="6195060" y="3781044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95060" y="3781044"/>
            <a:ext cx="5445252" cy="109728"/>
          </a:xfrm>
          <a:prstGeom prst="rect">
            <a:avLst/>
          </a:prstGeom>
          <a:solidFill>
            <a:srgbClr val="5078A5"/>
          </a:solidFill>
          <a:ln w="12700">
            <a:solidFill>
              <a:srgbClr val="5078A5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59652" y="3945636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经营价值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6359652" y="4311396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把用户从“随便问问”转成“已经理解自己问题的人”。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这一步直接决定支付转化率和投诉率。</a:t>
            </a:r>
            <a:endParaRPr lang="en-US" sz="1356" dirty="0"/>
          </a:p>
        </p:txBody>
      </p:sp>
    </p:spTree>
  </p:cSld>
  <p:clrMapOvr>
    <a:masterClrMapping/>
  </p:clrMapOvr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C6E68"/>
          </a:solidFill>
          <a:ln w="12700">
            <a:solidFill>
              <a:srgbClr val="2C6E6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5603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AI 体质辨识：最重要的中国化能力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694944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757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它不是医学诊断，而是用户教育、推荐和复购的核心桥梁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9893808" y="256032"/>
            <a:ext cx="1417320" cy="329184"/>
          </a:xfrm>
          <a:prstGeom prst="roundRect">
            <a:avLst>
              <a:gd name="adj" fmla="val 22222"/>
            </a:avLst>
          </a:prstGeom>
          <a:solidFill>
            <a:srgbClr val="DCEFE8"/>
          </a:solidFill>
          <a:ln w="12700">
            <a:solidFill>
              <a:srgbClr val="E6E1D8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93808" y="30175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6E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运营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30352" y="6473952"/>
            <a:ext cx="11109960" cy="0"/>
          </a:xfrm>
          <a:prstGeom prst="line">
            <a:avLst/>
          </a:prstGeom>
          <a:noFill/>
          <a:ln w="13970">
            <a:solidFill>
              <a:srgbClr val="E6E1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651967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757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内部行动方针版 | 来源：MediSlim-商业方案-v1.0 / MediSlim-OPC运营手册-v1.0 / 仓库业务文档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82528" y="647395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C6E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21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30352" y="1133856"/>
            <a:ext cx="3557016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30352" y="1133856"/>
            <a:ext cx="3557016" cy="109728"/>
          </a:xfrm>
          <a:prstGeom prst="rect">
            <a:avLst/>
          </a:prstGeom>
          <a:solidFill>
            <a:srgbClr val="2C6E68"/>
          </a:solidFill>
          <a:ln w="12700">
            <a:solidFill>
              <a:srgbClr val="2C6E6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4944" y="1298448"/>
            <a:ext cx="3227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平和质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94944" y="1664208"/>
            <a:ext cx="3227832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通用保健与季节管理。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适合作为组合盒的基础盘。</a:t>
            </a:r>
            <a:endParaRPr lang="en-US" sz="1356" dirty="0"/>
          </a:p>
        </p:txBody>
      </p:sp>
      <p:sp>
        <p:nvSpPr>
          <p:cNvPr id="14" name="Shape 12"/>
          <p:cNvSpPr/>
          <p:nvPr/>
        </p:nvSpPr>
        <p:spPr>
          <a:xfrm>
            <a:off x="4306824" y="1133856"/>
            <a:ext cx="3557016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306824" y="1133856"/>
            <a:ext cx="3557016" cy="109728"/>
          </a:xfrm>
          <a:prstGeom prst="rect">
            <a:avLst/>
          </a:prstGeom>
          <a:solidFill>
            <a:srgbClr val="4A8F74"/>
          </a:solidFill>
          <a:ln w="12700">
            <a:solidFill>
              <a:srgbClr val="4A8F74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71416" y="1298448"/>
            <a:ext cx="3227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气虚质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4471416" y="1664208"/>
            <a:ext cx="3227832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黄芪+党参+山药。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适合乏力、易疲劳、易感冒人群。</a:t>
            </a:r>
            <a:endParaRPr lang="en-US" sz="1356" dirty="0"/>
          </a:p>
        </p:txBody>
      </p:sp>
      <p:sp>
        <p:nvSpPr>
          <p:cNvPr id="18" name="Shape 16"/>
          <p:cNvSpPr/>
          <p:nvPr/>
        </p:nvSpPr>
        <p:spPr>
          <a:xfrm>
            <a:off x="8083296" y="1133856"/>
            <a:ext cx="3557016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083296" y="1133856"/>
            <a:ext cx="3557016" cy="109728"/>
          </a:xfrm>
          <a:prstGeom prst="rect">
            <a:avLst/>
          </a:prstGeom>
          <a:solidFill>
            <a:srgbClr val="B3883B"/>
          </a:solidFill>
          <a:ln w="12700">
            <a:solidFill>
              <a:srgbClr val="B3883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47888" y="1298448"/>
            <a:ext cx="3227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阳虚质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8247888" y="1664208"/>
            <a:ext cx="3227832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肉桂+干姜+韭菜子。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适合怕冷、代谢低、畏寒人群。</a:t>
            </a:r>
            <a:endParaRPr lang="en-US" sz="1356" dirty="0"/>
          </a:p>
        </p:txBody>
      </p:sp>
      <p:sp>
        <p:nvSpPr>
          <p:cNvPr id="22" name="Shape 20"/>
          <p:cNvSpPr/>
          <p:nvPr/>
        </p:nvSpPr>
        <p:spPr>
          <a:xfrm>
            <a:off x="530352" y="3781044"/>
            <a:ext cx="3557016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30352" y="3781044"/>
            <a:ext cx="3557016" cy="109728"/>
          </a:xfrm>
          <a:prstGeom prst="rect">
            <a:avLst/>
          </a:prstGeom>
          <a:solidFill>
            <a:srgbClr val="5078A5"/>
          </a:solidFill>
          <a:ln w="12700">
            <a:solidFill>
              <a:srgbClr val="5078A5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4944" y="3945636"/>
            <a:ext cx="3227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阴虚质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694944" y="4311396"/>
            <a:ext cx="3227832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百合+枸杞+石斛。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适合熬夜、口干、烦热与长期耗损人群。</a:t>
            </a:r>
            <a:endParaRPr lang="en-US" sz="1356" dirty="0"/>
          </a:p>
        </p:txBody>
      </p:sp>
      <p:sp>
        <p:nvSpPr>
          <p:cNvPr id="26" name="Shape 24"/>
          <p:cNvSpPr/>
          <p:nvPr/>
        </p:nvSpPr>
        <p:spPr>
          <a:xfrm>
            <a:off x="4306824" y="3781044"/>
            <a:ext cx="3557016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306824" y="3781044"/>
            <a:ext cx="3557016" cy="109728"/>
          </a:xfrm>
          <a:prstGeom prst="rect">
            <a:avLst/>
          </a:prstGeom>
          <a:solidFill>
            <a:srgbClr val="B65C49"/>
          </a:solidFill>
          <a:ln w="12700">
            <a:solidFill>
              <a:srgbClr val="B65C49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71416" y="3945636"/>
            <a:ext cx="3227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痰湿 / 湿热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4471416" y="4311396"/>
            <a:ext cx="3227832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薏米+茯苓+陈皮 / 菊花+绿豆。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最适合轻体、祛湿与季节推广。</a:t>
            </a:r>
            <a:endParaRPr lang="en-US" sz="1356" dirty="0"/>
          </a:p>
        </p:txBody>
      </p:sp>
      <p:sp>
        <p:nvSpPr>
          <p:cNvPr id="30" name="Shape 28"/>
          <p:cNvSpPr/>
          <p:nvPr/>
        </p:nvSpPr>
        <p:spPr>
          <a:xfrm>
            <a:off x="8083296" y="3781044"/>
            <a:ext cx="3557016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083296" y="3781044"/>
            <a:ext cx="3557016" cy="109728"/>
          </a:xfrm>
          <a:prstGeom prst="rect">
            <a:avLst/>
          </a:prstGeom>
          <a:solidFill>
            <a:srgbClr val="8DB4A0"/>
          </a:solidFill>
          <a:ln w="12700">
            <a:solidFill>
              <a:srgbClr val="8DB4A0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47888" y="3945636"/>
            <a:ext cx="3227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血瘀 / 气郁 / 特禀</a:t>
            </a: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8247888" y="4311396"/>
            <a:ext cx="3227832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活血、疏肝、过敏调理方向。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适合作为长期管理与内容科普主题。</a:t>
            </a:r>
            <a:endParaRPr lang="en-US" sz="1356" dirty="0"/>
          </a:p>
        </p:txBody>
      </p:sp>
    </p:spTree>
  </p:cSld>
  <p:clrMapOvr>
    <a:masterClrMapping/>
  </p:clrMapOvr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C6E68"/>
          </a:solidFill>
          <a:ln w="12700">
            <a:solidFill>
              <a:srgbClr val="2C6E6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5603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方案生成与医师审核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694944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757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用户感知的是“专业方案”，平台管理的是“风险与责任边界”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9893808" y="256032"/>
            <a:ext cx="1417320" cy="329184"/>
          </a:xfrm>
          <a:prstGeom prst="roundRect">
            <a:avLst>
              <a:gd name="adj" fmla="val 22222"/>
            </a:avLst>
          </a:prstGeom>
          <a:solidFill>
            <a:srgbClr val="DCEFE8"/>
          </a:solidFill>
          <a:ln w="12700">
            <a:solidFill>
              <a:srgbClr val="E6E1D8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93808" y="30175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6E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运营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30352" y="6473952"/>
            <a:ext cx="11109960" cy="0"/>
          </a:xfrm>
          <a:prstGeom prst="line">
            <a:avLst/>
          </a:prstGeom>
          <a:noFill/>
          <a:ln w="13970">
            <a:solidFill>
              <a:srgbClr val="E6E1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651967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757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内部行动方针版 | 来源：MediSlim-商业方案-v1.0 / MediSlim-OPC运营手册-v1.0 / 仓库业务文档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82528" y="647395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C6E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22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30352" y="1133856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30352" y="1133856"/>
            <a:ext cx="5445252" cy="109728"/>
          </a:xfrm>
          <a:prstGeom prst="rect">
            <a:avLst/>
          </a:prstGeom>
          <a:solidFill>
            <a:srgbClr val="2C6E68"/>
          </a:solidFill>
          <a:ln w="12700">
            <a:solidFill>
              <a:srgbClr val="2C6E6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4944" y="1298448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方案结构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94944" y="1664208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核心问题判断、目标周期、产品建议、服用说明、禁忌提醒、随访节点、复购建议。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每份方案都要可解释。</a:t>
            </a:r>
            <a:endParaRPr lang="en-US" sz="1356" dirty="0"/>
          </a:p>
        </p:txBody>
      </p:sp>
      <p:sp>
        <p:nvSpPr>
          <p:cNvPr id="14" name="Shape 12"/>
          <p:cNvSpPr/>
          <p:nvPr/>
        </p:nvSpPr>
        <p:spPr>
          <a:xfrm>
            <a:off x="6195060" y="1133856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95060" y="1133856"/>
            <a:ext cx="5445252" cy="109728"/>
          </a:xfrm>
          <a:prstGeom prst="rect">
            <a:avLst/>
          </a:prstGeom>
          <a:solidFill>
            <a:srgbClr val="4A8F74"/>
          </a:solidFill>
          <a:ln w="12700">
            <a:solidFill>
              <a:srgbClr val="4A8F74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9652" y="1298448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何时必须医师审核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359652" y="1664208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处方需求、合并基础疾病、用药冲突、孕哺期、过敏高风险、症状超出轻管理范围。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不能模糊处理。</a:t>
            </a:r>
            <a:endParaRPr lang="en-US" sz="1356" dirty="0"/>
          </a:p>
        </p:txBody>
      </p:sp>
      <p:sp>
        <p:nvSpPr>
          <p:cNvPr id="18" name="Shape 16"/>
          <p:cNvSpPr/>
          <p:nvPr/>
        </p:nvSpPr>
        <p:spPr>
          <a:xfrm>
            <a:off x="530352" y="3781044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30352" y="3781044"/>
            <a:ext cx="5445252" cy="109728"/>
          </a:xfrm>
          <a:prstGeom prst="rect">
            <a:avLst/>
          </a:prstGeom>
          <a:solidFill>
            <a:srgbClr val="B3883B"/>
          </a:solidFill>
          <a:ln w="12700">
            <a:solidFill>
              <a:srgbClr val="B3883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4944" y="3945636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对用户的表达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694944" y="4311396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公开讲“方案建议”，私域讲“评估结果”，处方类明确说明“需医师进一步审核”。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避免越界承诺。</a:t>
            </a:r>
            <a:endParaRPr lang="en-US" sz="1356" dirty="0"/>
          </a:p>
        </p:txBody>
      </p:sp>
      <p:sp>
        <p:nvSpPr>
          <p:cNvPr id="22" name="Shape 20"/>
          <p:cNvSpPr/>
          <p:nvPr/>
        </p:nvSpPr>
        <p:spPr>
          <a:xfrm>
            <a:off x="6195060" y="3781044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95060" y="3781044"/>
            <a:ext cx="5445252" cy="109728"/>
          </a:xfrm>
          <a:prstGeom prst="rect">
            <a:avLst/>
          </a:prstGeom>
          <a:solidFill>
            <a:srgbClr val="5078A5"/>
          </a:solidFill>
          <a:ln w="12700">
            <a:solidFill>
              <a:srgbClr val="5078A5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59652" y="3945636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记录与追溯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6359652" y="4311396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方案版本、审核结果、沟通记录、支付时间、物流信息都要可回溯。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这是后续投诉和复盘的基础。</a:t>
            </a:r>
            <a:endParaRPr lang="en-US" sz="1356" dirty="0"/>
          </a:p>
        </p:txBody>
      </p:sp>
    </p:spTree>
  </p:cSld>
  <p:clrMapOvr>
    <a:masterClrMapping/>
  </p:clrMapOvr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C6E68"/>
          </a:solidFill>
          <a:ln w="12700">
            <a:solidFill>
              <a:srgbClr val="2C6E6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5603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订单状态机：15 个状态如何自动流转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694944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757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状态机不是技术细节，而是运营效率和风险控制的骨架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9893808" y="256032"/>
            <a:ext cx="1417320" cy="329184"/>
          </a:xfrm>
          <a:prstGeom prst="roundRect">
            <a:avLst>
              <a:gd name="adj" fmla="val 22222"/>
            </a:avLst>
          </a:prstGeom>
          <a:solidFill>
            <a:srgbClr val="DCEFE8"/>
          </a:solidFill>
          <a:ln w="12700">
            <a:solidFill>
              <a:srgbClr val="E6E1D8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93808" y="30175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6E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运营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30352" y="6473952"/>
            <a:ext cx="11109960" cy="0"/>
          </a:xfrm>
          <a:prstGeom prst="line">
            <a:avLst/>
          </a:prstGeom>
          <a:noFill/>
          <a:ln w="13970">
            <a:solidFill>
              <a:srgbClr val="E6E1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651967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757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内部行动方针版 | 来源：MediSlim-商业方案-v1.0 / MediSlim-OPC运营手册-v1.0 / 仓库业务文档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82528" y="647395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C6E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23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30352" y="1133856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30352" y="1133856"/>
            <a:ext cx="5445252" cy="109728"/>
          </a:xfrm>
          <a:prstGeom prst="rect">
            <a:avLst/>
          </a:prstGeom>
          <a:solidFill>
            <a:srgbClr val="2C6E68"/>
          </a:solidFill>
          <a:ln w="12700">
            <a:solidFill>
              <a:srgbClr val="2C6E6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4944" y="1298448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完整状态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94944" y="1664208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25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new_lead → contacted → assessed → paid → ih_submitted → doctor_review → prescribed → pharmacy_order → dispensing → shipped → delivered → in_use → refill_reminder → refill_paid → cancelled</a:t>
            </a:r>
            <a:endParaRPr lang="en-US" sz="1225" dirty="0"/>
          </a:p>
        </p:txBody>
      </p:sp>
      <p:sp>
        <p:nvSpPr>
          <p:cNvPr id="14" name="Shape 12"/>
          <p:cNvSpPr/>
          <p:nvPr/>
        </p:nvSpPr>
        <p:spPr>
          <a:xfrm>
            <a:off x="6195060" y="1133856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95060" y="1133856"/>
            <a:ext cx="5445252" cy="109728"/>
          </a:xfrm>
          <a:prstGeom prst="rect">
            <a:avLst/>
          </a:prstGeom>
          <a:solidFill>
            <a:srgbClr val="4A8F74"/>
          </a:solidFill>
          <a:ln w="12700">
            <a:solidFill>
              <a:srgbClr val="4A8F74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9652" y="1298448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超时处理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359652" y="1664208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30 分钟未联系自动预警。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24 小时未审核自动催医师。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48 小时未发货自动升级到人工处理。</a:t>
            </a:r>
            <a:endParaRPr lang="en-US" sz="1356" dirty="0"/>
          </a:p>
        </p:txBody>
      </p:sp>
      <p:sp>
        <p:nvSpPr>
          <p:cNvPr id="18" name="Shape 16"/>
          <p:cNvSpPr/>
          <p:nvPr/>
        </p:nvSpPr>
        <p:spPr>
          <a:xfrm>
            <a:off x="530352" y="3781044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30352" y="3781044"/>
            <a:ext cx="5445252" cy="109728"/>
          </a:xfrm>
          <a:prstGeom prst="rect">
            <a:avLst/>
          </a:prstGeom>
          <a:solidFill>
            <a:srgbClr val="B3883B"/>
          </a:solidFill>
          <a:ln w="12700">
            <a:solidFill>
              <a:srgbClr val="B3883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4944" y="3945636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自动动作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694944" y="4311396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状态变化同步消息、顾问待办、用户提醒、物流回写、复购触发。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尽量不依赖人记忆推进流程。</a:t>
            </a:r>
            <a:endParaRPr lang="en-US" sz="1356" dirty="0"/>
          </a:p>
        </p:txBody>
      </p:sp>
      <p:sp>
        <p:nvSpPr>
          <p:cNvPr id="22" name="Shape 20"/>
          <p:cNvSpPr/>
          <p:nvPr/>
        </p:nvSpPr>
        <p:spPr>
          <a:xfrm>
            <a:off x="6195060" y="3781044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95060" y="3781044"/>
            <a:ext cx="5445252" cy="109728"/>
          </a:xfrm>
          <a:prstGeom prst="rect">
            <a:avLst/>
          </a:prstGeom>
          <a:solidFill>
            <a:srgbClr val="5078A5"/>
          </a:solidFill>
          <a:ln w="12700">
            <a:solidFill>
              <a:srgbClr val="5078A5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59652" y="3945636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经营意义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6359652" y="4311396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任何卡单、漏单、退款、投诉，最后都能回到状态机定位责任点。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这就是一人公司能放大的前提。</a:t>
            </a:r>
            <a:endParaRPr lang="en-US" sz="1356" dirty="0"/>
          </a:p>
        </p:txBody>
      </p:sp>
    </p:spTree>
  </p:cSld>
  <p:clrMapOvr>
    <a:masterClrMapping/>
  </p:clrMapOvr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C6E68"/>
          </a:solidFill>
          <a:ln w="12700">
            <a:solidFill>
              <a:srgbClr val="2C6E6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5603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履约网络与服务承诺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694944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757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用户愿不愿意复购，很大程度取决于交付体验是否稳定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9893808" y="256032"/>
            <a:ext cx="1417320" cy="329184"/>
          </a:xfrm>
          <a:prstGeom prst="roundRect">
            <a:avLst>
              <a:gd name="adj" fmla="val 22222"/>
            </a:avLst>
          </a:prstGeom>
          <a:solidFill>
            <a:srgbClr val="DCEFE8"/>
          </a:solidFill>
          <a:ln w="12700">
            <a:solidFill>
              <a:srgbClr val="E6E1D8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93808" y="30175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6E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运营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30352" y="6473952"/>
            <a:ext cx="11109960" cy="0"/>
          </a:xfrm>
          <a:prstGeom prst="line">
            <a:avLst/>
          </a:prstGeom>
          <a:noFill/>
          <a:ln w="13970">
            <a:solidFill>
              <a:srgbClr val="E6E1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651967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757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内部行动方针版 | 来源：MediSlim-商业方案-v1.0 / MediSlim-OPC运营手册-v1.0 / 仓库业务文档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82528" y="647395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C6E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24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30352" y="1133856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30352" y="1133856"/>
            <a:ext cx="5445252" cy="109728"/>
          </a:xfrm>
          <a:prstGeom prst="rect">
            <a:avLst/>
          </a:prstGeom>
          <a:solidFill>
            <a:srgbClr val="2C6E68"/>
          </a:solidFill>
          <a:ln w="12700">
            <a:solidFill>
              <a:srgbClr val="2C6E6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4944" y="1298448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合作层分工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94944" y="1664208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互联网医院负责问诊开方；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药房负责配药与药品履约；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工厂/仓库负责药食同源与保健品直发；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顺丰/京东负责末端配送。</a:t>
            </a:r>
            <a:endParaRPr lang="en-US" sz="1356" dirty="0"/>
          </a:p>
        </p:txBody>
      </p:sp>
      <p:sp>
        <p:nvSpPr>
          <p:cNvPr id="14" name="Shape 12"/>
          <p:cNvSpPr/>
          <p:nvPr/>
        </p:nvSpPr>
        <p:spPr>
          <a:xfrm>
            <a:off x="6195060" y="1133856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95060" y="1133856"/>
            <a:ext cx="5445252" cy="109728"/>
          </a:xfrm>
          <a:prstGeom prst="rect">
            <a:avLst/>
          </a:prstGeom>
          <a:solidFill>
            <a:srgbClr val="4A8F74"/>
          </a:solidFill>
          <a:ln w="12700">
            <a:solidFill>
              <a:srgbClr val="4A8F74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9652" y="1298448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建议 SLA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359652" y="1664208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线索 30 分钟内首次联系。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处方审核 24 小时内完成。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非处方订单 24 小时内出库。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用户 48-72 小时内收到货。</a:t>
            </a:r>
            <a:endParaRPr lang="en-US" sz="1356" dirty="0"/>
          </a:p>
        </p:txBody>
      </p:sp>
      <p:sp>
        <p:nvSpPr>
          <p:cNvPr id="18" name="Shape 16"/>
          <p:cNvSpPr/>
          <p:nvPr/>
        </p:nvSpPr>
        <p:spPr>
          <a:xfrm>
            <a:off x="530352" y="3781044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30352" y="3781044"/>
            <a:ext cx="5445252" cy="109728"/>
          </a:xfrm>
          <a:prstGeom prst="rect">
            <a:avLst/>
          </a:prstGeom>
          <a:solidFill>
            <a:srgbClr val="B3883B"/>
          </a:solidFill>
          <a:ln w="12700">
            <a:solidFill>
              <a:srgbClr val="B3883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4944" y="3945636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包装要求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694944" y="4311396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隐私品类使用保密包装。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配送内容、批次、有效期、客服二维码必须完整。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用户收到即知道下一步做什么。</a:t>
            </a:r>
            <a:endParaRPr lang="en-US" sz="1356" dirty="0"/>
          </a:p>
        </p:txBody>
      </p:sp>
      <p:sp>
        <p:nvSpPr>
          <p:cNvPr id="22" name="Shape 20"/>
          <p:cNvSpPr/>
          <p:nvPr/>
        </p:nvSpPr>
        <p:spPr>
          <a:xfrm>
            <a:off x="6195060" y="3781044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95060" y="3781044"/>
            <a:ext cx="5445252" cy="109728"/>
          </a:xfrm>
          <a:prstGeom prst="rect">
            <a:avLst/>
          </a:prstGeom>
          <a:solidFill>
            <a:srgbClr val="5078A5"/>
          </a:solidFill>
          <a:ln w="12700">
            <a:solidFill>
              <a:srgbClr val="5078A5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59652" y="3945636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异常处理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6359652" y="4311396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缺货、晚发、拒收、破损、地址错误必须有标准分流。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不能让用户在客服里重复讲三次问题。</a:t>
            </a:r>
            <a:endParaRPr lang="en-US" sz="1356" dirty="0"/>
          </a:p>
        </p:txBody>
      </p:sp>
    </p:spTree>
  </p:cSld>
  <p:clrMapOvr>
    <a:masterClrMapping/>
  </p:clrMapOvr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C6E68"/>
          </a:solidFill>
          <a:ln w="12700">
            <a:solidFill>
              <a:srgbClr val="2C6E6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5603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随访、复购与裂变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694944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757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真正拉开差距的不是首单成交，而是 28 天内有没有形成第二次动作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9893808" y="256032"/>
            <a:ext cx="1417320" cy="329184"/>
          </a:xfrm>
          <a:prstGeom prst="roundRect">
            <a:avLst>
              <a:gd name="adj" fmla="val 22222"/>
            </a:avLst>
          </a:prstGeom>
          <a:solidFill>
            <a:srgbClr val="DCEFE8"/>
          </a:solidFill>
          <a:ln w="12700">
            <a:solidFill>
              <a:srgbClr val="E6E1D8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93808" y="30175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6E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运营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30352" y="6473952"/>
            <a:ext cx="11109960" cy="0"/>
          </a:xfrm>
          <a:prstGeom prst="line">
            <a:avLst/>
          </a:prstGeom>
          <a:noFill/>
          <a:ln w="13970">
            <a:solidFill>
              <a:srgbClr val="E6E1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651967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757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内部行动方针版 | 来源：MediSlim-商业方案-v1.0 / MediSlim-OPC运营手册-v1.0 / 仓库业务文档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82528" y="647395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C6E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25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30352" y="1133856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30352" y="1133856"/>
            <a:ext cx="5445252" cy="109728"/>
          </a:xfrm>
          <a:prstGeom prst="rect">
            <a:avLst/>
          </a:prstGeom>
          <a:solidFill>
            <a:srgbClr val="2C6E68"/>
          </a:solidFill>
          <a:ln w="12700">
            <a:solidFill>
              <a:srgbClr val="2C6E6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4944" y="1298448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Day 0-7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94944" y="1664208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确认签收、解释用法、建立打卡关系。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目标：降低首次流失和误用风险。</a:t>
            </a:r>
            <a:endParaRPr lang="en-US" sz="1356" dirty="0"/>
          </a:p>
        </p:txBody>
      </p:sp>
      <p:sp>
        <p:nvSpPr>
          <p:cNvPr id="14" name="Shape 12"/>
          <p:cNvSpPr/>
          <p:nvPr/>
        </p:nvSpPr>
        <p:spPr>
          <a:xfrm>
            <a:off x="6195060" y="1133856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95060" y="1133856"/>
            <a:ext cx="5445252" cy="109728"/>
          </a:xfrm>
          <a:prstGeom prst="rect">
            <a:avLst/>
          </a:prstGeom>
          <a:solidFill>
            <a:srgbClr val="4A8F74"/>
          </a:solidFill>
          <a:ln w="12700">
            <a:solidFill>
              <a:srgbClr val="4A8F74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9652" y="1298448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Day 8-20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359652" y="1664208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每周一次效果反馈。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收集体重、睡眠、食欲、精力、排便等关键变量。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目标：建立“有人在盯我”的感知。</a:t>
            </a:r>
            <a:endParaRPr lang="en-US" sz="1356" dirty="0"/>
          </a:p>
        </p:txBody>
      </p:sp>
      <p:sp>
        <p:nvSpPr>
          <p:cNvPr id="18" name="Shape 16"/>
          <p:cNvSpPr/>
          <p:nvPr/>
        </p:nvSpPr>
        <p:spPr>
          <a:xfrm>
            <a:off x="530352" y="3781044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30352" y="3781044"/>
            <a:ext cx="5445252" cy="109728"/>
          </a:xfrm>
          <a:prstGeom prst="rect">
            <a:avLst/>
          </a:prstGeom>
          <a:solidFill>
            <a:srgbClr val="B3883B"/>
          </a:solidFill>
          <a:ln w="12700">
            <a:solidFill>
              <a:srgbClr val="B3883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4944" y="3945636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Day 21-28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694944" y="4311396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系统自动提醒 + 顾问跟进效果 + 给出下周期建议。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处方类进入续方，非处方类进入续购或组合升级。</a:t>
            </a:r>
            <a:endParaRPr lang="en-US" sz="1356" dirty="0"/>
          </a:p>
        </p:txBody>
      </p:sp>
      <p:sp>
        <p:nvSpPr>
          <p:cNvPr id="22" name="Shape 20"/>
          <p:cNvSpPr/>
          <p:nvPr/>
        </p:nvSpPr>
        <p:spPr>
          <a:xfrm>
            <a:off x="6195060" y="3781044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95060" y="3781044"/>
            <a:ext cx="5445252" cy="109728"/>
          </a:xfrm>
          <a:prstGeom prst="rect">
            <a:avLst/>
          </a:prstGeom>
          <a:solidFill>
            <a:srgbClr val="5078A5"/>
          </a:solidFill>
          <a:ln w="12700">
            <a:solidFill>
              <a:srgbClr val="5078A5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59652" y="3945636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裂变梯度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6359652" y="4311396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邀请 1 人送券；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邀请 3 人送月度产品；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邀请 10 人成为健康大使；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邀请 50 人成为区域合伙人。</a:t>
            </a:r>
            <a:endParaRPr lang="en-US" sz="1356" dirty="0"/>
          </a:p>
        </p:txBody>
      </p:sp>
    </p:spTree>
  </p:cSld>
  <p:clrMapOvr>
    <a:masterClrMapping/>
  </p:clrMapOvr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C6E68"/>
          </a:solidFill>
          <a:ln w="12700">
            <a:solidFill>
              <a:srgbClr val="2C6E6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5603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公域增长总策略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694944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757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公域负责信任预热与线索获取，私域负责成交与复购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9893808" y="256032"/>
            <a:ext cx="1417320" cy="329184"/>
          </a:xfrm>
          <a:prstGeom prst="roundRect">
            <a:avLst>
              <a:gd name="adj" fmla="val 22222"/>
            </a:avLst>
          </a:prstGeom>
          <a:solidFill>
            <a:srgbClr val="DCEFE8"/>
          </a:solidFill>
          <a:ln w="12700">
            <a:solidFill>
              <a:srgbClr val="E6E1D8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93808" y="30175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6E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增长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30352" y="6473952"/>
            <a:ext cx="11109960" cy="0"/>
          </a:xfrm>
          <a:prstGeom prst="line">
            <a:avLst/>
          </a:prstGeom>
          <a:noFill/>
          <a:ln w="13970">
            <a:solidFill>
              <a:srgbClr val="E6E1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651967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757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内部行动方针版 | 来源：MediSlim-商业方案-v1.0 / MediSlim-OPC运营手册-v1.0 / 仓库业务文档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82528" y="647395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C6E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26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30352" y="1133856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30352" y="1133856"/>
            <a:ext cx="5445252" cy="109728"/>
          </a:xfrm>
          <a:prstGeom prst="rect">
            <a:avLst/>
          </a:prstGeom>
          <a:solidFill>
            <a:srgbClr val="2C6E68"/>
          </a:solidFill>
          <a:ln w="12700">
            <a:solidFill>
              <a:srgbClr val="2C6E6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4944" y="1298448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内容定位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94944" y="1664208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公开讲健康认知、体质管理、日常调理、营养补充、生活方式。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避免直接讲药品效果和治疗承诺。</a:t>
            </a:r>
            <a:endParaRPr lang="en-US" sz="1356" dirty="0"/>
          </a:p>
        </p:txBody>
      </p:sp>
      <p:sp>
        <p:nvSpPr>
          <p:cNvPr id="14" name="Shape 12"/>
          <p:cNvSpPr/>
          <p:nvPr/>
        </p:nvSpPr>
        <p:spPr>
          <a:xfrm>
            <a:off x="6195060" y="1133856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95060" y="1133856"/>
            <a:ext cx="5445252" cy="109728"/>
          </a:xfrm>
          <a:prstGeom prst="rect">
            <a:avLst/>
          </a:prstGeom>
          <a:solidFill>
            <a:srgbClr val="4A8F74"/>
          </a:solidFill>
          <a:ln w="12700">
            <a:solidFill>
              <a:srgbClr val="4A8F74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9652" y="1298448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预算逻辑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359652" y="1664208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预算优先给可验证 ROI 的小红书、抖音、微信生态。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冷启动阶段宁可内容重于投放，也不盲目烧广告。</a:t>
            </a:r>
            <a:endParaRPr lang="en-US" sz="1356" dirty="0"/>
          </a:p>
        </p:txBody>
      </p:sp>
      <p:sp>
        <p:nvSpPr>
          <p:cNvPr id="18" name="Shape 16"/>
          <p:cNvSpPr/>
          <p:nvPr/>
        </p:nvSpPr>
        <p:spPr>
          <a:xfrm>
            <a:off x="530352" y="3781044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30352" y="3781044"/>
            <a:ext cx="5445252" cy="109728"/>
          </a:xfrm>
          <a:prstGeom prst="rect">
            <a:avLst/>
          </a:prstGeom>
          <a:solidFill>
            <a:srgbClr val="B3883B"/>
          </a:solidFill>
          <a:ln w="12700">
            <a:solidFill>
              <a:srgbClr val="B3883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4944" y="3945636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转化路径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694944" y="4311396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内容吸引兴趣 → 私信/评论引导 → H5 评估 → 企微沉淀 → 顾问成交。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任何一步断开都会导致 CAC 虚高。</a:t>
            </a:r>
            <a:endParaRPr lang="en-US" sz="1356" dirty="0"/>
          </a:p>
        </p:txBody>
      </p:sp>
      <p:sp>
        <p:nvSpPr>
          <p:cNvPr id="22" name="Shape 20"/>
          <p:cNvSpPr/>
          <p:nvPr/>
        </p:nvSpPr>
        <p:spPr>
          <a:xfrm>
            <a:off x="6195060" y="3781044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95060" y="3781044"/>
            <a:ext cx="5445252" cy="109728"/>
          </a:xfrm>
          <a:prstGeom prst="rect">
            <a:avLst/>
          </a:prstGeom>
          <a:solidFill>
            <a:srgbClr val="5078A5"/>
          </a:solidFill>
          <a:ln w="12700">
            <a:solidFill>
              <a:srgbClr val="5078A5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59652" y="3945636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优化方法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6359652" y="4311396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每周只优化 3 件事：点击率、留资率、评估完成率。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先把前端漏斗跑顺，再扩预算。</a:t>
            </a:r>
            <a:endParaRPr lang="en-US" sz="1356" dirty="0"/>
          </a:p>
        </p:txBody>
      </p:sp>
    </p:spTree>
  </p:cSld>
  <p:clrMapOvr>
    <a:masterClrMapping/>
  </p:clrMapOvr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C6E68"/>
          </a:solidFill>
          <a:ln w="12700">
            <a:solidFill>
              <a:srgbClr val="2C6E6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5603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微信生态打法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694944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757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微信是最重要的沉淀场，不只是一个流量入口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9893808" y="256032"/>
            <a:ext cx="1417320" cy="329184"/>
          </a:xfrm>
          <a:prstGeom prst="roundRect">
            <a:avLst>
              <a:gd name="adj" fmla="val 22222"/>
            </a:avLst>
          </a:prstGeom>
          <a:solidFill>
            <a:srgbClr val="DCEFE8"/>
          </a:solidFill>
          <a:ln w="12700">
            <a:solidFill>
              <a:srgbClr val="E6E1D8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93808" y="30175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6E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增长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30352" y="6473952"/>
            <a:ext cx="11109960" cy="0"/>
          </a:xfrm>
          <a:prstGeom prst="line">
            <a:avLst/>
          </a:prstGeom>
          <a:noFill/>
          <a:ln w="13970">
            <a:solidFill>
              <a:srgbClr val="E6E1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651967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757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内部行动方针版 | 来源：MediSlim-商业方案-v1.0 / MediSlim-OPC运营手册-v1.0 / 仓库业务文档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82528" y="647395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C6E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27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30352" y="1133856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30352" y="1133856"/>
            <a:ext cx="5445252" cy="109728"/>
          </a:xfrm>
          <a:prstGeom prst="rect">
            <a:avLst/>
          </a:prstGeom>
          <a:solidFill>
            <a:srgbClr val="2C6E68"/>
          </a:solidFill>
          <a:ln w="12700">
            <a:solidFill>
              <a:srgbClr val="2C6E6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4944" y="1298448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承接结构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94944" y="1664208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公众号做内容与关键词应答。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企微做一对一成交和随访。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H5 做评估和支付。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未来小程序负责更完整的服务体验。</a:t>
            </a:r>
            <a:endParaRPr lang="en-US" sz="1356" dirty="0"/>
          </a:p>
        </p:txBody>
      </p:sp>
      <p:sp>
        <p:nvSpPr>
          <p:cNvPr id="14" name="Shape 12"/>
          <p:cNvSpPr/>
          <p:nvPr/>
        </p:nvSpPr>
        <p:spPr>
          <a:xfrm>
            <a:off x="6195060" y="1133856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95060" y="1133856"/>
            <a:ext cx="5445252" cy="109728"/>
          </a:xfrm>
          <a:prstGeom prst="rect">
            <a:avLst/>
          </a:prstGeom>
          <a:solidFill>
            <a:srgbClr val="4A8F74"/>
          </a:solidFill>
          <a:ln w="12700">
            <a:solidFill>
              <a:srgbClr val="4A8F74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9652" y="1298448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入口设计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359652" y="1664208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所有内容都应有明确 CTA：领评估、领方案、领清单、加顾问、进社群。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不能让阅读结束后没有动作。</a:t>
            </a:r>
            <a:endParaRPr lang="en-US" sz="1356" dirty="0"/>
          </a:p>
        </p:txBody>
      </p:sp>
      <p:sp>
        <p:nvSpPr>
          <p:cNvPr id="18" name="Shape 16"/>
          <p:cNvSpPr/>
          <p:nvPr/>
        </p:nvSpPr>
        <p:spPr>
          <a:xfrm>
            <a:off x="530352" y="3781044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30352" y="3781044"/>
            <a:ext cx="5445252" cy="109728"/>
          </a:xfrm>
          <a:prstGeom prst="rect">
            <a:avLst/>
          </a:prstGeom>
          <a:solidFill>
            <a:srgbClr val="B3883B"/>
          </a:solidFill>
          <a:ln w="12700">
            <a:solidFill>
              <a:srgbClr val="B3883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4944" y="3945636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菜单建议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694944" y="4311396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健康评估、我的订单、咨询顾问三个一级入口足够。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复杂菜单会稀释转化注意力。</a:t>
            </a:r>
            <a:endParaRPr lang="en-US" sz="1356" dirty="0"/>
          </a:p>
        </p:txBody>
      </p:sp>
      <p:sp>
        <p:nvSpPr>
          <p:cNvPr id="22" name="Shape 20"/>
          <p:cNvSpPr/>
          <p:nvPr/>
        </p:nvSpPr>
        <p:spPr>
          <a:xfrm>
            <a:off x="6195060" y="3781044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95060" y="3781044"/>
            <a:ext cx="5445252" cy="109728"/>
          </a:xfrm>
          <a:prstGeom prst="rect">
            <a:avLst/>
          </a:prstGeom>
          <a:solidFill>
            <a:srgbClr val="5078A5"/>
          </a:solidFill>
          <a:ln w="12700">
            <a:solidFill>
              <a:srgbClr val="5078A5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59652" y="3945636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经营角色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6359652" y="4311396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微信是用户资产库，也是复购发动机。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要把渠道行为沉淀到可复用的关系链上，而不是只追单次阅读量。</a:t>
            </a:r>
            <a:endParaRPr lang="en-US" sz="1356" dirty="0"/>
          </a:p>
        </p:txBody>
      </p:sp>
    </p:spTree>
  </p:cSld>
  <p:clrMapOvr>
    <a:masterClrMapping/>
  </p:clrMapOvr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C6E68"/>
          </a:solidFill>
          <a:ln w="12700">
            <a:solidFill>
              <a:srgbClr val="2C6E6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5603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企业微信 / 社群 SOP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694944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757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私域不是“多聊天”，而是用标准化陪伴换高复购率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9893808" y="256032"/>
            <a:ext cx="1417320" cy="329184"/>
          </a:xfrm>
          <a:prstGeom prst="roundRect">
            <a:avLst>
              <a:gd name="adj" fmla="val 22222"/>
            </a:avLst>
          </a:prstGeom>
          <a:solidFill>
            <a:srgbClr val="DCEFE8"/>
          </a:solidFill>
          <a:ln w="12700">
            <a:solidFill>
              <a:srgbClr val="E6E1D8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93808" y="30175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6E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增长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30352" y="6473952"/>
            <a:ext cx="11109960" cy="0"/>
          </a:xfrm>
          <a:prstGeom prst="line">
            <a:avLst/>
          </a:prstGeom>
          <a:noFill/>
          <a:ln w="13970">
            <a:solidFill>
              <a:srgbClr val="E6E1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651967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757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内部行动方针版 | 来源：MediSlim-商业方案-v1.0 / MediSlim-OPC运营手册-v1.0 / 仓库业务文档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82528" y="647395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C6E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28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30352" y="1133856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30352" y="1133856"/>
            <a:ext cx="5445252" cy="109728"/>
          </a:xfrm>
          <a:prstGeom prst="rect">
            <a:avLst/>
          </a:prstGeom>
          <a:solidFill>
            <a:srgbClr val="2C6E68"/>
          </a:solidFill>
          <a:ln w="12700">
            <a:solidFill>
              <a:srgbClr val="2C6E6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4944" y="1298448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顾问一对一节奏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94944" y="1664208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77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Day 0 欢迎与评估解释。</a:t>
            </a:r>
            <a:endParaRPr lang="en-US" sz="1277" dirty="0"/>
          </a:p>
          <a:p>
            <a:pPr indent="0" marL="0">
              <a:buNone/>
            </a:pPr>
            <a:r>
              <a:rPr lang="en-US" sz="1277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Day 1-3 指导使用。</a:t>
            </a:r>
            <a:endParaRPr lang="en-US" sz="1277" dirty="0"/>
          </a:p>
          <a:p>
            <a:pPr indent="0" marL="0">
              <a:buNone/>
            </a:pPr>
            <a:r>
              <a:rPr lang="en-US" sz="1277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Day 7 第一次反馈。</a:t>
            </a:r>
            <a:endParaRPr lang="en-US" sz="1277" dirty="0"/>
          </a:p>
          <a:p>
            <a:pPr indent="0" marL="0">
              <a:buNone/>
            </a:pPr>
            <a:r>
              <a:rPr lang="en-US" sz="1277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Day 14 复盘感受。</a:t>
            </a:r>
            <a:endParaRPr lang="en-US" sz="1277" dirty="0"/>
          </a:p>
          <a:p>
            <a:pPr indent="0" marL="0">
              <a:buNone/>
            </a:pPr>
            <a:r>
              <a:rPr lang="en-US" sz="1277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Day 21 提前铺垫续费。</a:t>
            </a:r>
            <a:endParaRPr lang="en-US" sz="1277" dirty="0"/>
          </a:p>
        </p:txBody>
      </p:sp>
      <p:sp>
        <p:nvSpPr>
          <p:cNvPr id="14" name="Shape 12"/>
          <p:cNvSpPr/>
          <p:nvPr/>
        </p:nvSpPr>
        <p:spPr>
          <a:xfrm>
            <a:off x="6195060" y="1133856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95060" y="1133856"/>
            <a:ext cx="5445252" cy="109728"/>
          </a:xfrm>
          <a:prstGeom prst="rect">
            <a:avLst/>
          </a:prstGeom>
          <a:solidFill>
            <a:srgbClr val="4A8F74"/>
          </a:solidFill>
          <a:ln w="12700">
            <a:solidFill>
              <a:srgbClr val="4A8F74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9652" y="1298448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社群运营动作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359652" y="1664208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每日早报：一个知识点。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每周直播：医师答疑或专题讲解。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每月活动：试用、打卡、晒单、节气主题。</a:t>
            </a:r>
            <a:endParaRPr lang="en-US" sz="1356" dirty="0"/>
          </a:p>
        </p:txBody>
      </p:sp>
      <p:sp>
        <p:nvSpPr>
          <p:cNvPr id="18" name="Shape 16"/>
          <p:cNvSpPr/>
          <p:nvPr/>
        </p:nvSpPr>
        <p:spPr>
          <a:xfrm>
            <a:off x="530352" y="3781044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30352" y="3781044"/>
            <a:ext cx="5445252" cy="109728"/>
          </a:xfrm>
          <a:prstGeom prst="rect">
            <a:avLst/>
          </a:prstGeom>
          <a:solidFill>
            <a:srgbClr val="B3883B"/>
          </a:solidFill>
          <a:ln w="12700">
            <a:solidFill>
              <a:srgbClr val="B3883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4944" y="3945636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群内内容结构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694944" y="4311396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知识 40%，用户故事 20%，活动 20%，产品教育 20%。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比例失衡就会变成纯广告群。</a:t>
            </a:r>
            <a:endParaRPr lang="en-US" sz="1356" dirty="0"/>
          </a:p>
        </p:txBody>
      </p:sp>
      <p:sp>
        <p:nvSpPr>
          <p:cNvPr id="22" name="Shape 20"/>
          <p:cNvSpPr/>
          <p:nvPr/>
        </p:nvSpPr>
        <p:spPr>
          <a:xfrm>
            <a:off x="6195060" y="3781044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95060" y="3781044"/>
            <a:ext cx="5445252" cy="109728"/>
          </a:xfrm>
          <a:prstGeom prst="rect">
            <a:avLst/>
          </a:prstGeom>
          <a:solidFill>
            <a:srgbClr val="5078A5"/>
          </a:solidFill>
          <a:ln w="12700">
            <a:solidFill>
              <a:srgbClr val="5078A5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59652" y="3945636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关键指标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6359652" y="4311396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加粉通过率、首条回复率、7 日留存、复购率、群内活跃率、转介绍率。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不看这些，私域会很快失控。</a:t>
            </a:r>
            <a:endParaRPr lang="en-US" sz="1356" dirty="0"/>
          </a:p>
        </p:txBody>
      </p:sp>
    </p:spTree>
  </p:cSld>
  <p:clrMapOvr>
    <a:masterClrMapping/>
  </p:clrMapOvr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C6E68"/>
          </a:solidFill>
          <a:ln w="12700">
            <a:solidFill>
              <a:srgbClr val="2C6E6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5603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小红书 SOP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694944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757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小红书负责建立需求认知和生活方式场景，不负责做硬转化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9893808" y="256032"/>
            <a:ext cx="1417320" cy="329184"/>
          </a:xfrm>
          <a:prstGeom prst="roundRect">
            <a:avLst>
              <a:gd name="adj" fmla="val 22222"/>
            </a:avLst>
          </a:prstGeom>
          <a:solidFill>
            <a:srgbClr val="DCEFE8"/>
          </a:solidFill>
          <a:ln w="12700">
            <a:solidFill>
              <a:srgbClr val="E6E1D8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93808" y="30175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6E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增长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30352" y="6473952"/>
            <a:ext cx="11109960" cy="0"/>
          </a:xfrm>
          <a:prstGeom prst="line">
            <a:avLst/>
          </a:prstGeom>
          <a:noFill/>
          <a:ln w="13970">
            <a:solidFill>
              <a:srgbClr val="E6E1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651967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757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内部行动方针版 | 来源：MediSlim-商业方案-v1.0 / MediSlim-OPC运营手册-v1.0 / 仓库业务文档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82528" y="647395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C6E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29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30352" y="1133856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30352" y="1133856"/>
            <a:ext cx="5445252" cy="109728"/>
          </a:xfrm>
          <a:prstGeom prst="rect">
            <a:avLst/>
          </a:prstGeom>
          <a:solidFill>
            <a:srgbClr val="2C6E68"/>
          </a:solidFill>
          <a:ln w="12700">
            <a:solidFill>
              <a:srgbClr val="2C6E6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4944" y="1298448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账号矩阵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94944" y="1664208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1 个官方号 + 3 个人设号（减重 / 养生 / 医生科普）+ 10 个素人号。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矩阵的目的是覆盖多种表达方式。</a:t>
            </a:r>
            <a:endParaRPr lang="en-US" sz="1356" dirty="0"/>
          </a:p>
        </p:txBody>
      </p:sp>
      <p:sp>
        <p:nvSpPr>
          <p:cNvPr id="14" name="Shape 12"/>
          <p:cNvSpPr/>
          <p:nvPr/>
        </p:nvSpPr>
        <p:spPr>
          <a:xfrm>
            <a:off x="6195060" y="1133856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95060" y="1133856"/>
            <a:ext cx="5445252" cy="109728"/>
          </a:xfrm>
          <a:prstGeom prst="rect">
            <a:avLst/>
          </a:prstGeom>
          <a:solidFill>
            <a:srgbClr val="4A8F74"/>
          </a:solidFill>
          <a:ln w="12700">
            <a:solidFill>
              <a:srgbClr val="4A8F74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9652" y="1298448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内容节奏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359652" y="1664208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早 8 点养生知识；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中 12 点案例或场景产品；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晚 8 点互动科普。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维持固定节奏比追爆款更重要。</a:t>
            </a:r>
            <a:endParaRPr lang="en-US" sz="1356" dirty="0"/>
          </a:p>
        </p:txBody>
      </p:sp>
      <p:sp>
        <p:nvSpPr>
          <p:cNvPr id="18" name="Shape 16"/>
          <p:cNvSpPr/>
          <p:nvPr/>
        </p:nvSpPr>
        <p:spPr>
          <a:xfrm>
            <a:off x="530352" y="3781044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30352" y="3781044"/>
            <a:ext cx="5445252" cy="109728"/>
          </a:xfrm>
          <a:prstGeom prst="rect">
            <a:avLst/>
          </a:prstGeom>
          <a:solidFill>
            <a:srgbClr val="B3883B"/>
          </a:solidFill>
          <a:ln w="12700">
            <a:solidFill>
              <a:srgbClr val="B3883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4944" y="3945636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爆文公式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694944" y="4311396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标题 = 数字 + 痛点 + 方案。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封面 = 对比图、成分图、节气图。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正文 = 故事 + 干货 + CTA。</a:t>
            </a:r>
            <a:endParaRPr lang="en-US" sz="1356" dirty="0"/>
          </a:p>
        </p:txBody>
      </p:sp>
      <p:sp>
        <p:nvSpPr>
          <p:cNvPr id="22" name="Shape 20"/>
          <p:cNvSpPr/>
          <p:nvPr/>
        </p:nvSpPr>
        <p:spPr>
          <a:xfrm>
            <a:off x="6195060" y="3781044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95060" y="3781044"/>
            <a:ext cx="5445252" cy="109728"/>
          </a:xfrm>
          <a:prstGeom prst="rect">
            <a:avLst/>
          </a:prstGeom>
          <a:solidFill>
            <a:srgbClr val="5078A5"/>
          </a:solidFill>
          <a:ln w="12700">
            <a:solidFill>
              <a:srgbClr val="5078A5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59652" y="3945636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转化动作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6359652" y="4311396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评论区引导“测一测”“领清单”。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私信引导到企微或 H5。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所有话术都要避开处方药表达。</a:t>
            </a:r>
            <a:endParaRPr lang="en-US" sz="1356" dirty="0"/>
          </a:p>
        </p:txBody>
      </p:sp>
    </p:spTree>
  </p:cSld>
  <p:clrMapOvr>
    <a:masterClrMapping/>
  </p:clrMapOvr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C6E68"/>
          </a:solidFill>
          <a:ln w="12700">
            <a:solidFill>
              <a:srgbClr val="2C6E6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5603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抖音 SOP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694944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757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抖音适合建立广谱认知与短周期放量，但要控制内容合规风险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9893808" y="256032"/>
            <a:ext cx="1417320" cy="329184"/>
          </a:xfrm>
          <a:prstGeom prst="roundRect">
            <a:avLst>
              <a:gd name="adj" fmla="val 22222"/>
            </a:avLst>
          </a:prstGeom>
          <a:solidFill>
            <a:srgbClr val="DCEFE8"/>
          </a:solidFill>
          <a:ln w="12700">
            <a:solidFill>
              <a:srgbClr val="E6E1D8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93808" y="30175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6E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增长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30352" y="6473952"/>
            <a:ext cx="11109960" cy="0"/>
          </a:xfrm>
          <a:prstGeom prst="line">
            <a:avLst/>
          </a:prstGeom>
          <a:noFill/>
          <a:ln w="13970">
            <a:solidFill>
              <a:srgbClr val="E6E1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651967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757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内部行动方针版 | 来源：MediSlim-商业方案-v1.0 / MediSlim-OPC运营手册-v1.0 / 仓库业务文档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82528" y="647395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C6E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30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30352" y="1133856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30352" y="1133856"/>
            <a:ext cx="5445252" cy="109728"/>
          </a:xfrm>
          <a:prstGeom prst="rect">
            <a:avLst/>
          </a:prstGeom>
          <a:solidFill>
            <a:srgbClr val="2C6E68"/>
          </a:solidFill>
          <a:ln w="12700">
            <a:solidFill>
              <a:srgbClr val="2C6E6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4944" y="1298448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账号配置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94944" y="1664208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1 个官方号 + 1 个达人/人设号。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官方号负责可信背书，人设号负责钩子与传播。</a:t>
            </a:r>
            <a:endParaRPr lang="en-US" sz="1356" dirty="0"/>
          </a:p>
        </p:txBody>
      </p:sp>
      <p:sp>
        <p:nvSpPr>
          <p:cNvPr id="14" name="Shape 12"/>
          <p:cNvSpPr/>
          <p:nvPr/>
        </p:nvSpPr>
        <p:spPr>
          <a:xfrm>
            <a:off x="6195060" y="1133856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95060" y="1133856"/>
            <a:ext cx="5445252" cy="109728"/>
          </a:xfrm>
          <a:prstGeom prst="rect">
            <a:avLst/>
          </a:prstGeom>
          <a:solidFill>
            <a:srgbClr val="4A8F74"/>
          </a:solidFill>
          <a:ln w="12700">
            <a:solidFill>
              <a:srgbClr val="4A8F74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9652" y="1298448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视频公式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359652" y="1664208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前 3 秒钩子。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中间痛点 + 方案 + 数据。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结尾 CTA：评论区扣 1、测评链接、进群领清单。</a:t>
            </a:r>
            <a:endParaRPr lang="en-US" sz="1356" dirty="0"/>
          </a:p>
        </p:txBody>
      </p:sp>
      <p:sp>
        <p:nvSpPr>
          <p:cNvPr id="18" name="Shape 16"/>
          <p:cNvSpPr/>
          <p:nvPr/>
        </p:nvSpPr>
        <p:spPr>
          <a:xfrm>
            <a:off x="530352" y="3781044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30352" y="3781044"/>
            <a:ext cx="5445252" cy="109728"/>
          </a:xfrm>
          <a:prstGeom prst="rect">
            <a:avLst/>
          </a:prstGeom>
          <a:solidFill>
            <a:srgbClr val="B3883B"/>
          </a:solidFill>
          <a:ln w="12700">
            <a:solidFill>
              <a:srgbClr val="B3883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4944" y="3945636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直播策略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694944" y="4311396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先做轻直播：答疑、讲节气、讲产品组合。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不急于做硬卖货直播。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先验证互动，再追求 GMV。</a:t>
            </a:r>
            <a:endParaRPr lang="en-US" sz="1356" dirty="0"/>
          </a:p>
        </p:txBody>
      </p:sp>
      <p:sp>
        <p:nvSpPr>
          <p:cNvPr id="22" name="Shape 20"/>
          <p:cNvSpPr/>
          <p:nvPr/>
        </p:nvSpPr>
        <p:spPr>
          <a:xfrm>
            <a:off x="6195060" y="3781044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95060" y="3781044"/>
            <a:ext cx="5445252" cy="109728"/>
          </a:xfrm>
          <a:prstGeom prst="rect">
            <a:avLst/>
          </a:prstGeom>
          <a:solidFill>
            <a:srgbClr val="5078A5"/>
          </a:solidFill>
          <a:ln w="12700">
            <a:solidFill>
              <a:srgbClr val="5078A5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59652" y="3945636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风险控制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6359652" y="4311396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短视频不要直接展示处方药、注射器、前后对比治疗承诺。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全部改写成健康管理与生活方式表达。</a:t>
            </a:r>
            <a:endParaRPr lang="en-US" sz="1356" dirty="0"/>
          </a:p>
        </p:txBody>
      </p:sp>
    </p:spTree>
  </p:cSld>
  <p:clrMapOvr>
    <a:masterClrMapping/>
  </p:clrMapOvr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C6E68"/>
          </a:solidFill>
          <a:ln w="12700">
            <a:solidFill>
              <a:srgbClr val="2C6E6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5603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公众号与内容日历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694944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757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公众号是解释复杂问题、沉淀信任、串联微信生态的深度阵地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9893808" y="256032"/>
            <a:ext cx="1417320" cy="329184"/>
          </a:xfrm>
          <a:prstGeom prst="roundRect">
            <a:avLst>
              <a:gd name="adj" fmla="val 22222"/>
            </a:avLst>
          </a:prstGeom>
          <a:solidFill>
            <a:srgbClr val="DCEFE8"/>
          </a:solidFill>
          <a:ln w="12700">
            <a:solidFill>
              <a:srgbClr val="E6E1D8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93808" y="30175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6E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增长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30352" y="6473952"/>
            <a:ext cx="11109960" cy="0"/>
          </a:xfrm>
          <a:prstGeom prst="line">
            <a:avLst/>
          </a:prstGeom>
          <a:noFill/>
          <a:ln w="13970">
            <a:solidFill>
              <a:srgbClr val="E6E1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651967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757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内部行动方针版 | 来源：MediSlim-商业方案-v1.0 / MediSlim-OPC运营手册-v1.0 / 仓库业务文档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82528" y="647395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C6E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31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30352" y="1133856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30352" y="1133856"/>
            <a:ext cx="5445252" cy="109728"/>
          </a:xfrm>
          <a:prstGeom prst="rect">
            <a:avLst/>
          </a:prstGeom>
          <a:solidFill>
            <a:srgbClr val="2C6E68"/>
          </a:solidFill>
          <a:ln w="12700">
            <a:solidFill>
              <a:srgbClr val="2C6E6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4944" y="1298448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自动回复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94944" y="1664208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关注后发欢迎语 + AI 评估链接。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关键词回复产品介绍、体质测试、客服引导。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其他问题统一导向企微。</a:t>
            </a:r>
            <a:endParaRPr lang="en-US" sz="1356" dirty="0"/>
          </a:p>
        </p:txBody>
      </p:sp>
      <p:sp>
        <p:nvSpPr>
          <p:cNvPr id="14" name="Shape 12"/>
          <p:cNvSpPr/>
          <p:nvPr/>
        </p:nvSpPr>
        <p:spPr>
          <a:xfrm>
            <a:off x="6195060" y="1133856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95060" y="1133856"/>
            <a:ext cx="5445252" cy="109728"/>
          </a:xfrm>
          <a:prstGeom prst="rect">
            <a:avLst/>
          </a:prstGeom>
          <a:solidFill>
            <a:srgbClr val="4A8F74"/>
          </a:solidFill>
          <a:ln w="12700">
            <a:solidFill>
              <a:srgbClr val="4A8F74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9652" y="1298448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栏目结构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359652" y="1664208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节气养生、轻体管理、女性调养、护肝睡眠、营养补充、用户故事。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栏目固定，用户预期才会稳定。</a:t>
            </a:r>
            <a:endParaRPr lang="en-US" sz="1356" dirty="0"/>
          </a:p>
        </p:txBody>
      </p:sp>
      <p:sp>
        <p:nvSpPr>
          <p:cNvPr id="18" name="Shape 16"/>
          <p:cNvSpPr/>
          <p:nvPr/>
        </p:nvSpPr>
        <p:spPr>
          <a:xfrm>
            <a:off x="530352" y="3781044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30352" y="3781044"/>
            <a:ext cx="5445252" cy="109728"/>
          </a:xfrm>
          <a:prstGeom prst="rect">
            <a:avLst/>
          </a:prstGeom>
          <a:solidFill>
            <a:srgbClr val="B3883B"/>
          </a:solidFill>
          <a:ln w="12700">
            <a:solidFill>
              <a:srgbClr val="B3883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4944" y="3945636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内容日历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694944" y="4311396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周二发认知科普。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周四发案例拆解。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周六发清单式内容。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大促和节气单独做专题页。</a:t>
            </a:r>
            <a:endParaRPr lang="en-US" sz="1356" dirty="0"/>
          </a:p>
        </p:txBody>
      </p:sp>
      <p:sp>
        <p:nvSpPr>
          <p:cNvPr id="22" name="Shape 20"/>
          <p:cNvSpPr/>
          <p:nvPr/>
        </p:nvSpPr>
        <p:spPr>
          <a:xfrm>
            <a:off x="6195060" y="3781044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95060" y="3781044"/>
            <a:ext cx="5445252" cy="109728"/>
          </a:xfrm>
          <a:prstGeom prst="rect">
            <a:avLst/>
          </a:prstGeom>
          <a:solidFill>
            <a:srgbClr val="5078A5"/>
          </a:solidFill>
          <a:ln w="12700">
            <a:solidFill>
              <a:srgbClr val="5078A5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59652" y="3945636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经营目的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6359652" y="4311396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公众号的作用不是阅读量本身，而是让用户完成“看懂问题-愿意加顾问-愿意长期跟”的心理转变。</a:t>
            </a:r>
            <a:endParaRPr lang="en-US" sz="1356" dirty="0"/>
          </a:p>
        </p:txBody>
      </p:sp>
    </p:spTree>
  </p:cSld>
  <p:clrMapOvr>
    <a:masterClrMapping/>
  </p:clrMapOvr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C6E68"/>
          </a:solidFill>
          <a:ln w="12700">
            <a:solidFill>
              <a:srgbClr val="2C6E6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5603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内容生产工厂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694944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757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一人公司不能靠灵感写内容，必须靠模板、素材库和 AI 流程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9893808" y="256032"/>
            <a:ext cx="1417320" cy="329184"/>
          </a:xfrm>
          <a:prstGeom prst="roundRect">
            <a:avLst>
              <a:gd name="adj" fmla="val 22222"/>
            </a:avLst>
          </a:prstGeom>
          <a:solidFill>
            <a:srgbClr val="DCEFE8"/>
          </a:solidFill>
          <a:ln w="12700">
            <a:solidFill>
              <a:srgbClr val="E6E1D8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93808" y="30175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6E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增长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30352" y="6473952"/>
            <a:ext cx="11109960" cy="0"/>
          </a:xfrm>
          <a:prstGeom prst="line">
            <a:avLst/>
          </a:prstGeom>
          <a:noFill/>
          <a:ln w="13970">
            <a:solidFill>
              <a:srgbClr val="E6E1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651967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757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内部行动方针版 | 来源：MediSlim-商业方案-v1.0 / MediSlim-OPC运营手册-v1.0 / 仓库业务文档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82528" y="647395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C6E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32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30352" y="1133856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30352" y="1133856"/>
            <a:ext cx="5445252" cy="109728"/>
          </a:xfrm>
          <a:prstGeom prst="rect">
            <a:avLst/>
          </a:prstGeom>
          <a:solidFill>
            <a:srgbClr val="2C6E68"/>
          </a:solidFill>
          <a:ln w="12700">
            <a:solidFill>
              <a:srgbClr val="2C6E6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4944" y="1298448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内容来源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94944" y="1664208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用户提问、客服高频问题、节气节点、品类卖点、真实案例、竞品高赞内容。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选题必须从真实需求出发。</a:t>
            </a:r>
            <a:endParaRPr lang="en-US" sz="1356" dirty="0"/>
          </a:p>
        </p:txBody>
      </p:sp>
      <p:sp>
        <p:nvSpPr>
          <p:cNvPr id="14" name="Shape 12"/>
          <p:cNvSpPr/>
          <p:nvPr/>
        </p:nvSpPr>
        <p:spPr>
          <a:xfrm>
            <a:off x="6195060" y="1133856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95060" y="1133856"/>
            <a:ext cx="5445252" cy="109728"/>
          </a:xfrm>
          <a:prstGeom prst="rect">
            <a:avLst/>
          </a:prstGeom>
          <a:solidFill>
            <a:srgbClr val="4A8F74"/>
          </a:solidFill>
          <a:ln w="12700">
            <a:solidFill>
              <a:srgbClr val="4A8F74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9652" y="1298448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生产流程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359652" y="1664208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选题池 → Prompt 模板 → AI 初稿 → 合规过滤 → 视觉封面 → 发布 → 数据回流。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每一步都可自动化。</a:t>
            </a:r>
            <a:endParaRPr lang="en-US" sz="1356" dirty="0"/>
          </a:p>
        </p:txBody>
      </p:sp>
      <p:sp>
        <p:nvSpPr>
          <p:cNvPr id="18" name="Shape 16"/>
          <p:cNvSpPr/>
          <p:nvPr/>
        </p:nvSpPr>
        <p:spPr>
          <a:xfrm>
            <a:off x="530352" y="3781044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30352" y="3781044"/>
            <a:ext cx="5445252" cy="109728"/>
          </a:xfrm>
          <a:prstGeom prst="rect">
            <a:avLst/>
          </a:prstGeom>
          <a:solidFill>
            <a:srgbClr val="B3883B"/>
          </a:solidFill>
          <a:ln w="12700">
            <a:solidFill>
              <a:srgbClr val="B3883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4944" y="3945636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基础素材库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694944" y="4311396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标题模板、封面模板、成分素材、节气图、体质卡、FAQ、直播脚本、评论区回复模板。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素材重复使用才能提效。</a:t>
            </a:r>
            <a:endParaRPr lang="en-US" sz="1356" dirty="0"/>
          </a:p>
        </p:txBody>
      </p:sp>
      <p:sp>
        <p:nvSpPr>
          <p:cNvPr id="22" name="Shape 20"/>
          <p:cNvSpPr/>
          <p:nvPr/>
        </p:nvSpPr>
        <p:spPr>
          <a:xfrm>
            <a:off x="6195060" y="3781044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95060" y="3781044"/>
            <a:ext cx="5445252" cy="109728"/>
          </a:xfrm>
          <a:prstGeom prst="rect">
            <a:avLst/>
          </a:prstGeom>
          <a:solidFill>
            <a:srgbClr val="5078A5"/>
          </a:solidFill>
          <a:ln w="12700">
            <a:solidFill>
              <a:srgbClr val="5078A5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59652" y="3945636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周产能目标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6359652" y="4311396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小红书 20-30 条，抖音 7-10 条，公众号 2-3 篇，社群话题 7 组。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先追稳定产能，再追单篇爆发。</a:t>
            </a:r>
            <a:endParaRPr lang="en-US" sz="1356" dirty="0"/>
          </a:p>
        </p:txBody>
      </p:sp>
    </p:spTree>
  </p:cSld>
  <p:clrMapOvr>
    <a:masterClrMapping/>
  </p:clrMapOvr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C6E68"/>
          </a:solidFill>
          <a:ln w="12700">
            <a:solidFill>
              <a:srgbClr val="2C6E6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5603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AI 四层架构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694944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757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OPC 的本质不是人少，而是把重复性认知工作交给 AI 层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9893808" y="256032"/>
            <a:ext cx="1417320" cy="329184"/>
          </a:xfrm>
          <a:prstGeom prst="roundRect">
            <a:avLst>
              <a:gd name="adj" fmla="val 22222"/>
            </a:avLst>
          </a:prstGeom>
          <a:solidFill>
            <a:srgbClr val="DCEFE8"/>
          </a:solidFill>
          <a:ln w="12700">
            <a:solidFill>
              <a:srgbClr val="E6E1D8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93808" y="30175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6E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系统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30352" y="6473952"/>
            <a:ext cx="11109960" cy="0"/>
          </a:xfrm>
          <a:prstGeom prst="line">
            <a:avLst/>
          </a:prstGeom>
          <a:noFill/>
          <a:ln w="13970">
            <a:solidFill>
              <a:srgbClr val="E6E1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651967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757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内部行动方针版 | 来源：MediSlim-商业方案-v1.0 / MediSlim-OPC运营手册-v1.0 / 仓库业务文档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82528" y="647395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C6E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33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30352" y="1133856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30352" y="1133856"/>
            <a:ext cx="5445252" cy="109728"/>
          </a:xfrm>
          <a:prstGeom prst="rect">
            <a:avLst/>
          </a:prstGeom>
          <a:solidFill>
            <a:srgbClr val="2C6E68"/>
          </a:solidFill>
          <a:ln w="12700">
            <a:solidFill>
              <a:srgbClr val="2C6E6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4944" y="1298448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第一层：Agent 层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94944" y="1664208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内容生成 Agent、客服 Agent、数据分析 Agent、运营 Agent。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7x24 自动运转，做重复性、高频、标准化任务。</a:t>
            </a:r>
            <a:endParaRPr lang="en-US" sz="1356" dirty="0"/>
          </a:p>
        </p:txBody>
      </p:sp>
      <p:sp>
        <p:nvSpPr>
          <p:cNvPr id="14" name="Shape 12"/>
          <p:cNvSpPr/>
          <p:nvPr/>
        </p:nvSpPr>
        <p:spPr>
          <a:xfrm>
            <a:off x="6195060" y="1133856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95060" y="1133856"/>
            <a:ext cx="5445252" cy="109728"/>
          </a:xfrm>
          <a:prstGeom prst="rect">
            <a:avLst/>
          </a:prstGeom>
          <a:solidFill>
            <a:srgbClr val="4A8F74"/>
          </a:solidFill>
          <a:ln w="12700">
            <a:solidFill>
              <a:srgbClr val="4A8F74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9652" y="1298448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第二层：工具层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359652" y="1664208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评估系统、管理后台、业务流引擎、内容引擎、数据文件。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工具层负责把抽象流程固化成操作界面和 API。</a:t>
            </a:r>
            <a:endParaRPr lang="en-US" sz="1356" dirty="0"/>
          </a:p>
        </p:txBody>
      </p:sp>
      <p:sp>
        <p:nvSpPr>
          <p:cNvPr id="18" name="Shape 16"/>
          <p:cNvSpPr/>
          <p:nvPr/>
        </p:nvSpPr>
        <p:spPr>
          <a:xfrm>
            <a:off x="530352" y="3781044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30352" y="3781044"/>
            <a:ext cx="5445252" cy="109728"/>
          </a:xfrm>
          <a:prstGeom prst="rect">
            <a:avLst/>
          </a:prstGeom>
          <a:solidFill>
            <a:srgbClr val="B3883B"/>
          </a:solidFill>
          <a:ln w="12700">
            <a:solidFill>
              <a:srgbClr val="B3883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4944" y="3945636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第三层：合作层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694944" y="4311396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互联网医院、药房、食品工厂、物流、支付。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所有持牌能力和重履约能力全部放在这一层。</a:t>
            </a:r>
            <a:endParaRPr lang="en-US" sz="1356" dirty="0"/>
          </a:p>
        </p:txBody>
      </p:sp>
      <p:sp>
        <p:nvSpPr>
          <p:cNvPr id="22" name="Shape 20"/>
          <p:cNvSpPr/>
          <p:nvPr/>
        </p:nvSpPr>
        <p:spPr>
          <a:xfrm>
            <a:off x="6195060" y="3781044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95060" y="3781044"/>
            <a:ext cx="5445252" cy="109728"/>
          </a:xfrm>
          <a:prstGeom prst="rect">
            <a:avLst/>
          </a:prstGeom>
          <a:solidFill>
            <a:srgbClr val="5078A5"/>
          </a:solidFill>
          <a:ln w="12700">
            <a:solidFill>
              <a:srgbClr val="5078A5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59652" y="3945636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第四层：人层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6359652" y="4311396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创始人只做决策、谈判、关键节点把关、投诉升级和 AI 监督。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人不再做机械执行。</a:t>
            </a:r>
            <a:endParaRPr lang="en-US" sz="1356" dirty="0"/>
          </a:p>
        </p:txBody>
      </p:sp>
    </p:spTree>
  </p:cSld>
  <p:clrMapOvr>
    <a:masterClrMapping/>
  </p:clrMapOvr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C6E68"/>
          </a:solidFill>
          <a:ln w="12700">
            <a:solidFill>
              <a:srgbClr val="2C6E6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5603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现有系统资产与缺口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694944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757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先从现有仓库能力出发，不假装自己已经有完整平台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9893808" y="256032"/>
            <a:ext cx="1417320" cy="329184"/>
          </a:xfrm>
          <a:prstGeom prst="roundRect">
            <a:avLst>
              <a:gd name="adj" fmla="val 22222"/>
            </a:avLst>
          </a:prstGeom>
          <a:solidFill>
            <a:srgbClr val="DCEFE8"/>
          </a:solidFill>
          <a:ln w="12700">
            <a:solidFill>
              <a:srgbClr val="E6E1D8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93808" y="30175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6E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系统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30352" y="6473952"/>
            <a:ext cx="11109960" cy="0"/>
          </a:xfrm>
          <a:prstGeom prst="line">
            <a:avLst/>
          </a:prstGeom>
          <a:noFill/>
          <a:ln w="13970">
            <a:solidFill>
              <a:srgbClr val="E6E1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651967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757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内部行动方针版 | 来源：MediSlim-商业方案-v1.0 / MediSlim-OPC运营手册-v1.0 / 仓库业务文档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82528" y="647395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C6E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34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30352" y="1133856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30352" y="1133856"/>
            <a:ext cx="5445252" cy="109728"/>
          </a:xfrm>
          <a:prstGeom prst="rect">
            <a:avLst/>
          </a:prstGeom>
          <a:solidFill>
            <a:srgbClr val="2C6E68"/>
          </a:solidFill>
          <a:ln w="12700">
            <a:solidFill>
              <a:srgbClr val="2C6E6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4944" y="1298448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已具备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94944" y="1664208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主站与评估能力：app.py。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管理后台：admin.py。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模板页：评估、流程、后台界面。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内容引擎：批量生成与追踪。</a:t>
            </a:r>
            <a:endParaRPr lang="en-US" sz="1356" dirty="0"/>
          </a:p>
        </p:txBody>
      </p:sp>
      <p:sp>
        <p:nvSpPr>
          <p:cNvPr id="14" name="Shape 12"/>
          <p:cNvSpPr/>
          <p:nvPr/>
        </p:nvSpPr>
        <p:spPr>
          <a:xfrm>
            <a:off x="6195060" y="1133856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95060" y="1133856"/>
            <a:ext cx="5445252" cy="109728"/>
          </a:xfrm>
          <a:prstGeom prst="rect">
            <a:avLst/>
          </a:prstGeom>
          <a:solidFill>
            <a:srgbClr val="4A8F74"/>
          </a:solidFill>
          <a:ln w="12700">
            <a:solidFill>
              <a:srgbClr val="4A8F74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9652" y="1298448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已沉淀数据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359652" y="1664208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users、crm_users、leads、orders 等 JSON 数据文件。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这意味着已具备最小 CRM 和订单资产结构。</a:t>
            </a:r>
            <a:endParaRPr lang="en-US" sz="1356" dirty="0"/>
          </a:p>
        </p:txBody>
      </p:sp>
      <p:sp>
        <p:nvSpPr>
          <p:cNvPr id="18" name="Shape 16"/>
          <p:cNvSpPr/>
          <p:nvPr/>
        </p:nvSpPr>
        <p:spPr>
          <a:xfrm>
            <a:off x="530352" y="3781044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30352" y="3781044"/>
            <a:ext cx="5445252" cy="109728"/>
          </a:xfrm>
          <a:prstGeom prst="rect">
            <a:avLst/>
          </a:prstGeom>
          <a:solidFill>
            <a:srgbClr val="B3883B"/>
          </a:solidFill>
          <a:ln w="12700">
            <a:solidFill>
              <a:srgbClr val="B3883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4944" y="3945636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核心缺口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694944" y="4311396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互联网医院 / 药房 / 支付 API 实接。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订阅管理中心。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企微 SCRM 打通。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体质辨识模块产品化。</a:t>
            </a:r>
            <a:endParaRPr lang="en-US" sz="1356" dirty="0"/>
          </a:p>
        </p:txBody>
      </p:sp>
      <p:sp>
        <p:nvSpPr>
          <p:cNvPr id="22" name="Shape 20"/>
          <p:cNvSpPr/>
          <p:nvPr/>
        </p:nvSpPr>
        <p:spPr>
          <a:xfrm>
            <a:off x="6195060" y="3781044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95060" y="3781044"/>
            <a:ext cx="5445252" cy="109728"/>
          </a:xfrm>
          <a:prstGeom prst="rect">
            <a:avLst/>
          </a:prstGeom>
          <a:solidFill>
            <a:srgbClr val="5078A5"/>
          </a:solidFill>
          <a:ln w="12700">
            <a:solidFill>
              <a:srgbClr val="5078A5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59652" y="3945636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优先修补顺序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6359652" y="4311396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先补支付与订单闭环。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再补企微承接和复购提醒。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最后补更复杂的伙伴 API 和小程序端。</a:t>
            </a:r>
            <a:endParaRPr lang="en-US" sz="1356" dirty="0"/>
          </a:p>
        </p:txBody>
      </p:sp>
    </p:spTree>
  </p:cSld>
  <p:clrMapOvr>
    <a:masterClrMapping/>
  </p:clrMapOvr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C6E68"/>
          </a:solidFill>
          <a:ln w="12700">
            <a:solidFill>
              <a:srgbClr val="2C6E6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5603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AI 自动化清单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694944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757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让系统替代部门，而不是只替代几个零散动作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9893808" y="256032"/>
            <a:ext cx="1417320" cy="329184"/>
          </a:xfrm>
          <a:prstGeom prst="roundRect">
            <a:avLst>
              <a:gd name="adj" fmla="val 22222"/>
            </a:avLst>
          </a:prstGeom>
          <a:solidFill>
            <a:srgbClr val="DCEFE8"/>
          </a:solidFill>
          <a:ln w="12700">
            <a:solidFill>
              <a:srgbClr val="E6E1D8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93808" y="30175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6E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系统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30352" y="6473952"/>
            <a:ext cx="11109960" cy="0"/>
          </a:xfrm>
          <a:prstGeom prst="line">
            <a:avLst/>
          </a:prstGeom>
          <a:noFill/>
          <a:ln w="13970">
            <a:solidFill>
              <a:srgbClr val="E6E1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651967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757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内部行动方针版 | 来源：MediSlim-商业方案-v1.0 / MediSlim-OPC运营手册-v1.0 / 仓库业务文档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82528" y="647395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C6E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35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30352" y="1133856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30352" y="1133856"/>
            <a:ext cx="5445252" cy="109728"/>
          </a:xfrm>
          <a:prstGeom prst="rect">
            <a:avLst/>
          </a:prstGeom>
          <a:solidFill>
            <a:srgbClr val="2C6E68"/>
          </a:solidFill>
          <a:ln w="12700">
            <a:solidFill>
              <a:srgbClr val="2C6E6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4944" y="1298448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内容 Agent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94944" y="1664208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批量生成小红书、抖音、公众号、社群文案。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输入：选题与模板；输出：多平台内容包。</a:t>
            </a:r>
            <a:endParaRPr lang="en-US" sz="1356" dirty="0"/>
          </a:p>
        </p:txBody>
      </p:sp>
      <p:sp>
        <p:nvSpPr>
          <p:cNvPr id="14" name="Shape 12"/>
          <p:cNvSpPr/>
          <p:nvPr/>
        </p:nvSpPr>
        <p:spPr>
          <a:xfrm>
            <a:off x="6195060" y="1133856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95060" y="1133856"/>
            <a:ext cx="5445252" cy="109728"/>
          </a:xfrm>
          <a:prstGeom prst="rect">
            <a:avLst/>
          </a:prstGeom>
          <a:solidFill>
            <a:srgbClr val="4A8F74"/>
          </a:solidFill>
          <a:ln w="12700">
            <a:solidFill>
              <a:srgbClr val="4A8F74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9652" y="1298448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客服 Agent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359652" y="1664208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处理 FAQ、意向判断、禁忌提醒、分流到人工或顾问。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目标：把人工只留给高价值对话。</a:t>
            </a:r>
            <a:endParaRPr lang="en-US" sz="1356" dirty="0"/>
          </a:p>
        </p:txBody>
      </p:sp>
      <p:sp>
        <p:nvSpPr>
          <p:cNvPr id="18" name="Shape 16"/>
          <p:cNvSpPr/>
          <p:nvPr/>
        </p:nvSpPr>
        <p:spPr>
          <a:xfrm>
            <a:off x="530352" y="3781044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30352" y="3781044"/>
            <a:ext cx="5445252" cy="109728"/>
          </a:xfrm>
          <a:prstGeom prst="rect">
            <a:avLst/>
          </a:prstGeom>
          <a:solidFill>
            <a:srgbClr val="B3883B"/>
          </a:solidFill>
          <a:ln w="12700">
            <a:solidFill>
              <a:srgbClr val="B3883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4944" y="3945636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运营 Agent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694944" y="4311396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发送跟进提醒、生成待办、触发续费、跟踪超时状态、推送活动。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目标：把 Day 0-28 节奏固定住。</a:t>
            </a:r>
            <a:endParaRPr lang="en-US" sz="1356" dirty="0"/>
          </a:p>
        </p:txBody>
      </p:sp>
      <p:sp>
        <p:nvSpPr>
          <p:cNvPr id="22" name="Shape 20"/>
          <p:cNvSpPr/>
          <p:nvPr/>
        </p:nvSpPr>
        <p:spPr>
          <a:xfrm>
            <a:off x="6195060" y="3781044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95060" y="3781044"/>
            <a:ext cx="5445252" cy="109728"/>
          </a:xfrm>
          <a:prstGeom prst="rect">
            <a:avLst/>
          </a:prstGeom>
          <a:solidFill>
            <a:srgbClr val="5078A5"/>
          </a:solidFill>
          <a:ln w="12700">
            <a:solidFill>
              <a:srgbClr val="5078A5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59652" y="3945636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数据 Agent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6359652" y="4311396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每日汇总线索、成交、收入、复购、渠道 ROI。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自动生成日报与预警，不靠手工导表。</a:t>
            </a:r>
            <a:endParaRPr lang="en-US" sz="1356" dirty="0"/>
          </a:p>
        </p:txBody>
      </p:sp>
    </p:spTree>
  </p:cSld>
  <p:clrMapOvr>
    <a:masterClrMapping/>
  </p:clrMapOvr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C6E68"/>
          </a:solidFill>
          <a:ln w="12700">
            <a:solidFill>
              <a:srgbClr val="2C6E6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5603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OPC 组织模型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694944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757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创始人不应亲自做每件事，只应亲自决定关键事情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9893808" y="256032"/>
            <a:ext cx="1417320" cy="329184"/>
          </a:xfrm>
          <a:prstGeom prst="roundRect">
            <a:avLst>
              <a:gd name="adj" fmla="val 22222"/>
            </a:avLst>
          </a:prstGeom>
          <a:solidFill>
            <a:srgbClr val="DCEFE8"/>
          </a:solidFill>
          <a:ln w="12700">
            <a:solidFill>
              <a:srgbClr val="E6E1D8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93808" y="30175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6E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组织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30352" y="6473952"/>
            <a:ext cx="11109960" cy="0"/>
          </a:xfrm>
          <a:prstGeom prst="line">
            <a:avLst/>
          </a:prstGeom>
          <a:noFill/>
          <a:ln w="13970">
            <a:solidFill>
              <a:srgbClr val="E6E1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651967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757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内部行动方针版 | 来源：MediSlim-商业方案-v1.0 / MediSlim-OPC运营手册-v1.0 / 仓库业务文档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82528" y="647395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C6E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36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30352" y="1133856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30352" y="1133856"/>
            <a:ext cx="5445252" cy="109728"/>
          </a:xfrm>
          <a:prstGeom prst="rect">
            <a:avLst/>
          </a:prstGeom>
          <a:solidFill>
            <a:srgbClr val="2C6E68"/>
          </a:solidFill>
          <a:ln w="12700">
            <a:solidFill>
              <a:srgbClr val="2C6E6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4944" y="1298448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创始人必须亲自做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94944" y="1664208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战略取舍、关键合作谈判、合规边界、核心投诉、视频出镜、融资与现金流决策。</a:t>
            </a:r>
            <a:endParaRPr lang="en-US" sz="1356" dirty="0"/>
          </a:p>
        </p:txBody>
      </p:sp>
      <p:sp>
        <p:nvSpPr>
          <p:cNvPr id="14" name="Shape 12"/>
          <p:cNvSpPr/>
          <p:nvPr/>
        </p:nvSpPr>
        <p:spPr>
          <a:xfrm>
            <a:off x="6195060" y="1133856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95060" y="1133856"/>
            <a:ext cx="5445252" cy="109728"/>
          </a:xfrm>
          <a:prstGeom prst="rect">
            <a:avLst/>
          </a:prstGeom>
          <a:solidFill>
            <a:srgbClr val="4A8F74"/>
          </a:solidFill>
          <a:ln w="12700">
            <a:solidFill>
              <a:srgbClr val="4A8F74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9652" y="1298448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AI 默认接手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359652" y="1664208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内容初稿、客服常见问题、日报周报、素材整理、任务提醒、活动模板、数据预警。</a:t>
            </a:r>
            <a:endParaRPr lang="en-US" sz="1356" dirty="0"/>
          </a:p>
        </p:txBody>
      </p:sp>
      <p:sp>
        <p:nvSpPr>
          <p:cNvPr id="18" name="Shape 16"/>
          <p:cNvSpPr/>
          <p:nvPr/>
        </p:nvSpPr>
        <p:spPr>
          <a:xfrm>
            <a:off x="530352" y="3781044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30352" y="3781044"/>
            <a:ext cx="5445252" cy="109728"/>
          </a:xfrm>
          <a:prstGeom prst="rect">
            <a:avLst/>
          </a:prstGeom>
          <a:solidFill>
            <a:srgbClr val="B3883B"/>
          </a:solidFill>
          <a:ln w="12700">
            <a:solidFill>
              <a:srgbClr val="B3883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4944" y="3945636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合作方接手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694944" y="4311396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问诊开方、药品履约、工厂生产、仓储物流、部分法务与会计流程。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避免把低杠杆动作做在内部。</a:t>
            </a:r>
            <a:endParaRPr lang="en-US" sz="1356" dirty="0"/>
          </a:p>
        </p:txBody>
      </p:sp>
      <p:sp>
        <p:nvSpPr>
          <p:cNvPr id="22" name="Shape 20"/>
          <p:cNvSpPr/>
          <p:nvPr/>
        </p:nvSpPr>
        <p:spPr>
          <a:xfrm>
            <a:off x="6195060" y="3781044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95060" y="3781044"/>
            <a:ext cx="5445252" cy="109728"/>
          </a:xfrm>
          <a:prstGeom prst="rect">
            <a:avLst/>
          </a:prstGeom>
          <a:solidFill>
            <a:srgbClr val="5078A5"/>
          </a:solidFill>
          <a:ln w="12700">
            <a:solidFill>
              <a:srgbClr val="5078A5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59652" y="3945636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组织原则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6359652" y="4311396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凡是可 SOP 化的动作，就不靠老板记忆。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凡是需要持牌或重履约的动作，就不自己做。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凡是高风险动作，必须有审批链。</a:t>
            </a:r>
            <a:endParaRPr lang="en-US" sz="1356" dirty="0"/>
          </a:p>
        </p:txBody>
      </p:sp>
    </p:spTree>
  </p:cSld>
  <p:clrMapOvr>
    <a:masterClrMapping/>
  </p:clrMapOvr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C6E68"/>
          </a:solidFill>
          <a:ln w="12700">
            <a:solidFill>
              <a:srgbClr val="2C6E6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5603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阶段人力规划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694944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757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人不是越少越好，而是只在出现明确瓶颈时增加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9893808" y="256032"/>
            <a:ext cx="1417320" cy="329184"/>
          </a:xfrm>
          <a:prstGeom prst="roundRect">
            <a:avLst>
              <a:gd name="adj" fmla="val 22222"/>
            </a:avLst>
          </a:prstGeom>
          <a:solidFill>
            <a:srgbClr val="DCEFE8"/>
          </a:solidFill>
          <a:ln w="12700">
            <a:solidFill>
              <a:srgbClr val="E6E1D8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93808" y="30175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6E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组织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30352" y="6473952"/>
            <a:ext cx="11109960" cy="0"/>
          </a:xfrm>
          <a:prstGeom prst="line">
            <a:avLst/>
          </a:prstGeom>
          <a:noFill/>
          <a:ln w="13970">
            <a:solidFill>
              <a:srgbClr val="E6E1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651967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757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内部行动方针版 | 来源：MediSlim-商业方案-v1.0 / MediSlim-OPC运营手册-v1.0 / 仓库业务文档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82528" y="647395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C6E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37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30352" y="1133856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30352" y="1133856"/>
            <a:ext cx="5445252" cy="109728"/>
          </a:xfrm>
          <a:prstGeom prst="rect">
            <a:avLst/>
          </a:prstGeom>
          <a:solidFill>
            <a:srgbClr val="2C6E68"/>
          </a:solidFill>
          <a:ln w="12700">
            <a:solidFill>
              <a:srgbClr val="2C6E6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4944" y="1298448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阶段 1：1 人 + AI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94944" y="1664208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创始人兼产品、增长、BD。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AI 承担内容、客服和报表。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目标是验证模型，而不是追求完美组织。</a:t>
            </a:r>
            <a:endParaRPr lang="en-US" sz="1356" dirty="0"/>
          </a:p>
        </p:txBody>
      </p:sp>
      <p:sp>
        <p:nvSpPr>
          <p:cNvPr id="14" name="Shape 12"/>
          <p:cNvSpPr/>
          <p:nvPr/>
        </p:nvSpPr>
        <p:spPr>
          <a:xfrm>
            <a:off x="6195060" y="1133856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95060" y="1133856"/>
            <a:ext cx="5445252" cy="109728"/>
          </a:xfrm>
          <a:prstGeom prst="rect">
            <a:avLst/>
          </a:prstGeom>
          <a:solidFill>
            <a:srgbClr val="4A8F74"/>
          </a:solidFill>
          <a:ln w="12700">
            <a:solidFill>
              <a:srgbClr val="4A8F74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9652" y="1298448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阶段 2：2-3 人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359652" y="1664208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补一个私域成交 / 运营执行位，再补一个内容/剪辑位。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条件：月度线索量和订单量已稳定增长。</a:t>
            </a:r>
            <a:endParaRPr lang="en-US" sz="1356" dirty="0"/>
          </a:p>
        </p:txBody>
      </p:sp>
      <p:sp>
        <p:nvSpPr>
          <p:cNvPr id="18" name="Shape 16"/>
          <p:cNvSpPr/>
          <p:nvPr/>
        </p:nvSpPr>
        <p:spPr>
          <a:xfrm>
            <a:off x="530352" y="3781044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30352" y="3781044"/>
            <a:ext cx="5445252" cy="109728"/>
          </a:xfrm>
          <a:prstGeom prst="rect">
            <a:avLst/>
          </a:prstGeom>
          <a:solidFill>
            <a:srgbClr val="B3883B"/>
          </a:solidFill>
          <a:ln w="12700">
            <a:solidFill>
              <a:srgbClr val="B3883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4944" y="3945636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阶段 3：4-5 人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694944" y="4311396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补供应链/合规协同、数据运营、内容负责人。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条件：渠道扩张、多品类并行、合作方显著增多。</a:t>
            </a:r>
            <a:endParaRPr lang="en-US" sz="1356" dirty="0"/>
          </a:p>
        </p:txBody>
      </p:sp>
      <p:sp>
        <p:nvSpPr>
          <p:cNvPr id="22" name="Shape 20"/>
          <p:cNvSpPr/>
          <p:nvPr/>
        </p:nvSpPr>
        <p:spPr>
          <a:xfrm>
            <a:off x="6195060" y="3781044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95060" y="3781044"/>
            <a:ext cx="5445252" cy="109728"/>
          </a:xfrm>
          <a:prstGeom prst="rect">
            <a:avLst/>
          </a:prstGeom>
          <a:solidFill>
            <a:srgbClr val="5078A5"/>
          </a:solidFill>
          <a:ln w="12700">
            <a:solidFill>
              <a:srgbClr val="5078A5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59652" y="3945636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招聘触发器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6359652" y="4311396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当某项任务每周重复超过 8 小时且 AI/外包无法稳定完成时，才考虑内招。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先算 ROI，再决定招人。</a:t>
            </a:r>
            <a:endParaRPr lang="en-US" sz="1356" dirty="0"/>
          </a:p>
        </p:txBody>
      </p:sp>
    </p:spTree>
  </p:cSld>
  <p:clrMapOvr>
    <a:masterClrMapping/>
  </p:clrMapOvr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C6E68"/>
          </a:solidFill>
          <a:ln w="12700">
            <a:solidFill>
              <a:srgbClr val="2C6E6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5603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合作伙伴地图与准入标准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694944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757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合作方决定平台是否能长期稳定运转，不能只看价格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9893808" y="256032"/>
            <a:ext cx="1417320" cy="329184"/>
          </a:xfrm>
          <a:prstGeom prst="roundRect">
            <a:avLst>
              <a:gd name="adj" fmla="val 22222"/>
            </a:avLst>
          </a:prstGeom>
          <a:solidFill>
            <a:srgbClr val="DCEFE8"/>
          </a:solidFill>
          <a:ln w="12700">
            <a:solidFill>
              <a:srgbClr val="E6E1D8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93808" y="30175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6E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组织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30352" y="6473952"/>
            <a:ext cx="11109960" cy="0"/>
          </a:xfrm>
          <a:prstGeom prst="line">
            <a:avLst/>
          </a:prstGeom>
          <a:noFill/>
          <a:ln w="13970">
            <a:solidFill>
              <a:srgbClr val="E6E1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651967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757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内部行动方针版 | 来源：MediSlim-商业方案-v1.0 / MediSlim-OPC运营手册-v1.0 / 仓库业务文档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82528" y="647395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C6E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38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30352" y="1133856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30352" y="1133856"/>
            <a:ext cx="5445252" cy="109728"/>
          </a:xfrm>
          <a:prstGeom prst="rect">
            <a:avLst/>
          </a:prstGeom>
          <a:solidFill>
            <a:srgbClr val="2C6E68"/>
          </a:solidFill>
          <a:ln w="12700">
            <a:solidFill>
              <a:srgbClr val="2C6E6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4944" y="1298448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核心伙伴类型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94944" y="1664208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互联网医院、合规药房、食品工厂、保健品企业、物流、支付、内容/KOC 机构。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每类都要至少有备选。</a:t>
            </a:r>
            <a:endParaRPr lang="en-US" sz="1356" dirty="0"/>
          </a:p>
        </p:txBody>
      </p:sp>
      <p:sp>
        <p:nvSpPr>
          <p:cNvPr id="14" name="Shape 12"/>
          <p:cNvSpPr/>
          <p:nvPr/>
        </p:nvSpPr>
        <p:spPr>
          <a:xfrm>
            <a:off x="6195060" y="1133856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95060" y="1133856"/>
            <a:ext cx="5445252" cy="109728"/>
          </a:xfrm>
          <a:prstGeom prst="rect">
            <a:avLst/>
          </a:prstGeom>
          <a:solidFill>
            <a:srgbClr val="4A8F74"/>
          </a:solidFill>
          <a:ln w="12700">
            <a:solidFill>
              <a:srgbClr val="4A8F74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9652" y="1298448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准入标准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359652" y="1664208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资质齐全、SLA 明确、接口或对接流程清楚、结算规则透明、愿意配合售后与数据回写。</a:t>
            </a:r>
            <a:endParaRPr lang="en-US" sz="1356" dirty="0"/>
          </a:p>
        </p:txBody>
      </p:sp>
      <p:sp>
        <p:nvSpPr>
          <p:cNvPr id="18" name="Shape 16"/>
          <p:cNvSpPr/>
          <p:nvPr/>
        </p:nvSpPr>
        <p:spPr>
          <a:xfrm>
            <a:off x="530352" y="3781044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30352" y="3781044"/>
            <a:ext cx="5445252" cy="109728"/>
          </a:xfrm>
          <a:prstGeom prst="rect">
            <a:avLst/>
          </a:prstGeom>
          <a:solidFill>
            <a:srgbClr val="B3883B"/>
          </a:solidFill>
          <a:ln w="12700">
            <a:solidFill>
              <a:srgbClr val="B3883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4944" y="3945636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合同要点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694944" y="4311396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责任边界、时效承诺、数据处理、价格保护、退换货流程、异常赔付、终止条款。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这些都要在开始前写清楚。</a:t>
            </a:r>
            <a:endParaRPr lang="en-US" sz="1356" dirty="0"/>
          </a:p>
        </p:txBody>
      </p:sp>
      <p:sp>
        <p:nvSpPr>
          <p:cNvPr id="22" name="Shape 20"/>
          <p:cNvSpPr/>
          <p:nvPr/>
        </p:nvSpPr>
        <p:spPr>
          <a:xfrm>
            <a:off x="6195060" y="3781044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95060" y="3781044"/>
            <a:ext cx="5445252" cy="109728"/>
          </a:xfrm>
          <a:prstGeom prst="rect">
            <a:avLst/>
          </a:prstGeom>
          <a:solidFill>
            <a:srgbClr val="5078A5"/>
          </a:solidFill>
          <a:ln w="12700">
            <a:solidFill>
              <a:srgbClr val="5078A5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59652" y="3945636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管理方式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6359652" y="4311396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每月一次伙伴复盘：发货时效、投诉率、缺货率、结算误差、配合度。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不复盘，合作方会慢慢拖垮体验。</a:t>
            </a:r>
            <a:endParaRPr lang="en-US" sz="1356" dirty="0"/>
          </a:p>
        </p:txBody>
      </p:sp>
    </p:spTree>
  </p:cSld>
  <p:clrMapOvr>
    <a:masterClrMapping/>
  </p:clrMapOvr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C6E68"/>
          </a:solidFill>
          <a:ln w="12700">
            <a:solidFill>
              <a:srgbClr val="2C6E6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5603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产品接入标准化 SOP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694944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757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每增加一个 SKU，都必须走同一条准入流程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9893808" y="256032"/>
            <a:ext cx="1417320" cy="329184"/>
          </a:xfrm>
          <a:prstGeom prst="roundRect">
            <a:avLst>
              <a:gd name="adj" fmla="val 22222"/>
            </a:avLst>
          </a:prstGeom>
          <a:solidFill>
            <a:srgbClr val="DCEFE8"/>
          </a:solidFill>
          <a:ln w="12700">
            <a:solidFill>
              <a:srgbClr val="E6E1D8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93808" y="30175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6E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组织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30352" y="6473952"/>
            <a:ext cx="11109960" cy="0"/>
          </a:xfrm>
          <a:prstGeom prst="line">
            <a:avLst/>
          </a:prstGeom>
          <a:noFill/>
          <a:ln w="13970">
            <a:solidFill>
              <a:srgbClr val="E6E1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651967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757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内部行动方针版 | 来源：MediSlim-商业方案-v1.0 / MediSlim-OPC运营手册-v1.0 / 仓库业务文档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82528" y="647395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C6E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39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30352" y="1133856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30352" y="1133856"/>
            <a:ext cx="5445252" cy="109728"/>
          </a:xfrm>
          <a:prstGeom prst="rect">
            <a:avLst/>
          </a:prstGeom>
          <a:solidFill>
            <a:srgbClr val="2C6E68"/>
          </a:solidFill>
          <a:ln w="12700">
            <a:solidFill>
              <a:srgbClr val="2C6E6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4944" y="1298448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Step 1 合规审核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94944" y="1664208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判断是否需处方、是否需广告审查、是否涉及特殊资质。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不合规的品类，价格再高也不上。</a:t>
            </a:r>
            <a:endParaRPr lang="en-US" sz="1356" dirty="0"/>
          </a:p>
        </p:txBody>
      </p:sp>
      <p:sp>
        <p:nvSpPr>
          <p:cNvPr id="14" name="Shape 12"/>
          <p:cNvSpPr/>
          <p:nvPr/>
        </p:nvSpPr>
        <p:spPr>
          <a:xfrm>
            <a:off x="6195060" y="1133856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95060" y="1133856"/>
            <a:ext cx="5445252" cy="109728"/>
          </a:xfrm>
          <a:prstGeom prst="rect">
            <a:avLst/>
          </a:prstGeom>
          <a:solidFill>
            <a:srgbClr val="4A8F74"/>
          </a:solidFill>
          <a:ln w="12700">
            <a:solidFill>
              <a:srgbClr val="4A8F74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9652" y="1298448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Step 2 供应链搭建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359652" y="1664208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找供应商、打样、确认批次、签合同、定价格、测交付周期。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同时准备备选供应方。</a:t>
            </a:r>
            <a:endParaRPr lang="en-US" sz="1356" dirty="0"/>
          </a:p>
        </p:txBody>
      </p:sp>
      <p:sp>
        <p:nvSpPr>
          <p:cNvPr id="18" name="Shape 16"/>
          <p:cNvSpPr/>
          <p:nvPr/>
        </p:nvSpPr>
        <p:spPr>
          <a:xfrm>
            <a:off x="530352" y="3781044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30352" y="3781044"/>
            <a:ext cx="5445252" cy="109728"/>
          </a:xfrm>
          <a:prstGeom prst="rect">
            <a:avLst/>
          </a:prstGeom>
          <a:solidFill>
            <a:srgbClr val="B3883B"/>
          </a:solidFill>
          <a:ln w="12700">
            <a:solidFill>
              <a:srgbClr val="B3883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4944" y="3945636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Step 3 系统接入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694944" y="4311396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录入产品、定问卷、定规则、定物流、定售后、定活动标签。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要让系统知道这件商品怎么卖。</a:t>
            </a:r>
            <a:endParaRPr lang="en-US" sz="1356" dirty="0"/>
          </a:p>
        </p:txBody>
      </p:sp>
      <p:sp>
        <p:nvSpPr>
          <p:cNvPr id="22" name="Shape 20"/>
          <p:cNvSpPr/>
          <p:nvPr/>
        </p:nvSpPr>
        <p:spPr>
          <a:xfrm>
            <a:off x="6195060" y="3781044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95060" y="3781044"/>
            <a:ext cx="5445252" cy="109728"/>
          </a:xfrm>
          <a:prstGeom prst="rect">
            <a:avLst/>
          </a:prstGeom>
          <a:solidFill>
            <a:srgbClr val="5078A5"/>
          </a:solidFill>
          <a:ln w="12700">
            <a:solidFill>
              <a:srgbClr val="5078A5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59652" y="3945636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Step 4 内容与上线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6359652" y="4311396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准备首批 50 条小红书、20 条抖音、5 篇公众号、顾问话术和 FAQ。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先内测，再正式上线。</a:t>
            </a:r>
            <a:endParaRPr lang="en-US" sz="1356" dirty="0"/>
          </a:p>
        </p:txBody>
      </p:sp>
    </p:spTree>
  </p:cSld>
  <p:clrMapOvr>
    <a:masterClrMapping/>
  </p:clrMapOvr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C6E68"/>
          </a:solidFill>
          <a:ln w="12700">
            <a:solidFill>
              <a:srgbClr val="2C6E6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5603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资金流与财务流程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694944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757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现金流是这套模式能不能活下来的第一约束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9893808" y="256032"/>
            <a:ext cx="1417320" cy="329184"/>
          </a:xfrm>
          <a:prstGeom prst="roundRect">
            <a:avLst>
              <a:gd name="adj" fmla="val 22222"/>
            </a:avLst>
          </a:prstGeom>
          <a:solidFill>
            <a:srgbClr val="DCEFE8"/>
          </a:solidFill>
          <a:ln w="12700">
            <a:solidFill>
              <a:srgbClr val="E6E1D8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93808" y="30175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6E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财务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30352" y="6473952"/>
            <a:ext cx="11109960" cy="0"/>
          </a:xfrm>
          <a:prstGeom prst="line">
            <a:avLst/>
          </a:prstGeom>
          <a:noFill/>
          <a:ln w="13970">
            <a:solidFill>
              <a:srgbClr val="E6E1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651967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757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内部行动方针版 | 来源：MediSlim-商业方案-v1.0 / MediSlim-OPC运营手册-v1.0 / 仓库业务文档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82528" y="647395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C6E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40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30352" y="1133856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30352" y="1133856"/>
            <a:ext cx="5445252" cy="109728"/>
          </a:xfrm>
          <a:prstGeom prst="rect">
            <a:avLst/>
          </a:prstGeom>
          <a:solidFill>
            <a:srgbClr val="2C6E68"/>
          </a:solidFill>
          <a:ln w="12700">
            <a:solidFill>
              <a:srgbClr val="2C6E6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4944" y="1298448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收款链路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94944" y="1664208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用户付款 → 微信 / 支付宝商户号 → 订单确认 → 按合同周期与合作方结算。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平台尽量保持预收后付。</a:t>
            </a:r>
            <a:endParaRPr lang="en-US" sz="1356" dirty="0"/>
          </a:p>
        </p:txBody>
      </p:sp>
      <p:sp>
        <p:nvSpPr>
          <p:cNvPr id="14" name="Shape 12"/>
          <p:cNvSpPr/>
          <p:nvPr/>
        </p:nvSpPr>
        <p:spPr>
          <a:xfrm>
            <a:off x="6195060" y="1133856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95060" y="1133856"/>
            <a:ext cx="5445252" cy="109728"/>
          </a:xfrm>
          <a:prstGeom prst="rect">
            <a:avLst/>
          </a:prstGeom>
          <a:solidFill>
            <a:srgbClr val="4A8F74"/>
          </a:solidFill>
          <a:ln w="12700">
            <a:solidFill>
              <a:srgbClr val="4A8F74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9652" y="1298448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结算逻辑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359652" y="1664208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处方类按医院与药房规则分账；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非处方类按采购与发货周期结算。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建议保留 1-2 周安全垫。</a:t>
            </a:r>
            <a:endParaRPr lang="en-US" sz="1356" dirty="0"/>
          </a:p>
        </p:txBody>
      </p:sp>
      <p:sp>
        <p:nvSpPr>
          <p:cNvPr id="18" name="Shape 16"/>
          <p:cNvSpPr/>
          <p:nvPr/>
        </p:nvSpPr>
        <p:spPr>
          <a:xfrm>
            <a:off x="530352" y="3781044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30352" y="3781044"/>
            <a:ext cx="5445252" cy="109728"/>
          </a:xfrm>
          <a:prstGeom prst="rect">
            <a:avLst/>
          </a:prstGeom>
          <a:solidFill>
            <a:srgbClr val="B3883B"/>
          </a:solidFill>
          <a:ln w="12700">
            <a:solidFill>
              <a:srgbClr val="B3883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4944" y="3945636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退款流程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694944" y="4311396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明确支付前、发货前、发货后、已使用不同阶段的退款规则。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不要把退款标准交给客服临场判断。</a:t>
            </a:r>
            <a:endParaRPr lang="en-US" sz="1356" dirty="0"/>
          </a:p>
        </p:txBody>
      </p:sp>
      <p:sp>
        <p:nvSpPr>
          <p:cNvPr id="22" name="Shape 20"/>
          <p:cNvSpPr/>
          <p:nvPr/>
        </p:nvSpPr>
        <p:spPr>
          <a:xfrm>
            <a:off x="6195060" y="3781044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95060" y="3781044"/>
            <a:ext cx="5445252" cy="109728"/>
          </a:xfrm>
          <a:prstGeom prst="rect">
            <a:avLst/>
          </a:prstGeom>
          <a:solidFill>
            <a:srgbClr val="5078A5"/>
          </a:solidFill>
          <a:ln w="12700">
            <a:solidFill>
              <a:srgbClr val="5078A5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59652" y="3945636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经营判断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6359652" y="4311396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冷启动时最重要的不是利润率漂亮，而是现金回笼快、坏账少、应付周期稳定。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正现金流优先于规模幻想。</a:t>
            </a:r>
            <a:endParaRPr lang="en-US" sz="1356" dirty="0"/>
          </a:p>
        </p:txBody>
      </p:sp>
    </p:spTree>
  </p:cSld>
  <p:clrMapOvr>
    <a:masterClrMapping/>
  </p:clrMapOvr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C6E68"/>
          </a:solidFill>
          <a:ln w="12700">
            <a:solidFill>
              <a:srgbClr val="2C6E6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5603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单位经济模型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694944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757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每个圈层都要清楚地知道收入、成本和复购贡献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9893808" y="256032"/>
            <a:ext cx="1417320" cy="329184"/>
          </a:xfrm>
          <a:prstGeom prst="roundRect">
            <a:avLst>
              <a:gd name="adj" fmla="val 22222"/>
            </a:avLst>
          </a:prstGeom>
          <a:solidFill>
            <a:srgbClr val="DCEFE8"/>
          </a:solidFill>
          <a:ln w="12700">
            <a:solidFill>
              <a:srgbClr val="E6E1D8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93808" y="30175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6E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财务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30352" y="6473952"/>
            <a:ext cx="11109960" cy="0"/>
          </a:xfrm>
          <a:prstGeom prst="line">
            <a:avLst/>
          </a:prstGeom>
          <a:noFill/>
          <a:ln w="13970">
            <a:solidFill>
              <a:srgbClr val="E6E1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651967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757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内部行动方针版 | 来源：MediSlim-商业方案-v1.0 / MediSlim-OPC运营手册-v1.0 / 仓库业务文档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82528" y="647395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C6E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41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30352" y="1133856"/>
            <a:ext cx="3557016" cy="5074920"/>
          </a:xfrm>
          <a:prstGeom prst="roundRect">
            <a:avLst>
              <a:gd name="adj" fmla="val 2057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30352" y="1133856"/>
            <a:ext cx="3557016" cy="109728"/>
          </a:xfrm>
          <a:prstGeom prst="rect">
            <a:avLst/>
          </a:prstGeom>
          <a:solidFill>
            <a:srgbClr val="2C6E68"/>
          </a:solidFill>
          <a:ln w="12700">
            <a:solidFill>
              <a:srgbClr val="2C6E6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4944" y="1298448"/>
            <a:ext cx="3227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处方药单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94944" y="1664208"/>
            <a:ext cx="3227832" cy="4361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1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收入：¥399 首月 / ¥599 续费。</a:t>
            </a:r>
            <a:endParaRPr lang="en-US" sz="1216" dirty="0"/>
          </a:p>
          <a:p>
            <a:pPr indent="0" marL="0">
              <a:buNone/>
            </a:pPr>
            <a:r>
              <a:rPr lang="en-US" sz="121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成本：药品 180 + 医院 40 + 物流 15 + CAC 80 + 运营 30。</a:t>
            </a:r>
            <a:endParaRPr lang="en-US" sz="1216" dirty="0"/>
          </a:p>
          <a:p>
            <a:pPr indent="0" marL="0">
              <a:buNone/>
            </a:pPr>
            <a:r>
              <a:rPr lang="en-US" sz="121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首月毛利 13.5%，续费毛利 42.4%。</a:t>
            </a:r>
            <a:endParaRPr lang="en-US" sz="1216" dirty="0"/>
          </a:p>
        </p:txBody>
      </p:sp>
      <p:sp>
        <p:nvSpPr>
          <p:cNvPr id="14" name="Shape 12"/>
          <p:cNvSpPr/>
          <p:nvPr/>
        </p:nvSpPr>
        <p:spPr>
          <a:xfrm>
            <a:off x="4306824" y="1133856"/>
            <a:ext cx="3557016" cy="5074920"/>
          </a:xfrm>
          <a:prstGeom prst="roundRect">
            <a:avLst>
              <a:gd name="adj" fmla="val 2057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306824" y="1133856"/>
            <a:ext cx="3557016" cy="109728"/>
          </a:xfrm>
          <a:prstGeom prst="rect">
            <a:avLst/>
          </a:prstGeom>
          <a:solidFill>
            <a:srgbClr val="4A8F74"/>
          </a:solidFill>
          <a:ln w="12700">
            <a:solidFill>
              <a:srgbClr val="4A8F74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71416" y="1298448"/>
            <a:ext cx="3227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药食同源单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4471416" y="1664208"/>
            <a:ext cx="3227832" cy="4361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35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收入：¥168 / 月。</a:t>
            </a:r>
            <a:endParaRPr lang="en-US" sz="1235" dirty="0"/>
          </a:p>
          <a:p>
            <a:pPr indent="0" marL="0">
              <a:buNone/>
            </a:pPr>
            <a:r>
              <a:rPr lang="en-US" sz="1235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成本：原料 35 + 包装 10 + 物流 12 + CAC 40。</a:t>
            </a:r>
            <a:endParaRPr lang="en-US" sz="1235" dirty="0"/>
          </a:p>
          <a:p>
            <a:pPr indent="0" marL="0">
              <a:buNone/>
            </a:pPr>
            <a:r>
              <a:rPr lang="en-US" sz="1235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月毛利约 42.3%，LTV 结构更健康。</a:t>
            </a:r>
            <a:endParaRPr lang="en-US" sz="1235" dirty="0"/>
          </a:p>
        </p:txBody>
      </p:sp>
      <p:sp>
        <p:nvSpPr>
          <p:cNvPr id="18" name="Shape 16"/>
          <p:cNvSpPr/>
          <p:nvPr/>
        </p:nvSpPr>
        <p:spPr>
          <a:xfrm>
            <a:off x="8083296" y="1133856"/>
            <a:ext cx="3557016" cy="5074920"/>
          </a:xfrm>
          <a:prstGeom prst="roundRect">
            <a:avLst>
              <a:gd name="adj" fmla="val 2057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083296" y="1133856"/>
            <a:ext cx="3557016" cy="109728"/>
          </a:xfrm>
          <a:prstGeom prst="rect">
            <a:avLst/>
          </a:prstGeom>
          <a:solidFill>
            <a:srgbClr val="B3883B"/>
          </a:solidFill>
          <a:ln w="12700">
            <a:solidFill>
              <a:srgbClr val="B3883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47888" y="1298448"/>
            <a:ext cx="3227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保健品单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8247888" y="1664208"/>
            <a:ext cx="3227832" cy="4361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35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收入：¥198 / 月。</a:t>
            </a:r>
            <a:endParaRPr lang="en-US" sz="1235" dirty="0"/>
          </a:p>
          <a:p>
            <a:pPr indent="0" marL="0">
              <a:buNone/>
            </a:pPr>
            <a:r>
              <a:rPr lang="en-US" sz="1235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成本：产品 45 + 物流 12 + CAC 50。</a:t>
            </a:r>
            <a:endParaRPr lang="en-US" sz="1235" dirty="0"/>
          </a:p>
          <a:p>
            <a:pPr indent="0" marL="0">
              <a:buNone/>
            </a:pPr>
            <a:r>
              <a:rPr lang="en-US" sz="1235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毛利约 46%，适合做组合加购和长期维护。</a:t>
            </a:r>
            <a:endParaRPr lang="en-US" sz="1235" dirty="0"/>
          </a:p>
        </p:txBody>
      </p:sp>
    </p:spTree>
  </p:cSld>
  <p:clrMapOvr>
    <a:masterClrMapping/>
  </p:clrMapOvr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C6E68"/>
          </a:solidFill>
          <a:ln w="12700">
            <a:solidFill>
              <a:srgbClr val="2C6E6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5603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12 个月收入预测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694944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757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以下为内部测算，核心用于管理节奏，不应用来掩盖模型风险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9893808" y="256032"/>
            <a:ext cx="1417320" cy="329184"/>
          </a:xfrm>
          <a:prstGeom prst="roundRect">
            <a:avLst>
              <a:gd name="adj" fmla="val 22222"/>
            </a:avLst>
          </a:prstGeom>
          <a:solidFill>
            <a:srgbClr val="DCEFE8"/>
          </a:solidFill>
          <a:ln w="12700">
            <a:solidFill>
              <a:srgbClr val="E6E1D8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93808" y="30175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6E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财务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30352" y="6473952"/>
            <a:ext cx="11109960" cy="0"/>
          </a:xfrm>
          <a:prstGeom prst="line">
            <a:avLst/>
          </a:prstGeom>
          <a:noFill/>
          <a:ln w="13970">
            <a:solidFill>
              <a:srgbClr val="E6E1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651967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757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内部行动方针版 | 来源：MediSlim-商业方案-v1.0 / MediSlim-OPC运营手册-v1.0 / 仓库业务文档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82528" y="647395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C6E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42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30352" y="1133856"/>
            <a:ext cx="3557016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30352" y="1133856"/>
            <a:ext cx="3557016" cy="109728"/>
          </a:xfrm>
          <a:prstGeom prst="rect">
            <a:avLst/>
          </a:prstGeom>
          <a:solidFill>
            <a:srgbClr val="2C6E68"/>
          </a:solidFill>
          <a:ln w="12700">
            <a:solidFill>
              <a:srgbClr val="2C6E6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4944" y="1298448"/>
            <a:ext cx="2130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M1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3008376" y="1280160"/>
            <a:ext cx="868680" cy="219456"/>
          </a:xfrm>
          <a:prstGeom prst="roundRect">
            <a:avLst>
              <a:gd name="adj" fmla="val 16667"/>
            </a:avLst>
          </a:prstGeom>
          <a:solidFill>
            <a:srgbClr val="F4F0E7"/>
          </a:solidFill>
          <a:ln w="12700">
            <a:solidFill>
              <a:srgbClr val="E6E1D8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08376" y="1307592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C6E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冷启动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94944" y="1664208"/>
            <a:ext cx="3227832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100 付费用户。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月收入约 7.65 万。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目标是找到首条稳定链路，而不是追数字。</a:t>
            </a:r>
            <a:endParaRPr lang="en-US" sz="1356" dirty="0"/>
          </a:p>
        </p:txBody>
      </p:sp>
      <p:sp>
        <p:nvSpPr>
          <p:cNvPr id="16" name="Shape 14"/>
          <p:cNvSpPr/>
          <p:nvPr/>
        </p:nvSpPr>
        <p:spPr>
          <a:xfrm>
            <a:off x="4306824" y="1133856"/>
            <a:ext cx="3557016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306824" y="1133856"/>
            <a:ext cx="3557016" cy="109728"/>
          </a:xfrm>
          <a:prstGeom prst="rect">
            <a:avLst/>
          </a:prstGeom>
          <a:solidFill>
            <a:srgbClr val="4A8F74"/>
          </a:solidFill>
          <a:ln w="12700">
            <a:solidFill>
              <a:srgbClr val="4A8F74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71416" y="1298448"/>
            <a:ext cx="2130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M3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6784848" y="1280160"/>
            <a:ext cx="868680" cy="219456"/>
          </a:xfrm>
          <a:prstGeom prst="roundRect">
            <a:avLst>
              <a:gd name="adj" fmla="val 16667"/>
            </a:avLst>
          </a:prstGeom>
          <a:solidFill>
            <a:srgbClr val="F4F0E7"/>
          </a:solidFill>
          <a:ln w="12700">
            <a:solidFill>
              <a:srgbClr val="E6E1D8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84848" y="1307592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A8F74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验证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471416" y="1664208"/>
            <a:ext cx="3227832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500 付费用户。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月收入约 38.25 万。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应开始观察哪个品类先跑出来。</a:t>
            </a:r>
            <a:endParaRPr lang="en-US" sz="1356" dirty="0"/>
          </a:p>
        </p:txBody>
      </p:sp>
      <p:sp>
        <p:nvSpPr>
          <p:cNvPr id="22" name="Shape 20"/>
          <p:cNvSpPr/>
          <p:nvPr/>
        </p:nvSpPr>
        <p:spPr>
          <a:xfrm>
            <a:off x="8083296" y="1133856"/>
            <a:ext cx="3557016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083296" y="1133856"/>
            <a:ext cx="3557016" cy="109728"/>
          </a:xfrm>
          <a:prstGeom prst="rect">
            <a:avLst/>
          </a:prstGeom>
          <a:solidFill>
            <a:srgbClr val="B3883B"/>
          </a:solidFill>
          <a:ln w="12700">
            <a:solidFill>
              <a:srgbClr val="B3883B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47888" y="1298448"/>
            <a:ext cx="2130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M6</a:t>
            </a:r>
            <a:endParaRPr lang="en-US" sz="1550" dirty="0"/>
          </a:p>
        </p:txBody>
      </p:sp>
      <p:sp>
        <p:nvSpPr>
          <p:cNvPr id="25" name="Shape 23"/>
          <p:cNvSpPr/>
          <p:nvPr/>
        </p:nvSpPr>
        <p:spPr>
          <a:xfrm>
            <a:off x="10561320" y="1280160"/>
            <a:ext cx="868680" cy="219456"/>
          </a:xfrm>
          <a:prstGeom prst="roundRect">
            <a:avLst>
              <a:gd name="adj" fmla="val 16667"/>
            </a:avLst>
          </a:prstGeom>
          <a:solidFill>
            <a:srgbClr val="F4F0E7"/>
          </a:solidFill>
          <a:ln w="12700">
            <a:solidFill>
              <a:srgbClr val="E6E1D8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561320" y="1307592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3883B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复制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8247888" y="1664208"/>
            <a:ext cx="3227832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2,000 付费用户。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月收入约 153 万。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必须形成稳定复购机制。</a:t>
            </a:r>
            <a:endParaRPr lang="en-US" sz="1356" dirty="0"/>
          </a:p>
        </p:txBody>
      </p:sp>
      <p:sp>
        <p:nvSpPr>
          <p:cNvPr id="28" name="Shape 26"/>
          <p:cNvSpPr/>
          <p:nvPr/>
        </p:nvSpPr>
        <p:spPr>
          <a:xfrm>
            <a:off x="530352" y="3781044"/>
            <a:ext cx="3557016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30352" y="3781044"/>
            <a:ext cx="3557016" cy="109728"/>
          </a:xfrm>
          <a:prstGeom prst="rect">
            <a:avLst/>
          </a:prstGeom>
          <a:solidFill>
            <a:srgbClr val="5078A5"/>
          </a:solidFill>
          <a:ln w="12700">
            <a:solidFill>
              <a:srgbClr val="5078A5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4944" y="3945636"/>
            <a:ext cx="2130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M9</a:t>
            </a:r>
            <a:endParaRPr lang="en-US" sz="1550" dirty="0"/>
          </a:p>
        </p:txBody>
      </p:sp>
      <p:sp>
        <p:nvSpPr>
          <p:cNvPr id="31" name="Shape 29"/>
          <p:cNvSpPr/>
          <p:nvPr/>
        </p:nvSpPr>
        <p:spPr>
          <a:xfrm>
            <a:off x="3008376" y="3927348"/>
            <a:ext cx="868680" cy="219456"/>
          </a:xfrm>
          <a:prstGeom prst="roundRect">
            <a:avLst>
              <a:gd name="adj" fmla="val 16667"/>
            </a:avLst>
          </a:prstGeom>
          <a:solidFill>
            <a:srgbClr val="F4F0E7"/>
          </a:solidFill>
          <a:ln w="12700">
            <a:solidFill>
              <a:srgbClr val="E6E1D8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008376" y="3954780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078A5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放大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94944" y="4311396"/>
            <a:ext cx="3227832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5,000 付费用户。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月收入约 382.5 万。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组织要切换为系统驱动。</a:t>
            </a:r>
            <a:endParaRPr lang="en-US" sz="1356" dirty="0"/>
          </a:p>
        </p:txBody>
      </p:sp>
      <p:sp>
        <p:nvSpPr>
          <p:cNvPr id="34" name="Shape 32"/>
          <p:cNvSpPr/>
          <p:nvPr/>
        </p:nvSpPr>
        <p:spPr>
          <a:xfrm>
            <a:off x="4306824" y="3781044"/>
            <a:ext cx="3557016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306824" y="3781044"/>
            <a:ext cx="3557016" cy="109728"/>
          </a:xfrm>
          <a:prstGeom prst="rect">
            <a:avLst/>
          </a:prstGeom>
          <a:solidFill>
            <a:srgbClr val="B65C49"/>
          </a:solidFill>
          <a:ln w="12700">
            <a:solidFill>
              <a:srgbClr val="B65C49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471416" y="3945636"/>
            <a:ext cx="2130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M12</a:t>
            </a:r>
            <a:endParaRPr lang="en-US" sz="1550" dirty="0"/>
          </a:p>
        </p:txBody>
      </p:sp>
      <p:sp>
        <p:nvSpPr>
          <p:cNvPr id="37" name="Shape 35"/>
          <p:cNvSpPr/>
          <p:nvPr/>
        </p:nvSpPr>
        <p:spPr>
          <a:xfrm>
            <a:off x="6784848" y="3927348"/>
            <a:ext cx="868680" cy="219456"/>
          </a:xfrm>
          <a:prstGeom prst="roundRect">
            <a:avLst>
              <a:gd name="adj" fmla="val 16667"/>
            </a:avLst>
          </a:prstGeom>
          <a:solidFill>
            <a:srgbClr val="F4F0E7"/>
          </a:solidFill>
          <a:ln w="12700">
            <a:solidFill>
              <a:srgbClr val="E6E1D8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784848" y="3954780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65C49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规模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471416" y="4311396"/>
            <a:ext cx="3227832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10,000 付费用户。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月收入约 765 万。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净利率内部目标 25-30%。</a:t>
            </a:r>
            <a:endParaRPr lang="en-US" sz="1356" dirty="0"/>
          </a:p>
        </p:txBody>
      </p:sp>
      <p:sp>
        <p:nvSpPr>
          <p:cNvPr id="40" name="Shape 38"/>
          <p:cNvSpPr/>
          <p:nvPr/>
        </p:nvSpPr>
        <p:spPr>
          <a:xfrm>
            <a:off x="8083296" y="3781044"/>
            <a:ext cx="3557016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8083296" y="3781044"/>
            <a:ext cx="3557016" cy="109728"/>
          </a:xfrm>
          <a:prstGeom prst="rect">
            <a:avLst/>
          </a:prstGeom>
          <a:solidFill>
            <a:srgbClr val="8DB4A0"/>
          </a:solidFill>
          <a:ln w="12700">
            <a:solidFill>
              <a:srgbClr val="8DB4A0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247888" y="3945636"/>
            <a:ext cx="2130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关键假设</a:t>
            </a:r>
            <a:endParaRPr lang="en-US" sz="1550" dirty="0"/>
          </a:p>
        </p:txBody>
      </p:sp>
      <p:sp>
        <p:nvSpPr>
          <p:cNvPr id="43" name="Shape 41"/>
          <p:cNvSpPr/>
          <p:nvPr/>
        </p:nvSpPr>
        <p:spPr>
          <a:xfrm>
            <a:off x="10561320" y="3927348"/>
            <a:ext cx="868680" cy="219456"/>
          </a:xfrm>
          <a:prstGeom prst="roundRect">
            <a:avLst>
              <a:gd name="adj" fmla="val 16667"/>
            </a:avLst>
          </a:prstGeom>
          <a:solidFill>
            <a:srgbClr val="F4F0E7"/>
          </a:solidFill>
          <a:ln w="12700">
            <a:solidFill>
              <a:srgbClr val="E6E1D8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561320" y="3954780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DB4A0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前提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8247888" y="4311396"/>
            <a:ext cx="3227832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线索持续增长、支付转化成立、30 日复购成立、供应稳定、无重大合规事件。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任一假设失效都要重算模型。</a:t>
            </a:r>
            <a:endParaRPr lang="en-US" sz="1356" dirty="0"/>
          </a:p>
        </p:txBody>
      </p:sp>
    </p:spTree>
  </p:cSld>
  <p:clrMapOvr>
    <a:masterClrMapping/>
  </p:clrMapOvr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C6E68"/>
          </a:solidFill>
          <a:ln w="12700">
            <a:solidFill>
              <a:srgbClr val="2C6E6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5603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数据看板与核心指标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694944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757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所有争论最后都应该回到指标，而不是回到感觉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9893808" y="256032"/>
            <a:ext cx="1417320" cy="329184"/>
          </a:xfrm>
          <a:prstGeom prst="roundRect">
            <a:avLst>
              <a:gd name="adj" fmla="val 22222"/>
            </a:avLst>
          </a:prstGeom>
          <a:solidFill>
            <a:srgbClr val="DCEFE8"/>
          </a:solidFill>
          <a:ln w="12700">
            <a:solidFill>
              <a:srgbClr val="E6E1D8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93808" y="30175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6E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治理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30352" y="6473952"/>
            <a:ext cx="11109960" cy="0"/>
          </a:xfrm>
          <a:prstGeom prst="line">
            <a:avLst/>
          </a:prstGeom>
          <a:noFill/>
          <a:ln w="13970">
            <a:solidFill>
              <a:srgbClr val="E6E1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651967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757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内部行动方针版 | 来源：MediSlim-商业方案-v1.0 / MediSlim-OPC运营手册-v1.0 / 仓库业务文档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82528" y="647395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C6E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43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30352" y="1133856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30352" y="1133856"/>
            <a:ext cx="5445252" cy="109728"/>
          </a:xfrm>
          <a:prstGeom prst="rect">
            <a:avLst/>
          </a:prstGeom>
          <a:solidFill>
            <a:srgbClr val="2C6E68"/>
          </a:solidFill>
          <a:ln w="12700">
            <a:solidFill>
              <a:srgbClr val="2C6E6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4944" y="1298448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每日必看 5 指标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94944" y="1664208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新增线索数、新订单数、今日收入、线索到订单转化率、MRR。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这 5 个指标决定今天有没有跑偏。</a:t>
            </a:r>
            <a:endParaRPr lang="en-US" sz="1356" dirty="0"/>
          </a:p>
        </p:txBody>
      </p:sp>
      <p:sp>
        <p:nvSpPr>
          <p:cNvPr id="14" name="Shape 12"/>
          <p:cNvSpPr/>
          <p:nvPr/>
        </p:nvSpPr>
        <p:spPr>
          <a:xfrm>
            <a:off x="6195060" y="1133856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95060" y="1133856"/>
            <a:ext cx="5445252" cy="109728"/>
          </a:xfrm>
          <a:prstGeom prst="rect">
            <a:avLst/>
          </a:prstGeom>
          <a:solidFill>
            <a:srgbClr val="4A8F74"/>
          </a:solidFill>
          <a:ln w="12700">
            <a:solidFill>
              <a:srgbClr val="4A8F74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9652" y="1298448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渠道指标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359652" y="1664208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CAC、LTV、ROI、留资率、评估完成率、加企微率、成交率。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每个渠道必须独立算账。</a:t>
            </a:r>
            <a:endParaRPr lang="en-US" sz="1356" dirty="0"/>
          </a:p>
        </p:txBody>
      </p:sp>
      <p:sp>
        <p:nvSpPr>
          <p:cNvPr id="18" name="Shape 16"/>
          <p:cNvSpPr/>
          <p:nvPr/>
        </p:nvSpPr>
        <p:spPr>
          <a:xfrm>
            <a:off x="530352" y="3781044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30352" y="3781044"/>
            <a:ext cx="5445252" cy="109728"/>
          </a:xfrm>
          <a:prstGeom prst="rect">
            <a:avLst/>
          </a:prstGeom>
          <a:solidFill>
            <a:srgbClr val="B3883B"/>
          </a:solidFill>
          <a:ln w="12700">
            <a:solidFill>
              <a:srgbClr val="B3883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4944" y="3945636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产品指标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694944" y="4311396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首单占比、复购率、加购率、退款率、投诉率、库存周转。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不拆产品看数据，会错把渠道问题当产品问题。</a:t>
            </a:r>
            <a:endParaRPr lang="en-US" sz="1356" dirty="0"/>
          </a:p>
        </p:txBody>
      </p:sp>
      <p:sp>
        <p:nvSpPr>
          <p:cNvPr id="22" name="Shape 20"/>
          <p:cNvSpPr/>
          <p:nvPr/>
        </p:nvSpPr>
        <p:spPr>
          <a:xfrm>
            <a:off x="6195060" y="3781044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95060" y="3781044"/>
            <a:ext cx="5445252" cy="109728"/>
          </a:xfrm>
          <a:prstGeom prst="rect">
            <a:avLst/>
          </a:prstGeom>
          <a:solidFill>
            <a:srgbClr val="5078A5"/>
          </a:solidFill>
          <a:ln w="12700">
            <a:solidFill>
              <a:srgbClr val="5078A5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59652" y="3945636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服务指标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6359652" y="4311396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首次响应时长、发货时长、签收率、咨询满意度、复购触达率。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运营不是只看 GMV。</a:t>
            </a:r>
            <a:endParaRPr lang="en-US" sz="1356" dirty="0"/>
          </a:p>
        </p:txBody>
      </p:sp>
    </p:spTree>
  </p:cSld>
  <p:clrMapOvr>
    <a:masterClrMapping/>
  </p:clrMapOvr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C6E68"/>
          </a:solidFill>
          <a:ln w="12700">
            <a:solidFill>
              <a:srgbClr val="2C6E6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5603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经营节奏：日、周、月怎么开会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694944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757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没有经营节奏，再好的策略也会在琐事里失真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9893808" y="256032"/>
            <a:ext cx="1417320" cy="329184"/>
          </a:xfrm>
          <a:prstGeom prst="roundRect">
            <a:avLst>
              <a:gd name="adj" fmla="val 22222"/>
            </a:avLst>
          </a:prstGeom>
          <a:solidFill>
            <a:srgbClr val="DCEFE8"/>
          </a:solidFill>
          <a:ln w="12700">
            <a:solidFill>
              <a:srgbClr val="E6E1D8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93808" y="30175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6E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治理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30352" y="6473952"/>
            <a:ext cx="11109960" cy="0"/>
          </a:xfrm>
          <a:prstGeom prst="line">
            <a:avLst/>
          </a:prstGeom>
          <a:noFill/>
          <a:ln w="13970">
            <a:solidFill>
              <a:srgbClr val="E6E1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651967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757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内部行动方针版 | 来源：MediSlim-商业方案-v1.0 / MediSlim-OPC运营手册-v1.0 / 仓库业务文档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82528" y="647395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C6E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44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30352" y="1133856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30352" y="1133856"/>
            <a:ext cx="5445252" cy="109728"/>
          </a:xfrm>
          <a:prstGeom prst="rect">
            <a:avLst/>
          </a:prstGeom>
          <a:solidFill>
            <a:srgbClr val="2C6E68"/>
          </a:solidFill>
          <a:ln w="12700">
            <a:solidFill>
              <a:srgbClr val="2C6E6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4944" y="1298448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每日 15 分钟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94944" y="1664208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看昨天线索、成交、发货、投诉、预警。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只处理异常，不讨论长问题。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输出当天 3 个优先事项。</a:t>
            </a:r>
            <a:endParaRPr lang="en-US" sz="1356" dirty="0"/>
          </a:p>
        </p:txBody>
      </p:sp>
      <p:sp>
        <p:nvSpPr>
          <p:cNvPr id="14" name="Shape 12"/>
          <p:cNvSpPr/>
          <p:nvPr/>
        </p:nvSpPr>
        <p:spPr>
          <a:xfrm>
            <a:off x="6195060" y="1133856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95060" y="1133856"/>
            <a:ext cx="5445252" cy="109728"/>
          </a:xfrm>
          <a:prstGeom prst="rect">
            <a:avLst/>
          </a:prstGeom>
          <a:solidFill>
            <a:srgbClr val="4A8F74"/>
          </a:solidFill>
          <a:ln w="12700">
            <a:solidFill>
              <a:srgbClr val="4A8F74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9652" y="1298448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每周经营会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359652" y="1664208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复盘渠道 ROI、成交漏斗、复购、内容表现、伙伴履约、风险清单。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同时更新这份行动方针 deck。</a:t>
            </a:r>
            <a:endParaRPr lang="en-US" sz="1356" dirty="0"/>
          </a:p>
        </p:txBody>
      </p:sp>
      <p:sp>
        <p:nvSpPr>
          <p:cNvPr id="18" name="Shape 16"/>
          <p:cNvSpPr/>
          <p:nvPr/>
        </p:nvSpPr>
        <p:spPr>
          <a:xfrm>
            <a:off x="530352" y="3781044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30352" y="3781044"/>
            <a:ext cx="5445252" cy="109728"/>
          </a:xfrm>
          <a:prstGeom prst="rect">
            <a:avLst/>
          </a:prstGeom>
          <a:solidFill>
            <a:srgbClr val="B3883B"/>
          </a:solidFill>
          <a:ln w="12700">
            <a:solidFill>
              <a:srgbClr val="B3883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4944" y="3945636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每月财务会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694944" y="4311396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复盘现金流、预算、利润结构、SKU 表现和应收应付。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重新排序下月投放与品类计划。</a:t>
            </a:r>
            <a:endParaRPr lang="en-US" sz="1356" dirty="0"/>
          </a:p>
        </p:txBody>
      </p:sp>
      <p:sp>
        <p:nvSpPr>
          <p:cNvPr id="22" name="Shape 20"/>
          <p:cNvSpPr/>
          <p:nvPr/>
        </p:nvSpPr>
        <p:spPr>
          <a:xfrm>
            <a:off x="6195060" y="3781044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95060" y="3781044"/>
            <a:ext cx="5445252" cy="109728"/>
          </a:xfrm>
          <a:prstGeom prst="rect">
            <a:avLst/>
          </a:prstGeom>
          <a:solidFill>
            <a:srgbClr val="5078A5"/>
          </a:solidFill>
          <a:ln w="12700">
            <a:solidFill>
              <a:srgbClr val="5078A5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59652" y="3945636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每季度战略会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6359652" y="4311396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决定是否扩渠道、扩品类、扩团队。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只有在模型跑顺后，才讨论规模化加速。</a:t>
            </a:r>
            <a:endParaRPr lang="en-US" sz="1356" dirty="0"/>
          </a:p>
        </p:txBody>
      </p:sp>
    </p:spTree>
  </p:cSld>
  <p:clrMapOvr>
    <a:masterClrMapping/>
  </p:clrMapOvr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C6E68"/>
          </a:solidFill>
          <a:ln w="12700">
            <a:solidFill>
              <a:srgbClr val="2C6E6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5603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合规框架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694944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757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合规不是法务部门的任务，而是平台商业模式的一部分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9893808" y="256032"/>
            <a:ext cx="1417320" cy="329184"/>
          </a:xfrm>
          <a:prstGeom prst="roundRect">
            <a:avLst>
              <a:gd name="adj" fmla="val 22222"/>
            </a:avLst>
          </a:prstGeom>
          <a:solidFill>
            <a:srgbClr val="DCEFE8"/>
          </a:solidFill>
          <a:ln w="12700">
            <a:solidFill>
              <a:srgbClr val="E6E1D8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93808" y="30175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6E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合规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30352" y="6473952"/>
            <a:ext cx="11109960" cy="0"/>
          </a:xfrm>
          <a:prstGeom prst="line">
            <a:avLst/>
          </a:prstGeom>
          <a:noFill/>
          <a:ln w="13970">
            <a:solidFill>
              <a:srgbClr val="E6E1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651967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757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内部行动方针版 | 来源：MediSlim-商业方案-v1.0 / MediSlim-OPC运营手册-v1.0 / 仓库业务文档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82528" y="647395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C6E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45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30352" y="1133856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30352" y="1133856"/>
            <a:ext cx="5445252" cy="109728"/>
          </a:xfrm>
          <a:prstGeom prst="rect">
            <a:avLst/>
          </a:prstGeom>
          <a:solidFill>
            <a:srgbClr val="2C6E68"/>
          </a:solidFill>
          <a:ln w="12700">
            <a:solidFill>
              <a:srgbClr val="2C6E6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4944" y="1298448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法规底座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94944" y="1664208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互联网诊疗管理办法、药品管理法、食品安全法、广告法、个保法、反不正当竞争法。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所有动作都要能落回法规依据。</a:t>
            </a:r>
            <a:endParaRPr lang="en-US" sz="1356" dirty="0"/>
          </a:p>
        </p:txBody>
      </p:sp>
      <p:sp>
        <p:nvSpPr>
          <p:cNvPr id="14" name="Shape 12"/>
          <p:cNvSpPr/>
          <p:nvPr/>
        </p:nvSpPr>
        <p:spPr>
          <a:xfrm>
            <a:off x="6195060" y="1133856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95060" y="1133856"/>
            <a:ext cx="5445252" cy="109728"/>
          </a:xfrm>
          <a:prstGeom prst="rect">
            <a:avLst/>
          </a:prstGeom>
          <a:solidFill>
            <a:srgbClr val="4A8F74"/>
          </a:solidFill>
          <a:ln w="12700">
            <a:solidFill>
              <a:srgbClr val="4A8F74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9652" y="1298448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主体结构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359652" y="1664208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公司主体做健康咨询、技术服务、食品销售等。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持牌互联网医院负责处方。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持牌药房负责药品经营。</a:t>
            </a:r>
            <a:endParaRPr lang="en-US" sz="1356" dirty="0"/>
          </a:p>
        </p:txBody>
      </p:sp>
      <p:sp>
        <p:nvSpPr>
          <p:cNvPr id="18" name="Shape 16"/>
          <p:cNvSpPr/>
          <p:nvPr/>
        </p:nvSpPr>
        <p:spPr>
          <a:xfrm>
            <a:off x="530352" y="3781044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30352" y="3781044"/>
            <a:ext cx="5445252" cy="109728"/>
          </a:xfrm>
          <a:prstGeom prst="rect">
            <a:avLst/>
          </a:prstGeom>
          <a:solidFill>
            <a:srgbClr val="B3883B"/>
          </a:solidFill>
          <a:ln w="12700">
            <a:solidFill>
              <a:srgbClr val="B3883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4944" y="3945636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宣传边界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694944" y="4311396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不说根治、最佳、唯一、国家级。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不夸大、不暗示治疗结果、不伪造医患关系。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公域只做可公开表述的内容。</a:t>
            </a:r>
            <a:endParaRPr lang="en-US" sz="1356" dirty="0"/>
          </a:p>
        </p:txBody>
      </p:sp>
      <p:sp>
        <p:nvSpPr>
          <p:cNvPr id="22" name="Shape 20"/>
          <p:cNvSpPr/>
          <p:nvPr/>
        </p:nvSpPr>
        <p:spPr>
          <a:xfrm>
            <a:off x="6195060" y="3781044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95060" y="3781044"/>
            <a:ext cx="5445252" cy="109728"/>
          </a:xfrm>
          <a:prstGeom prst="rect">
            <a:avLst/>
          </a:prstGeom>
          <a:solidFill>
            <a:srgbClr val="5078A5"/>
          </a:solidFill>
          <a:ln w="12700">
            <a:solidFill>
              <a:srgbClr val="5078A5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59652" y="3945636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数据边界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6359652" y="4311396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最小化采集、境内存储、分级授权、可追溯审计。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用户数据不是拿来“多卖货”，而是拿来提高服务质量。</a:t>
            </a:r>
            <a:endParaRPr lang="en-US" sz="1356" dirty="0"/>
          </a:p>
        </p:txBody>
      </p:sp>
    </p:spTree>
  </p:cSld>
  <p:clrMapOvr>
    <a:masterClrMapping/>
  </p:clrMapOvr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C6E68"/>
          </a:solidFill>
          <a:ln w="12700">
            <a:solidFill>
              <a:srgbClr val="2C6E6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5603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合规检查清单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694944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757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任何新动作上线前，都先走这张检查表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9893808" y="256032"/>
            <a:ext cx="1417320" cy="329184"/>
          </a:xfrm>
          <a:prstGeom prst="roundRect">
            <a:avLst>
              <a:gd name="adj" fmla="val 22222"/>
            </a:avLst>
          </a:prstGeom>
          <a:solidFill>
            <a:srgbClr val="DCEFE8"/>
          </a:solidFill>
          <a:ln w="12700">
            <a:solidFill>
              <a:srgbClr val="E6E1D8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93808" y="30175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6E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合规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30352" y="6473952"/>
            <a:ext cx="11109960" cy="0"/>
          </a:xfrm>
          <a:prstGeom prst="line">
            <a:avLst/>
          </a:prstGeom>
          <a:noFill/>
          <a:ln w="13970">
            <a:solidFill>
              <a:srgbClr val="E6E1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651967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757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内部行动方针版 | 来源：MediSlim-商业方案-v1.0 / MediSlim-OPC运营手册-v1.0 / 仓库业务文档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82528" y="647395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C6E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46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30352" y="1133856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30352" y="1133856"/>
            <a:ext cx="5445252" cy="109728"/>
          </a:xfrm>
          <a:prstGeom prst="rect">
            <a:avLst/>
          </a:prstGeom>
          <a:solidFill>
            <a:srgbClr val="2C6E68"/>
          </a:solidFill>
          <a:ln w="12700">
            <a:solidFill>
              <a:srgbClr val="2C6E6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4944" y="1298448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公司层面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94944" y="1664208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营业执照经营范围是否覆盖。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食品经营许可证是否齐备。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ICP/小程序/商户号是否合规配置。</a:t>
            </a:r>
            <a:endParaRPr lang="en-US" sz="1356" dirty="0"/>
          </a:p>
        </p:txBody>
      </p:sp>
      <p:sp>
        <p:nvSpPr>
          <p:cNvPr id="14" name="Shape 12"/>
          <p:cNvSpPr/>
          <p:nvPr/>
        </p:nvSpPr>
        <p:spPr>
          <a:xfrm>
            <a:off x="6195060" y="1133856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95060" y="1133856"/>
            <a:ext cx="5445252" cy="109728"/>
          </a:xfrm>
          <a:prstGeom prst="rect">
            <a:avLst/>
          </a:prstGeom>
          <a:solidFill>
            <a:srgbClr val="4A8F74"/>
          </a:solidFill>
          <a:ln w="12700">
            <a:solidFill>
              <a:srgbClr val="4A8F74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9652" y="1298448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产品层面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359652" y="1664208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是否需要处方。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是否需要蓝帽子或特殊资质。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标签、批次、说明书、供应商资质是否完整。</a:t>
            </a:r>
            <a:endParaRPr lang="en-US" sz="1356" dirty="0"/>
          </a:p>
        </p:txBody>
      </p:sp>
      <p:sp>
        <p:nvSpPr>
          <p:cNvPr id="18" name="Shape 16"/>
          <p:cNvSpPr/>
          <p:nvPr/>
        </p:nvSpPr>
        <p:spPr>
          <a:xfrm>
            <a:off x="530352" y="3781044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30352" y="3781044"/>
            <a:ext cx="5445252" cy="109728"/>
          </a:xfrm>
          <a:prstGeom prst="rect">
            <a:avLst/>
          </a:prstGeom>
          <a:solidFill>
            <a:srgbClr val="B3883B"/>
          </a:solidFill>
          <a:ln w="12700">
            <a:solidFill>
              <a:srgbClr val="B3883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4944" y="3945636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营销层面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694944" y="4311396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话术是否含禁词。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案例是否有授权。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是否存在效果夸大、前后对比误导、处方药公开营销。</a:t>
            </a:r>
            <a:endParaRPr lang="en-US" sz="1356" dirty="0"/>
          </a:p>
        </p:txBody>
      </p:sp>
      <p:sp>
        <p:nvSpPr>
          <p:cNvPr id="22" name="Shape 20"/>
          <p:cNvSpPr/>
          <p:nvPr/>
        </p:nvSpPr>
        <p:spPr>
          <a:xfrm>
            <a:off x="6195060" y="3781044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95060" y="3781044"/>
            <a:ext cx="5445252" cy="109728"/>
          </a:xfrm>
          <a:prstGeom prst="rect">
            <a:avLst/>
          </a:prstGeom>
          <a:solidFill>
            <a:srgbClr val="5078A5"/>
          </a:solidFill>
          <a:ln w="12700">
            <a:solidFill>
              <a:srgbClr val="5078A5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59652" y="3945636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数据与售后层面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6359652" y="4311396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是否有用户授权。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是否设定退款与投诉流程。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是否能留存沟通、支付、履约、审核记录。</a:t>
            </a:r>
            <a:endParaRPr lang="en-US" sz="1356" dirty="0"/>
          </a:p>
        </p:txBody>
      </p:sp>
    </p:spTree>
  </p:cSld>
  <p:clrMapOvr>
    <a:masterClrMapping/>
  </p:clrMapOvr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C6E68"/>
          </a:solidFill>
          <a:ln w="12700">
            <a:solidFill>
              <a:srgbClr val="2C6E6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5603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风险矩阵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694944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757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把风险分级，才能把资源花在真正会致命的地方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9893808" y="256032"/>
            <a:ext cx="1417320" cy="329184"/>
          </a:xfrm>
          <a:prstGeom prst="roundRect">
            <a:avLst>
              <a:gd name="adj" fmla="val 22222"/>
            </a:avLst>
          </a:prstGeom>
          <a:solidFill>
            <a:srgbClr val="DCEFE8"/>
          </a:solidFill>
          <a:ln w="12700">
            <a:solidFill>
              <a:srgbClr val="E6E1D8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93808" y="30175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6E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风控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30352" y="6473952"/>
            <a:ext cx="11109960" cy="0"/>
          </a:xfrm>
          <a:prstGeom prst="line">
            <a:avLst/>
          </a:prstGeom>
          <a:noFill/>
          <a:ln w="13970">
            <a:solidFill>
              <a:srgbClr val="E6E1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651967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757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内部行动方针版 | 来源：MediSlim-商业方案-v1.0 / MediSlim-OPC运营手册-v1.0 / 仓库业务文档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82528" y="647395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C6E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47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30352" y="1133856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30352" y="1133856"/>
            <a:ext cx="5445252" cy="109728"/>
          </a:xfrm>
          <a:prstGeom prst="rect">
            <a:avLst/>
          </a:prstGeom>
          <a:solidFill>
            <a:srgbClr val="2C6E68"/>
          </a:solidFill>
          <a:ln w="12700">
            <a:solidFill>
              <a:srgbClr val="2C6E6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4944" y="1298448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致命级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94944" y="1664208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无牌行医、假药风险、严重数据泄露。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处理原则：宁可停业务，也不能冒险上线。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必须由创始人直接把关。</a:t>
            </a:r>
            <a:endParaRPr lang="en-US" sz="1356" dirty="0"/>
          </a:p>
        </p:txBody>
      </p:sp>
      <p:sp>
        <p:nvSpPr>
          <p:cNvPr id="14" name="Shape 12"/>
          <p:cNvSpPr/>
          <p:nvPr/>
        </p:nvSpPr>
        <p:spPr>
          <a:xfrm>
            <a:off x="6195060" y="1133856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95060" y="1133856"/>
            <a:ext cx="5445252" cy="109728"/>
          </a:xfrm>
          <a:prstGeom prst="rect">
            <a:avLst/>
          </a:prstGeom>
          <a:solidFill>
            <a:srgbClr val="4A8F74"/>
          </a:solidFill>
          <a:ln w="12700">
            <a:solidFill>
              <a:srgbClr val="4A8F74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9652" y="1298448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重大级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359652" y="1664208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广告违规、合作医院终止、供应中断、平台封号、集中投诉。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处理原则：预案前置，至少保留一个备份方案。</a:t>
            </a:r>
            <a:endParaRPr lang="en-US" sz="1356" dirty="0"/>
          </a:p>
        </p:txBody>
      </p:sp>
      <p:sp>
        <p:nvSpPr>
          <p:cNvPr id="18" name="Shape 16"/>
          <p:cNvSpPr/>
          <p:nvPr/>
        </p:nvSpPr>
        <p:spPr>
          <a:xfrm>
            <a:off x="530352" y="3781044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30352" y="3781044"/>
            <a:ext cx="5445252" cy="109728"/>
          </a:xfrm>
          <a:prstGeom prst="rect">
            <a:avLst/>
          </a:prstGeom>
          <a:solidFill>
            <a:srgbClr val="B3883B"/>
          </a:solidFill>
          <a:ln w="12700">
            <a:solidFill>
              <a:srgbClr val="B3883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4944" y="3945636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中等级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694944" y="4311396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内容表现波动、客服响应下滑、个别渠道 ROI 下滑、个别产品退款偏高。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处理原则：通过数据与 SOP 快速修正。</a:t>
            </a:r>
            <a:endParaRPr lang="en-US" sz="1356" dirty="0"/>
          </a:p>
        </p:txBody>
      </p:sp>
      <p:sp>
        <p:nvSpPr>
          <p:cNvPr id="22" name="Shape 20"/>
          <p:cNvSpPr/>
          <p:nvPr/>
        </p:nvSpPr>
        <p:spPr>
          <a:xfrm>
            <a:off x="6195060" y="3781044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95060" y="3781044"/>
            <a:ext cx="5445252" cy="109728"/>
          </a:xfrm>
          <a:prstGeom prst="rect">
            <a:avLst/>
          </a:prstGeom>
          <a:solidFill>
            <a:srgbClr val="5078A5"/>
          </a:solidFill>
          <a:ln w="12700">
            <a:solidFill>
              <a:srgbClr val="5078A5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59652" y="3945636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风险共识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6359652" y="4311396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凡是可能伤害资质、现金流、口碑和核心伙伴关系的风险，都不能用短期 GMV 去换。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这是经营底线。</a:t>
            </a:r>
            <a:endParaRPr lang="en-US" sz="1356" dirty="0"/>
          </a:p>
        </p:txBody>
      </p:sp>
    </p:spTree>
  </p:cSld>
  <p:clrMapOvr>
    <a:masterClrMapping/>
  </p:clrMapOvr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C6E68"/>
          </a:solidFill>
          <a:ln w="12700">
            <a:solidFill>
              <a:srgbClr val="2C6E6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5603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应急手册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694944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757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最怕的不是出问题，而是出了问题没有统一动作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9893808" y="256032"/>
            <a:ext cx="1417320" cy="329184"/>
          </a:xfrm>
          <a:prstGeom prst="roundRect">
            <a:avLst>
              <a:gd name="adj" fmla="val 22222"/>
            </a:avLst>
          </a:prstGeom>
          <a:solidFill>
            <a:srgbClr val="DCEFE8"/>
          </a:solidFill>
          <a:ln w="12700">
            <a:solidFill>
              <a:srgbClr val="E6E1D8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93808" y="30175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6E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风控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30352" y="6473952"/>
            <a:ext cx="11109960" cy="0"/>
          </a:xfrm>
          <a:prstGeom prst="line">
            <a:avLst/>
          </a:prstGeom>
          <a:noFill/>
          <a:ln w="13970">
            <a:solidFill>
              <a:srgbClr val="E6E1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651967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757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内部行动方针版 | 来源：MediSlim-商业方案-v1.0 / MediSlim-OPC运营手册-v1.0 / 仓库业务文档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82528" y="647395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C6E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48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30352" y="1133856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30352" y="1133856"/>
            <a:ext cx="5445252" cy="109728"/>
          </a:xfrm>
          <a:prstGeom prst="rect">
            <a:avLst/>
          </a:prstGeom>
          <a:solidFill>
            <a:srgbClr val="2C6E68"/>
          </a:solidFill>
          <a:ln w="12700">
            <a:solidFill>
              <a:srgbClr val="2C6E6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4944" y="1298448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平台封号 / 限流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94944" y="1664208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立即停违规内容，切流量到其他平台与私域。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复盘违规素材和标题模板。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保留备用账号矩阵。</a:t>
            </a:r>
            <a:endParaRPr lang="en-US" sz="1356" dirty="0"/>
          </a:p>
        </p:txBody>
      </p:sp>
      <p:sp>
        <p:nvSpPr>
          <p:cNvPr id="14" name="Shape 12"/>
          <p:cNvSpPr/>
          <p:nvPr/>
        </p:nvSpPr>
        <p:spPr>
          <a:xfrm>
            <a:off x="6195060" y="1133856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95060" y="1133856"/>
            <a:ext cx="5445252" cy="109728"/>
          </a:xfrm>
          <a:prstGeom prst="rect">
            <a:avLst/>
          </a:prstGeom>
          <a:solidFill>
            <a:srgbClr val="4A8F74"/>
          </a:solidFill>
          <a:ln w="12700">
            <a:solidFill>
              <a:srgbClr val="4A8F74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9652" y="1298448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合作方突然中断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359652" y="1664208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启动备选互联网医院 / 供应商 / 药房。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冻结新单，优先服务已付款用户。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对外统一口径，避免信任塌陷。</a:t>
            </a:r>
            <a:endParaRPr lang="en-US" sz="1356" dirty="0"/>
          </a:p>
        </p:txBody>
      </p:sp>
      <p:sp>
        <p:nvSpPr>
          <p:cNvPr id="18" name="Shape 16"/>
          <p:cNvSpPr/>
          <p:nvPr/>
        </p:nvSpPr>
        <p:spPr>
          <a:xfrm>
            <a:off x="530352" y="3781044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30352" y="3781044"/>
            <a:ext cx="5445252" cy="109728"/>
          </a:xfrm>
          <a:prstGeom prst="rect">
            <a:avLst/>
          </a:prstGeom>
          <a:solidFill>
            <a:srgbClr val="B3883B"/>
          </a:solidFill>
          <a:ln w="12700">
            <a:solidFill>
              <a:srgbClr val="B3883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4944" y="3945636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用户集中投诉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694944" y="4311396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统一接诉窗口，核查问题批次、方案、话术和履约记录。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必要时先退费再复盘，绝不让投诉升级成舆情。</a:t>
            </a:r>
            <a:endParaRPr lang="en-US" sz="1356" dirty="0"/>
          </a:p>
        </p:txBody>
      </p:sp>
      <p:sp>
        <p:nvSpPr>
          <p:cNvPr id="22" name="Shape 20"/>
          <p:cNvSpPr/>
          <p:nvPr/>
        </p:nvSpPr>
        <p:spPr>
          <a:xfrm>
            <a:off x="6195060" y="3781044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95060" y="3781044"/>
            <a:ext cx="5445252" cy="109728"/>
          </a:xfrm>
          <a:prstGeom prst="rect">
            <a:avLst/>
          </a:prstGeom>
          <a:solidFill>
            <a:srgbClr val="5078A5"/>
          </a:solidFill>
          <a:ln w="12700">
            <a:solidFill>
              <a:srgbClr val="5078A5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59652" y="3945636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数据与隐私事件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6359652" y="4311396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立即止损、封禁权限、排查日志、通知相关方。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形成书面复盘，更新权限与加密流程。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这类问题只能零容忍。</a:t>
            </a:r>
            <a:endParaRPr lang="en-US" sz="1356" dirty="0"/>
          </a:p>
        </p:txBody>
      </p:sp>
    </p:spTree>
  </p:cSld>
  <p:clrMapOvr>
    <a:masterClrMapping/>
  </p:clrMapOvr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C6E68"/>
          </a:solidFill>
          <a:ln w="12700">
            <a:solidFill>
              <a:srgbClr val="2C6E6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5603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30 天启动计划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694944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757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第一个月不是把所有事情做完，而是把关键链路跑通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9893808" y="256032"/>
            <a:ext cx="1417320" cy="329184"/>
          </a:xfrm>
          <a:prstGeom prst="roundRect">
            <a:avLst>
              <a:gd name="adj" fmla="val 22222"/>
            </a:avLst>
          </a:prstGeom>
          <a:solidFill>
            <a:srgbClr val="DCEFE8"/>
          </a:solidFill>
          <a:ln w="12700">
            <a:solidFill>
              <a:srgbClr val="E6E1D8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93808" y="30175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6E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执行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30352" y="6473952"/>
            <a:ext cx="11109960" cy="0"/>
          </a:xfrm>
          <a:prstGeom prst="line">
            <a:avLst/>
          </a:prstGeom>
          <a:noFill/>
          <a:ln w="13970">
            <a:solidFill>
              <a:srgbClr val="E6E1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651967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757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内部行动方针版 | 来源：MediSlim-商业方案-v1.0 / MediSlim-OPC运营手册-v1.0 / 仓库业务文档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82528" y="647395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C6E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49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30352" y="1133856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30352" y="1133856"/>
            <a:ext cx="5445252" cy="109728"/>
          </a:xfrm>
          <a:prstGeom prst="rect">
            <a:avLst/>
          </a:prstGeom>
          <a:solidFill>
            <a:srgbClr val="2C6E68"/>
          </a:solidFill>
          <a:ln w="12700">
            <a:solidFill>
              <a:srgbClr val="2C6E6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4944" y="1298448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Week 1 产品与系统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94944" y="1664208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确认商业模型、评估流程、下单流程、后台看板。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把当前仓库能力整理成可演示、可内测版本。</a:t>
            </a:r>
            <a:endParaRPr lang="en-US" sz="1356" dirty="0"/>
          </a:p>
        </p:txBody>
      </p:sp>
      <p:sp>
        <p:nvSpPr>
          <p:cNvPr id="14" name="Shape 12"/>
          <p:cNvSpPr/>
          <p:nvPr/>
        </p:nvSpPr>
        <p:spPr>
          <a:xfrm>
            <a:off x="6195060" y="1133856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95060" y="1133856"/>
            <a:ext cx="5445252" cy="109728"/>
          </a:xfrm>
          <a:prstGeom prst="rect">
            <a:avLst/>
          </a:prstGeom>
          <a:solidFill>
            <a:srgbClr val="4A8F74"/>
          </a:solidFill>
          <a:ln w="12700">
            <a:solidFill>
              <a:srgbClr val="4A8F74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9652" y="1298448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Week 2 供应链与合规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359652" y="1664208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联系 2-3 家互联网医院。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敲定药食同源和保健品供应商。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同步推进资质与合同模板。</a:t>
            </a:r>
            <a:endParaRPr lang="en-US" sz="1356" dirty="0"/>
          </a:p>
        </p:txBody>
      </p:sp>
      <p:sp>
        <p:nvSpPr>
          <p:cNvPr id="18" name="Shape 16"/>
          <p:cNvSpPr/>
          <p:nvPr/>
        </p:nvSpPr>
        <p:spPr>
          <a:xfrm>
            <a:off x="530352" y="3781044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30352" y="3781044"/>
            <a:ext cx="5445252" cy="109728"/>
          </a:xfrm>
          <a:prstGeom prst="rect">
            <a:avLst/>
          </a:prstGeom>
          <a:solidFill>
            <a:srgbClr val="B3883B"/>
          </a:solidFill>
          <a:ln w="12700">
            <a:solidFill>
              <a:srgbClr val="B3883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4944" y="3945636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Week 3 内容与流量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694944" y="4311396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搭小红书矩阵、抖音号、公众号与企微社群。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准备第一批内容和转化路径。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开始小规模测试。</a:t>
            </a:r>
            <a:endParaRPr lang="en-US" sz="1356" dirty="0"/>
          </a:p>
        </p:txBody>
      </p:sp>
      <p:sp>
        <p:nvSpPr>
          <p:cNvPr id="22" name="Shape 20"/>
          <p:cNvSpPr/>
          <p:nvPr/>
        </p:nvSpPr>
        <p:spPr>
          <a:xfrm>
            <a:off x="6195060" y="3781044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95060" y="3781044"/>
            <a:ext cx="5445252" cy="109728"/>
          </a:xfrm>
          <a:prstGeom prst="rect">
            <a:avLst/>
          </a:prstGeom>
          <a:solidFill>
            <a:srgbClr val="5078A5"/>
          </a:solidFill>
          <a:ln w="12700">
            <a:solidFill>
              <a:srgbClr val="5078A5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59652" y="3945636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Week 4 内测与上线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6359652" y="4311396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邀请 100 人内测。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修问题、补 FAQ、看数据。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在确认履约和投诉可控后，再开始正式投放。</a:t>
            </a:r>
            <a:endParaRPr lang="en-US" sz="1356" dirty="0"/>
          </a:p>
        </p:txBody>
      </p:sp>
    </p:spTree>
  </p:cSld>
  <p:clrMapOvr>
    <a:masterClrMapping/>
  </p:clrMapOvr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C6E68"/>
          </a:solidFill>
          <a:ln w="12700">
            <a:solidFill>
              <a:srgbClr val="2C6E6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5603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未来 90 天路线与行动方针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694944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757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最后一页不是总结，而是未来 3 个月的决策标准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9893808" y="256032"/>
            <a:ext cx="1417320" cy="329184"/>
          </a:xfrm>
          <a:prstGeom prst="roundRect">
            <a:avLst>
              <a:gd name="adj" fmla="val 22222"/>
            </a:avLst>
          </a:prstGeom>
          <a:solidFill>
            <a:srgbClr val="DCEFE8"/>
          </a:solidFill>
          <a:ln w="12700">
            <a:solidFill>
              <a:srgbClr val="E6E1D8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93808" y="30175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6E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执行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30352" y="6473952"/>
            <a:ext cx="11109960" cy="0"/>
          </a:xfrm>
          <a:prstGeom prst="line">
            <a:avLst/>
          </a:prstGeom>
          <a:noFill/>
          <a:ln w="13970">
            <a:solidFill>
              <a:srgbClr val="E6E1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651967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757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内部行动方针版 | 来源：MediSlim-商业方案-v1.0 / MediSlim-OPC运营手册-v1.0 / 仓库业务文档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82528" y="647395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C6E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50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30352" y="1133856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30352" y="1133856"/>
            <a:ext cx="5445252" cy="109728"/>
          </a:xfrm>
          <a:prstGeom prst="rect">
            <a:avLst/>
          </a:prstGeom>
          <a:solidFill>
            <a:srgbClr val="2C6E68"/>
          </a:solidFill>
          <a:ln w="12700">
            <a:solidFill>
              <a:srgbClr val="2C6E6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4944" y="1298448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D1-D30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94944" y="1664208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完成最小闭环：内容 → 留资 → 评估 → 支付 → 履约 → 随访。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目标：证明这不是只会出内容的空系统。</a:t>
            </a:r>
            <a:endParaRPr lang="en-US" sz="1356" dirty="0"/>
          </a:p>
        </p:txBody>
      </p:sp>
      <p:sp>
        <p:nvSpPr>
          <p:cNvPr id="14" name="Shape 12"/>
          <p:cNvSpPr/>
          <p:nvPr/>
        </p:nvSpPr>
        <p:spPr>
          <a:xfrm>
            <a:off x="6195060" y="1133856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95060" y="1133856"/>
            <a:ext cx="5445252" cy="109728"/>
          </a:xfrm>
          <a:prstGeom prst="rect">
            <a:avLst/>
          </a:prstGeom>
          <a:solidFill>
            <a:srgbClr val="4A8F74"/>
          </a:solidFill>
          <a:ln w="12700">
            <a:solidFill>
              <a:srgbClr val="4A8F74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9652" y="1298448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D31-D60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359652" y="1664208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固定主打品类与主打渠道。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补齐企微节奏、顾问话术、自动提醒、伙伴协同。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目标：跑出第一条可复制链路。</a:t>
            </a:r>
            <a:endParaRPr lang="en-US" sz="1356" dirty="0"/>
          </a:p>
        </p:txBody>
      </p:sp>
      <p:sp>
        <p:nvSpPr>
          <p:cNvPr id="18" name="Shape 16"/>
          <p:cNvSpPr/>
          <p:nvPr/>
        </p:nvSpPr>
        <p:spPr>
          <a:xfrm>
            <a:off x="530352" y="3781044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30352" y="3781044"/>
            <a:ext cx="5445252" cy="109728"/>
          </a:xfrm>
          <a:prstGeom prst="rect">
            <a:avLst/>
          </a:prstGeom>
          <a:solidFill>
            <a:srgbClr val="B3883B"/>
          </a:solidFill>
          <a:ln w="12700">
            <a:solidFill>
              <a:srgbClr val="B3883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4944" y="3945636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D61-D90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694944" y="4311396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放大第二圈和第三圈，谨慎导入处方类私域服务。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开始看 MRR、复购和组合盒表现。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目标：形成正向经营飞轮。</a:t>
            </a:r>
            <a:endParaRPr lang="en-US" sz="1356" dirty="0"/>
          </a:p>
        </p:txBody>
      </p:sp>
      <p:sp>
        <p:nvSpPr>
          <p:cNvPr id="22" name="Shape 20"/>
          <p:cNvSpPr/>
          <p:nvPr/>
        </p:nvSpPr>
        <p:spPr>
          <a:xfrm>
            <a:off x="6195060" y="3781044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95060" y="3781044"/>
            <a:ext cx="5445252" cy="109728"/>
          </a:xfrm>
          <a:prstGeom prst="rect">
            <a:avLst/>
          </a:prstGeom>
          <a:solidFill>
            <a:srgbClr val="5078A5"/>
          </a:solidFill>
          <a:ln w="12700">
            <a:solidFill>
              <a:srgbClr val="5078A5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59652" y="3945636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6 条行动方针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6359652" y="4311396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合规优先于规模；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复购优先于首单；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现金流优先于利润幻想；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系统优先于人肉补洞；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数据优先于感觉；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慢一点没关系，但边界不能错。</a:t>
            </a:r>
            <a:endParaRPr lang="en-US" sz="1356" dirty="0"/>
          </a:p>
        </p:txBody>
      </p:sp>
    </p:spTree>
  </p:cSld>
  <p:clrMapOvr>
    <a:masterClrMapping/>
  </p:clrMapOvr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