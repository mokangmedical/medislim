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0350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6187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 页董事会版 / 融资版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901952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9E8E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中国版 Medvi 的 AI 消费医疗平台：以三圈产品、轻资产履约和 OPC 运营系统构建订阅型健康生意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3977640"/>
            <a:ext cx="1783080" cy="1152144"/>
          </a:xfrm>
          <a:prstGeom prst="roundRect">
            <a:avLst>
              <a:gd name="adj" fmla="val 6349"/>
            </a:avLst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1148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三圈模型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43708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处方建立信任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药食同源做复购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保健品拉利润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651760" y="3977640"/>
            <a:ext cx="1783080" cy="1152144"/>
          </a:xfrm>
          <a:prstGeom prst="roundRect">
            <a:avLst>
              <a:gd name="adj" fmla="val 6349"/>
            </a:avLst>
          </a:prstGeom>
          <a:solidFill>
            <a:srgbClr val="4E9177"/>
          </a:solidFill>
          <a:ln w="12700">
            <a:solidFill>
              <a:srgbClr val="4E917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1148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组织模式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43708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 人 + AI 驱动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持牌与履约外包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系统替代部门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645152" y="3977640"/>
            <a:ext cx="1783080" cy="1152144"/>
          </a:xfrm>
          <a:prstGeom prst="roundRect">
            <a:avLst>
              <a:gd name="adj" fmla="val 6349"/>
            </a:avLst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41148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财务假设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43708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M12 目标 1 万付费用户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 765 万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净利率目标 25-30%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26680" y="914400"/>
            <a:ext cx="3822192" cy="4572000"/>
          </a:xfrm>
          <a:prstGeom prst="roundRect">
            <a:avLst>
              <a:gd name="adj" fmla="val 2871"/>
            </a:avLst>
          </a:prstGeom>
          <a:solidFill>
            <a:srgbClr val="254C47"/>
          </a:solidFill>
          <a:ln w="12700">
            <a:solidFill>
              <a:srgbClr val="3C5A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3167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投资摘要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1755648"/>
            <a:ext cx="30906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76" dirty="0">
                <a:solidFill>
                  <a:srgbClr val="E6F0E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需求侧：减重、亚健康、女性调养、睡眠与肠胃都在持续消费化。</a:t>
            </a:r>
            <a:endParaRPr lang="en-US" sz="1376" dirty="0"/>
          </a:p>
          <a:p>
            <a:pPr indent="0" marL="0">
              <a:buNone/>
            </a:pPr>
            <a:r>
              <a:rPr lang="en-US" sz="1376" dirty="0">
                <a:solidFill>
                  <a:srgbClr val="E6F0E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模型侧：中国可以用药食同源和体质辨识完成 Medvi 在美国做不到的复购设计。</a:t>
            </a:r>
            <a:endParaRPr lang="en-US" sz="1376" dirty="0"/>
          </a:p>
          <a:p>
            <a:pPr indent="0" marL="0">
              <a:buNone/>
            </a:pPr>
            <a:r>
              <a:rPr lang="en-US" sz="1376" dirty="0">
                <a:solidFill>
                  <a:srgbClr val="E6F0E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合规侧：我们不做医疗主体，只做流量、评估、CRM 和复购管理。</a:t>
            </a:r>
            <a:endParaRPr lang="en-US" sz="1376" dirty="0"/>
          </a:p>
          <a:p>
            <a:pPr indent="0" marL="0">
              <a:buNone/>
            </a:pPr>
            <a:r>
              <a:rPr lang="en-US" sz="1376" dirty="0">
                <a:solidFill>
                  <a:srgbClr val="E6F0E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4. 经营侧：先打爆第二圈，再导向第三圈和第一圈，降低冷启动难度。</a:t>
            </a:r>
            <a:endParaRPr lang="en-US" sz="1376" dirty="0"/>
          </a:p>
          <a:p>
            <a:pPr indent="0" marL="0">
              <a:buNone/>
            </a:pPr>
            <a:r>
              <a:rPr lang="en-US" sz="1376" dirty="0">
                <a:solidFill>
                  <a:srgbClr val="E6F0E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5. 本版用途：用于董事会判断 90 天计划、融资准备与关键合作优先级。</a:t>
            </a:r>
            <a:endParaRPr lang="en-US" sz="1376" dirty="0"/>
          </a:p>
        </p:txBody>
      </p:sp>
      <p:sp>
        <p:nvSpPr>
          <p:cNvPr id="18" name="Text 16"/>
          <p:cNvSpPr/>
          <p:nvPr/>
        </p:nvSpPr>
        <p:spPr>
          <a:xfrm>
            <a:off x="658368" y="627278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7D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注：本 deck 中财务与增长数字均基于现有商业方案和仓库文档的内部经营测算。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11045952" y="645566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为什么现在值得投 / 值得做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董事会真正要判断的不是“能不能做”，而是“这是不是一个能成立的中国化模型”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058400" y="25603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DCEFE7"/>
          </a:solidFill>
          <a:ln w="12700">
            <a:solidFill>
              <a:srgbClr val="EE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2926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机会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455664"/>
            <a:ext cx="11119104" cy="0"/>
          </a:xfrm>
          <a:prstGeom prst="line">
            <a:avLst/>
          </a:prstGeom>
          <a:noFill/>
          <a:ln w="12700">
            <a:solidFill>
              <a:srgbClr val="DDD8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013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| 董事会版 / 融资版 | 预测数据均为内部经营测算，外发前需标注已验证数据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170432"/>
            <a:ext cx="274320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70432"/>
            <a:ext cx="2743200" cy="100584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3533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赛道变化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" y="1682496"/>
            <a:ext cx="24140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医疗消费化已经从单次看病转向长期管理。减重、亚健康、睡眠、女性调养与轻营养都在从“治疗需求”变成“持续付费需求”。</a:t>
            </a:r>
            <a:endParaRPr lang="en-US" sz="1316" dirty="0"/>
          </a:p>
        </p:txBody>
      </p:sp>
      <p:sp>
        <p:nvSpPr>
          <p:cNvPr id="14" name="Shape 12"/>
          <p:cNvSpPr/>
          <p:nvPr/>
        </p:nvSpPr>
        <p:spPr>
          <a:xfrm>
            <a:off x="3438144" y="1170432"/>
            <a:ext cx="274320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38144" y="1170432"/>
            <a:ext cx="2743200" cy="100584"/>
          </a:xfrm>
          <a:prstGeom prst="rect">
            <a:avLst/>
          </a:prstGeom>
          <a:solidFill>
            <a:srgbClr val="4E9177"/>
          </a:solidFill>
          <a:ln w="12700">
            <a:solidFill>
              <a:srgbClr val="4E917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3533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中国化机会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02736" y="1682496"/>
            <a:ext cx="24140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美国 Medvi 主要靠 GLP-1 和远程处方。中国如果只复制处方路径，会受平台与合规约束；加入药食同源和体质辨识后，冷启动效率更高。</a:t>
            </a:r>
            <a:endParaRPr lang="en-US" sz="1316" dirty="0"/>
          </a:p>
        </p:txBody>
      </p:sp>
      <p:sp>
        <p:nvSpPr>
          <p:cNvPr id="18" name="Shape 16"/>
          <p:cNvSpPr/>
          <p:nvPr/>
        </p:nvSpPr>
        <p:spPr>
          <a:xfrm>
            <a:off x="6345936" y="1170432"/>
            <a:ext cx="274320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45936" y="1170432"/>
            <a:ext cx="2743200" cy="100584"/>
          </a:xfrm>
          <a:prstGeom prst="rect">
            <a:avLst/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3533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差异化护城河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0528" y="1682496"/>
            <a:ext cx="24140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真正的壁垒不是某个单品，而是：体质辨识、订阅盒、企微陪伴、状态机运营、用户健康数据和低成本 AI 自动化。</a:t>
            </a:r>
            <a:endParaRPr lang="en-US" sz="1316" dirty="0"/>
          </a:p>
        </p:txBody>
      </p:sp>
      <p:sp>
        <p:nvSpPr>
          <p:cNvPr id="22" name="Shape 20"/>
          <p:cNvSpPr/>
          <p:nvPr/>
        </p:nvSpPr>
        <p:spPr>
          <a:xfrm>
            <a:off x="9253728" y="1170432"/>
            <a:ext cx="2386584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53728" y="1170432"/>
            <a:ext cx="2386584" cy="100584"/>
          </a:xfrm>
          <a:prstGeom prst="rect">
            <a:avLst/>
          </a:prstGeom>
          <a:solidFill>
            <a:srgbClr val="5B84B1"/>
          </a:solidFill>
          <a:ln w="12700">
            <a:solidFill>
              <a:srgbClr val="5B84B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13533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边界清晰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418320" y="1682496"/>
            <a:ext cx="20574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我们不是医疗主体。处方、问诊、药品经营全部归合作方；我们只做品牌、流量、评估、CRM、复购。</a:t>
            </a:r>
            <a:endParaRPr lang="en-US" sz="1276" dirty="0"/>
          </a:p>
        </p:txBody>
      </p:sp>
      <p:sp>
        <p:nvSpPr>
          <p:cNvPr id="26" name="Shape 24"/>
          <p:cNvSpPr/>
          <p:nvPr/>
        </p:nvSpPr>
        <p:spPr>
          <a:xfrm>
            <a:off x="530352" y="3602736"/>
            <a:ext cx="5559552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" y="3602736"/>
            <a:ext cx="5559552" cy="100584"/>
          </a:xfrm>
          <a:prstGeom prst="rect">
            <a:avLst/>
          </a:prstGeom>
          <a:solidFill>
            <a:srgbClr val="BC6652"/>
          </a:solidFill>
          <a:ln w="12700">
            <a:solidFill>
              <a:srgbClr val="BC665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3785616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商业模式判断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4944" y="4114800"/>
            <a:ext cx="523036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如果先打处方类，会面临高 CAC、高合规压力和高解释成本；如果先打第二圈与第三圈，就能用更低门槛的内容获取用户，再把高意愿人群导入处方私域。这是整套模型能跑起来的关键顺序。</a:t>
            </a:r>
            <a:endParaRPr lang="en-US" sz="1335" dirty="0"/>
          </a:p>
        </p:txBody>
      </p:sp>
      <p:sp>
        <p:nvSpPr>
          <p:cNvPr id="30" name="Shape 28"/>
          <p:cNvSpPr/>
          <p:nvPr/>
        </p:nvSpPr>
        <p:spPr>
          <a:xfrm>
            <a:off x="6309360" y="3602736"/>
            <a:ext cx="5330952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602736"/>
            <a:ext cx="5330952" cy="100584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3785616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董事会当前应关心的 3 个问题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73952" y="4114800"/>
            <a:ext cx="500176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我们是否同意“第二圈优先”的冷启动顺序。</a:t>
            </a:r>
            <a:endParaRPr lang="en-US" sz="1397" dirty="0"/>
          </a:p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我们是否接受“流量+技术服务公司”的主体边界。</a:t>
            </a:r>
            <a:endParaRPr lang="en-US" sz="1397" dirty="0"/>
          </a:p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我们是否愿意先用 90 天验证模型，再决定规模化投入。</a:t>
            </a:r>
            <a:endParaRPr lang="en-US" sz="139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我们怎么赚钱，以及为什么这个模型有机会成立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把业务拆成收入引擎、单位经济和 12 个月经营节奏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058400" y="25603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DCEFE7"/>
          </a:solidFill>
          <a:ln w="12700">
            <a:solidFill>
              <a:srgbClr val="EE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2926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455664"/>
            <a:ext cx="11119104" cy="0"/>
          </a:xfrm>
          <a:prstGeom prst="line">
            <a:avLst/>
          </a:prstGeom>
          <a:noFill/>
          <a:ln w="12700">
            <a:solidFill>
              <a:srgbClr val="DDD8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013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| 董事会版 / 融资版 | 预测数据均为内部经营测算，外发前需标注已验证数据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170432"/>
            <a:ext cx="3703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70432"/>
            <a:ext cx="3703320" cy="100584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35331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三圈收入引擎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" y="1682496"/>
            <a:ext cx="33741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第一圈：处方医疗，建立专业信任。</a:t>
            </a:r>
            <a:endParaRPr lang="en-US" sz="1397" dirty="0"/>
          </a:p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第二圈：药食同源，高频复购，冷启动现金流核心。</a:t>
            </a:r>
            <a:endParaRPr lang="en-US" sz="1397" dirty="0"/>
          </a:p>
          <a:p>
            <a:pPr indent="0" marL="0">
              <a:buNone/>
            </a:pPr>
            <a:r>
              <a:rPr lang="en-US" sz="1397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第三圈：保健品，提高客单价和毛利率。</a:t>
            </a:r>
            <a:endParaRPr lang="en-US" sz="1397" dirty="0"/>
          </a:p>
        </p:txBody>
      </p:sp>
      <p:sp>
        <p:nvSpPr>
          <p:cNvPr id="14" name="Shape 12"/>
          <p:cNvSpPr/>
          <p:nvPr/>
        </p:nvSpPr>
        <p:spPr>
          <a:xfrm>
            <a:off x="530352" y="3310128"/>
            <a:ext cx="3703320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310128"/>
            <a:ext cx="3703320" cy="100584"/>
          </a:xfrm>
          <a:prstGeom prst="rect">
            <a:avLst/>
          </a:prstGeom>
          <a:solidFill>
            <a:srgbClr val="4E9177"/>
          </a:solidFill>
          <a:ln w="12700">
            <a:solidFill>
              <a:srgbClr val="4E917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493008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单位经济摘要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" y="3822192"/>
            <a:ext cx="3374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处方药单：首月 ¥399 / 续费 ¥599，续费毛利约 42.4%。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药食同源单：¥168 / 月，月毛利约 42.3%。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保健品单：¥198 / 月，月毛利约 46%。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结论：真正决定模型成立的不是首单毛利，而是 30 日复购和组合加购。</a:t>
            </a:r>
            <a:endParaRPr lang="en-US" sz="1296" dirty="0"/>
          </a:p>
        </p:txBody>
      </p:sp>
      <p:sp>
        <p:nvSpPr>
          <p:cNvPr id="18" name="Shape 16"/>
          <p:cNvSpPr/>
          <p:nvPr/>
        </p:nvSpPr>
        <p:spPr>
          <a:xfrm>
            <a:off x="4480560" y="1170432"/>
            <a:ext cx="3657600" cy="47183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170432"/>
            <a:ext cx="3657600" cy="100584"/>
          </a:xfrm>
          <a:prstGeom prst="rect">
            <a:avLst/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3533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 个月经营测算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45152" y="1682496"/>
            <a:ext cx="3328416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M1：100 付费用户，月收入约 7.65 万。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M3：500 用户，月收入约 38.25 万。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M6：2,000 用户，月收入约 153 万。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M9：5,000 用户，月收入约 382.5 万。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M12：10,000 用户，月收入约 765 万，净利率目标 25-30%。</a:t>
            </a:r>
            <a:endParaRPr lang="en-US" sz="1316" dirty="0"/>
          </a:p>
          <a:p>
            <a:pPr indent="0" marL="0">
              <a:buNone/>
            </a:pP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这些数字当前属于经营目标，不是已验证业绩。</a:t>
            </a:r>
            <a:endParaRPr lang="en-US" sz="1316" dirty="0"/>
          </a:p>
        </p:txBody>
      </p:sp>
      <p:sp>
        <p:nvSpPr>
          <p:cNvPr id="22" name="Shape 20"/>
          <p:cNvSpPr/>
          <p:nvPr/>
        </p:nvSpPr>
        <p:spPr>
          <a:xfrm>
            <a:off x="8385048" y="1170432"/>
            <a:ext cx="3255264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85048" y="1170432"/>
            <a:ext cx="3255264" cy="100584"/>
          </a:xfrm>
          <a:prstGeom prst="rect">
            <a:avLst/>
          </a:prstGeom>
          <a:solidFill>
            <a:srgbClr val="5B84B1"/>
          </a:solidFill>
          <a:ln w="12700">
            <a:solidFill>
              <a:srgbClr val="5B84B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成本结构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49640" y="1682496"/>
            <a:ext cx="2926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产品成本约 25%，流量获客约 20%，合作方分成约 8%，物流约 5%，AI 系统约 2%，人力约 5%。</a:t>
            </a:r>
            <a:endParaRPr lang="en-US" sz="1276" dirty="0"/>
          </a:p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轻资产结构是利润空间的前提。</a:t>
            </a:r>
            <a:endParaRPr lang="en-US" sz="1276" dirty="0"/>
          </a:p>
        </p:txBody>
      </p:sp>
      <p:sp>
        <p:nvSpPr>
          <p:cNvPr id="26" name="Shape 24"/>
          <p:cNvSpPr/>
          <p:nvPr/>
        </p:nvSpPr>
        <p:spPr>
          <a:xfrm>
            <a:off x="8385048" y="3675888"/>
            <a:ext cx="325526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85048" y="3675888"/>
            <a:ext cx="3255264" cy="100584"/>
          </a:xfrm>
          <a:prstGeom prst="rect">
            <a:avLst/>
          </a:prstGeom>
          <a:solidFill>
            <a:srgbClr val="BC6652"/>
          </a:solidFill>
          <a:ln w="12700">
            <a:solidFill>
              <a:srgbClr val="BC665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3858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融资视角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49640" y="4187952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投资逻辑不是“卖货 GMV”，而是“可持续 MRR 生意”。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只要 CAC 可控、复购成立、伙伴稳定，这就是一个能滚起来的订阅型平台。</a:t>
            </a:r>
            <a:endParaRPr lang="en-US" sz="129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增长与运营系统：为什么一人公司仍能推进这件事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关键不在于人少，而在于把重复性工作交给系统和合作网络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058400" y="25603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DCEFE7"/>
          </a:solidFill>
          <a:ln w="12700">
            <a:solidFill>
              <a:srgbClr val="EE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2926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455664"/>
            <a:ext cx="11119104" cy="0"/>
          </a:xfrm>
          <a:prstGeom prst="line">
            <a:avLst/>
          </a:prstGeom>
          <a:noFill/>
          <a:ln w="12700">
            <a:solidFill>
              <a:srgbClr val="DDD8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013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| 董事会版 / 融资版 | 预测数据均为内部经营测算，外发前需标注已验证数据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170432"/>
            <a:ext cx="3794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70432"/>
            <a:ext cx="3794760" cy="100584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3533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增长漏斗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" y="1682496"/>
            <a:ext cx="346557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公域内容（小红书 / 抖音 / 微信）→ H5 留资 → AI 评估 → 企微顾问 → 支付成交 → 随访复购 → 裂变。</a:t>
            </a:r>
            <a:endParaRPr lang="en-US" sz="1355" dirty="0"/>
          </a:p>
          <a:p>
            <a:pPr indent="0" marL="0">
              <a:buNone/>
            </a:pPr>
            <a:r>
              <a:rPr lang="en-US" sz="135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公域做兴趣，私域做成交，社群做留存。</a:t>
            </a:r>
            <a:endParaRPr lang="en-US" sz="1355" dirty="0"/>
          </a:p>
        </p:txBody>
      </p:sp>
      <p:sp>
        <p:nvSpPr>
          <p:cNvPr id="14" name="Shape 12"/>
          <p:cNvSpPr/>
          <p:nvPr/>
        </p:nvSpPr>
        <p:spPr>
          <a:xfrm>
            <a:off x="530352" y="3566160"/>
            <a:ext cx="3794760" cy="2322576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566160"/>
            <a:ext cx="3794760" cy="100584"/>
          </a:xfrm>
          <a:prstGeom prst="rect">
            <a:avLst/>
          </a:prstGeom>
          <a:solidFill>
            <a:srgbClr val="4E9177"/>
          </a:solidFill>
          <a:ln w="12700">
            <a:solidFill>
              <a:srgbClr val="4E917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74904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四层架构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" y="4078224"/>
            <a:ext cx="346557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Agent 层：内容、客服、运营、数据。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工具层：评估系统、业务流、后台、内容引擎。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合作层：医院、药房、工厂、物流、支付。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人层：创始人只做决策、谈判、合规与关键升级。</a:t>
            </a:r>
            <a:endParaRPr lang="en-US" sz="1296" dirty="0"/>
          </a:p>
        </p:txBody>
      </p:sp>
      <p:sp>
        <p:nvSpPr>
          <p:cNvPr id="18" name="Shape 16"/>
          <p:cNvSpPr/>
          <p:nvPr/>
        </p:nvSpPr>
        <p:spPr>
          <a:xfrm>
            <a:off x="4572000" y="1170432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170432"/>
            <a:ext cx="3456432" cy="100584"/>
          </a:xfrm>
          <a:prstGeom prst="rect">
            <a:avLst/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3533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90 天重点里程碑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36592" y="1682496"/>
            <a:ext cx="312724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D1-D30：跑通最小闭环。</a:t>
            </a:r>
            <a:endParaRPr lang="en-US" sz="1355" dirty="0"/>
          </a:p>
          <a:p>
            <a:pPr indent="0" marL="0">
              <a:buNone/>
            </a:pPr>
            <a:r>
              <a:rPr lang="en-US" sz="135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D31-D60：固定主打品类和主打渠道。</a:t>
            </a:r>
            <a:endParaRPr lang="en-US" sz="1355" dirty="0"/>
          </a:p>
          <a:p>
            <a:pPr indent="0" marL="0">
              <a:buNone/>
            </a:pPr>
            <a:r>
              <a:rPr lang="en-US" sz="135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D61-D90：放大第二圈和第三圈，谨慎引入处方私域服务。</a:t>
            </a:r>
            <a:endParaRPr lang="en-US" sz="1355" dirty="0"/>
          </a:p>
        </p:txBody>
      </p:sp>
      <p:sp>
        <p:nvSpPr>
          <p:cNvPr id="22" name="Shape 20"/>
          <p:cNvSpPr/>
          <p:nvPr/>
        </p:nvSpPr>
        <p:spPr>
          <a:xfrm>
            <a:off x="4572000" y="3566160"/>
            <a:ext cx="3456432" cy="2322576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3566160"/>
            <a:ext cx="3456432" cy="100584"/>
          </a:xfrm>
          <a:prstGeom prst="rect">
            <a:avLst/>
          </a:prstGeom>
          <a:solidFill>
            <a:srgbClr val="5B84B1"/>
          </a:solidFill>
          <a:ln w="12700">
            <a:solidFill>
              <a:srgbClr val="5B84B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74904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当前系统基础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36592" y="4078224"/>
            <a:ext cx="31272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已具备：主站、评估、后台、订单与线索数据结构、内容引擎。</a:t>
            </a:r>
            <a:endParaRPr lang="en-US" sz="1306" dirty="0"/>
          </a:p>
          <a:p>
            <a:pPr indent="0" marL="0">
              <a:buNone/>
            </a:pPr>
            <a:r>
              <a:rPr lang="en-US" sz="130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待补齐：支付闭环、企微承接、订阅管理、伙伴 API 实接。</a:t>
            </a:r>
            <a:endParaRPr lang="en-US" sz="1306" dirty="0"/>
          </a:p>
        </p:txBody>
      </p:sp>
      <p:sp>
        <p:nvSpPr>
          <p:cNvPr id="26" name="Shape 24"/>
          <p:cNvSpPr/>
          <p:nvPr/>
        </p:nvSpPr>
        <p:spPr>
          <a:xfrm>
            <a:off x="8275320" y="1170432"/>
            <a:ext cx="3364992" cy="471830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75320" y="1170432"/>
            <a:ext cx="3364992" cy="100584"/>
          </a:xfrm>
          <a:prstGeom prst="rect">
            <a:avLst/>
          </a:prstGeom>
          <a:solidFill>
            <a:srgbClr val="BC6652"/>
          </a:solidFill>
          <a:ln w="12700">
            <a:solidFill>
              <a:srgbClr val="BC665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35331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为什么现在适合推进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39912" y="1682496"/>
            <a:ext cx="3035808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现有文档和仓库已具备最小经营骨架。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冷启动可以先依赖第二圈与第三圈，不必直接重投处方链路。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一旦伙伴网络敲定，平台可在较轻的人力结构下扩大。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4. 风险并不小，但已经足够清楚，可以被前置管理。</a:t>
            </a:r>
            <a:endParaRPr lang="en-US" sz="13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董事会版结论：现在需要拍板什么，融资版需要补什么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最后一页只回答“下一步怎么推进”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058400" y="256032"/>
            <a:ext cx="1261872" cy="310896"/>
          </a:xfrm>
          <a:prstGeom prst="roundRect">
            <a:avLst>
              <a:gd name="adj" fmla="val 17647"/>
            </a:avLst>
          </a:prstGeom>
          <a:solidFill>
            <a:srgbClr val="DCEFE7"/>
          </a:solidFill>
          <a:ln w="12700">
            <a:solidFill>
              <a:srgbClr val="EEF3F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2926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决策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455664"/>
            <a:ext cx="11119104" cy="0"/>
          </a:xfrm>
          <a:prstGeom prst="line">
            <a:avLst/>
          </a:prstGeom>
          <a:noFill/>
          <a:ln w="12700">
            <a:solidFill>
              <a:srgbClr val="DDD8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013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| 董事会版 / 融资版 | 预测数据均为内部经营测算，外发前需标注已验证数据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6C6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170432"/>
            <a:ext cx="3685032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70432"/>
            <a:ext cx="3685032" cy="100584"/>
          </a:xfrm>
          <a:prstGeom prst="rect">
            <a:avLst/>
          </a:prstGeom>
          <a:solidFill>
            <a:srgbClr val="2E6C67"/>
          </a:solidFill>
          <a:ln w="12700">
            <a:solidFill>
              <a:srgbClr val="2E6C6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353312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董事会需确认的 4 件事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" y="1682496"/>
            <a:ext cx="3355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是否批准以第二圈为先的冷启动顺序。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是否批准 90 天验证期及对应预算。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是否批准优先敲定互联网医院 / 药房 / 供应商三类关键合作。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4. 是否同意启动融资资料准备。</a:t>
            </a:r>
            <a:endParaRPr lang="en-US" sz="1316" dirty="0"/>
          </a:p>
        </p:txBody>
      </p:sp>
      <p:sp>
        <p:nvSpPr>
          <p:cNvPr id="14" name="Shape 12"/>
          <p:cNvSpPr/>
          <p:nvPr/>
        </p:nvSpPr>
        <p:spPr>
          <a:xfrm>
            <a:off x="530352" y="3529584"/>
            <a:ext cx="36850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529584"/>
            <a:ext cx="3685032" cy="100584"/>
          </a:xfrm>
          <a:prstGeom prst="rect">
            <a:avLst/>
          </a:prstGeom>
          <a:solidFill>
            <a:srgbClr val="4E9177"/>
          </a:solidFill>
          <a:ln w="12700">
            <a:solidFill>
              <a:srgbClr val="4E917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712464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本轮资金若启动，建议用途结构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" y="4041648"/>
            <a:ext cx="335584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35% 用于增长验证与内容投放。</a:t>
            </a:r>
            <a:endParaRPr lang="en-US" sz="1276" dirty="0"/>
          </a:p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25% 用于系统补齐：支付、企微、订阅、数据看板。</a:t>
            </a:r>
            <a:endParaRPr lang="en-US" sz="1276" dirty="0"/>
          </a:p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20% 用于伙伴接入、合规和打样。</a:t>
            </a:r>
            <a:endParaRPr lang="en-US" sz="1276" dirty="0"/>
          </a:p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20% 作为营运与安全垫。</a:t>
            </a:r>
            <a:endParaRPr lang="en-US" sz="1276" dirty="0"/>
          </a:p>
          <a:p>
            <a:pPr indent="0" marL="0">
              <a:buNone/>
            </a:pPr>
            <a:endParaRPr lang="en-US" sz="1276" dirty="0"/>
          </a:p>
          <a:p>
            <a:pPr indent="0" marL="0">
              <a:buNone/>
            </a:pPr>
            <a:r>
              <a:rPr lang="en-US" sz="127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金额由董事会按 12-18 个月 runway 反推。</a:t>
            </a:r>
            <a:endParaRPr lang="en-US" sz="1276" dirty="0"/>
          </a:p>
        </p:txBody>
      </p:sp>
      <p:sp>
        <p:nvSpPr>
          <p:cNvPr id="18" name="Shape 16"/>
          <p:cNvSpPr/>
          <p:nvPr/>
        </p:nvSpPr>
        <p:spPr>
          <a:xfrm>
            <a:off x="4480560" y="1170432"/>
            <a:ext cx="3602736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170432"/>
            <a:ext cx="3602736" cy="100584"/>
          </a:xfrm>
          <a:prstGeom prst="rect">
            <a:avLst/>
          </a:prstGeom>
          <a:solidFill>
            <a:srgbClr val="B78B3C"/>
          </a:solidFill>
          <a:ln w="12700">
            <a:solidFill>
              <a:srgbClr val="B78B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35331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外发融资版还需补齐的 4 个字段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45152" y="1682496"/>
            <a:ext cx="3273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9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已验证数据：真实线索、内测用户、成交、复购。</a:t>
            </a:r>
            <a:endParaRPr lang="en-US" sz="1159" dirty="0"/>
          </a:p>
          <a:p>
            <a:pPr indent="0" marL="0">
              <a:buNone/>
            </a:pPr>
            <a:r>
              <a:rPr lang="en-US" sz="1159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合作进展：医院、药房、供应商的真实签约状态。</a:t>
            </a:r>
            <a:endParaRPr lang="en-US" sz="1159" dirty="0"/>
          </a:p>
          <a:p>
            <a:pPr indent="0" marL="0">
              <a:buNone/>
            </a:pPr>
            <a:r>
              <a:rPr lang="en-US" sz="1159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融资要素：本轮金额、估值区间、资金期限。</a:t>
            </a:r>
            <a:endParaRPr lang="en-US" sz="1159" dirty="0"/>
          </a:p>
          <a:p>
            <a:pPr indent="0" marL="0">
              <a:buNone/>
            </a:pPr>
            <a:r>
              <a:rPr lang="en-US" sz="1159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4. 团队亮点：创始人背景、技术与 BD 执行记录。</a:t>
            </a:r>
            <a:endParaRPr lang="en-US" sz="1159" dirty="0"/>
          </a:p>
        </p:txBody>
      </p:sp>
      <p:sp>
        <p:nvSpPr>
          <p:cNvPr id="22" name="Shape 20"/>
          <p:cNvSpPr/>
          <p:nvPr/>
        </p:nvSpPr>
        <p:spPr>
          <a:xfrm>
            <a:off x="4480560" y="3529584"/>
            <a:ext cx="3602736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3529584"/>
            <a:ext cx="3602736" cy="100584"/>
          </a:xfrm>
          <a:prstGeom prst="rect">
            <a:avLst/>
          </a:prstGeom>
          <a:solidFill>
            <a:srgbClr val="5B84B1"/>
          </a:solidFill>
          <a:ln w="12700">
            <a:solidFill>
              <a:srgbClr val="5B84B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371246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核心风险与应对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45152" y="4041648"/>
            <a:ext cx="32735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风险：合规踩线、伙伴失效、供应不稳、平台限流、复购不成立。</a:t>
            </a:r>
            <a:endParaRPr lang="en-US" sz="1296" dirty="0"/>
          </a:p>
          <a:p>
            <a:pPr indent="0" marL="0">
              <a:buNone/>
            </a:pPr>
            <a:r>
              <a:rPr lang="en-US" sz="1296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应对：边界清晰、备选伙伴、状态机管理、跨平台布局、把复购当北极星。</a:t>
            </a:r>
            <a:endParaRPr lang="en-US" sz="1296" dirty="0"/>
          </a:p>
        </p:txBody>
      </p:sp>
      <p:sp>
        <p:nvSpPr>
          <p:cNvPr id="26" name="Shape 24"/>
          <p:cNvSpPr/>
          <p:nvPr/>
        </p:nvSpPr>
        <p:spPr>
          <a:xfrm>
            <a:off x="8348472" y="1170432"/>
            <a:ext cx="3291840" cy="4736592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D8CD"/>
            </a:solidFill>
            <a:prstDash val="solid"/>
          </a:ln>
          <a:effectLst>
            <a:outerShdw sx="100000" sy="100000" kx="0" ky="0" algn="bl" rotWithShape="0" blurRad="15240" dist="8890" dir="2700000">
              <a:srgbClr val="86918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48472" y="1170432"/>
            <a:ext cx="3291840" cy="100584"/>
          </a:xfrm>
          <a:prstGeom prst="rect">
            <a:avLst/>
          </a:prstGeom>
          <a:solidFill>
            <a:srgbClr val="BC6652"/>
          </a:solidFill>
          <a:ln w="12700">
            <a:solidFill>
              <a:srgbClr val="BC665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13064" y="135331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一句话结论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13064" y="1682496"/>
            <a:ext cx="296265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值得推进的原因，不是它看起来像一个好卖货项目，而是它有机会成为一个中国化的、订阅型的、轻资产的健康管理平台。</a:t>
            </a:r>
            <a:endParaRPr lang="en-US" sz="1345" dirty="0"/>
          </a:p>
          <a:p>
            <a:pPr indent="0" marL="0">
              <a:buNone/>
            </a:pPr>
            <a:endParaRPr lang="en-US" sz="1345" dirty="0"/>
          </a:p>
          <a:p>
            <a:pPr indent="0" marL="0">
              <a:buNone/>
            </a:pPr>
            <a:r>
              <a:rPr lang="en-US" sz="134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董事会如果认可这套顺序：先第二圈、再第三圈、后第一圈；先验证、后放大；先边界、后增长，那么这件事就应该进入下一阶段。</a:t>
            </a:r>
            <a:endParaRPr lang="en-US" sz="1345" dirty="0"/>
          </a:p>
          <a:p>
            <a:pPr indent="0" marL="0">
              <a:buNone/>
            </a:pPr>
            <a:endParaRPr lang="en-US" sz="1345" dirty="0"/>
          </a:p>
          <a:p>
            <a:pPr indent="0" marL="0">
              <a:buNone/>
            </a:pPr>
            <a:r>
              <a:rPr lang="en-US" sz="1345" dirty="0">
                <a:solidFill>
                  <a:srgbClr val="1736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反之，如果想一开始就做重处方、高投放、高复杂度路径，模型会明显变重。</a:t>
            </a:r>
            <a:endParaRPr lang="en-US" sz="134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MediSlim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MediSlim 5页董事会版 / 融资版</dc:title>
  <dc:subject>MediSlim board and financing summary</dc:subject>
  <dc:creator>OpenAI Codex</dc:creator>
  <cp:lastModifiedBy>OpenAI Codex</cp:lastModifiedBy>
  <cp:revision>1</cp:revision>
  <dcterms:created xsi:type="dcterms:W3CDTF">2026-04-05T08:40:51Z</dcterms:created>
  <dcterms:modified xsi:type="dcterms:W3CDTF">2026-04-05T08:40:51Z</dcterms:modified>
</cp:coreProperties>
</file>