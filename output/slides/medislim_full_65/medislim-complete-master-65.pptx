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A36"/>
        </a:solidFill>
      </p:bgPr>
    </p:bg>
    <p:spTree>
      <p:nvGrpSpPr>
        <p:cNvPr id="1" name=""/>
        <p:cNvGrpSpPr/>
        <p:nvPr/>
      </p:nvGrpSpPr>
      <p:grpSpPr/>
      <p:sp>
        <p:nvSpPr>
          <p:cNvPr id="2" name="Shape 0"/>
          <p:cNvSpPr/>
          <p:nvPr/>
        </p:nvSpPr>
        <p:spPr>
          <a:xfrm>
            <a:off x="0" y="0"/>
            <a:ext cx="12191695" cy="164592"/>
          </a:xfrm>
          <a:prstGeom prst="rect">
            <a:avLst/>
          </a:prstGeom>
          <a:solidFill>
            <a:srgbClr val="B78B3C"/>
          </a:solidFill>
          <a:ln w="12700">
            <a:solidFill>
              <a:srgbClr val="B78B3C">
                <a:alpha val="0"/>
              </a:srgbClr>
            </a:solidFill>
            <a:prstDash val="solid"/>
          </a:ln>
        </p:spPr>
      </p:sp>
      <p:sp>
        <p:nvSpPr>
          <p:cNvPr id="3" name="Text 1"/>
          <p:cNvSpPr/>
          <p:nvPr/>
        </p:nvSpPr>
        <p:spPr>
          <a:xfrm>
            <a:off x="658368" y="603504"/>
            <a:ext cx="3474720" cy="420624"/>
          </a:xfrm>
          <a:prstGeom prst="rect">
            <a:avLst/>
          </a:prstGeom>
          <a:noFill/>
          <a:ln/>
        </p:spPr>
        <p:txBody>
          <a:bodyPr wrap="square" lIns="0" tIns="0" rIns="0" bIns="0" rtlCol="0" anchor="ctr"/>
          <a:lstStyle/>
          <a:p>
            <a:pPr indent="0" marL="0">
              <a:buNone/>
            </a:pPr>
            <a:r>
              <a:rPr lang="en-US" sz="2800" b="1" dirty="0">
                <a:solidFill>
                  <a:srgbClr val="FFFFFF"/>
                </a:solidFill>
                <a:latin typeface="Heiti SC" pitchFamily="34" charset="0"/>
                <a:ea typeface="Heiti SC" pitchFamily="34" charset="-122"/>
                <a:cs typeface="Heiti SC" pitchFamily="34" charset="-120"/>
              </a:rPr>
              <a:t>MediSlim</a:t>
            </a:r>
            <a:endParaRPr lang="en-US" sz="2800" dirty="0"/>
          </a:p>
        </p:txBody>
      </p:sp>
      <p:sp>
        <p:nvSpPr>
          <p:cNvPr id="4" name="Text 2"/>
          <p:cNvSpPr/>
          <p:nvPr/>
        </p:nvSpPr>
        <p:spPr>
          <a:xfrm>
            <a:off x="658368" y="1261872"/>
            <a:ext cx="5303520" cy="512064"/>
          </a:xfrm>
          <a:prstGeom prst="rect">
            <a:avLst/>
          </a:prstGeom>
          <a:noFill/>
          <a:ln/>
        </p:spPr>
        <p:txBody>
          <a:bodyPr wrap="square" lIns="0" tIns="0" rIns="0" bIns="0" rtlCol="0" anchor="ctr"/>
          <a:lstStyle/>
          <a:p>
            <a:pPr indent="0" marL="0">
              <a:buNone/>
            </a:pPr>
            <a:r>
              <a:rPr lang="en-US" sz="2400" b="1" dirty="0">
                <a:solidFill>
                  <a:srgbClr val="FFFFFF"/>
                </a:solidFill>
                <a:latin typeface="Heiti SC" pitchFamily="34" charset="0"/>
                <a:ea typeface="Heiti SC" pitchFamily="34" charset="-122"/>
                <a:cs typeface="Heiti SC" pitchFamily="34" charset="-120"/>
              </a:rPr>
              <a:t>5 页董事会版 / 融资版</a:t>
            </a:r>
            <a:endParaRPr lang="en-US" sz="2400" dirty="0"/>
          </a:p>
        </p:txBody>
      </p:sp>
      <p:sp>
        <p:nvSpPr>
          <p:cNvPr id="5" name="Text 3"/>
          <p:cNvSpPr/>
          <p:nvPr/>
        </p:nvSpPr>
        <p:spPr>
          <a:xfrm>
            <a:off x="658368" y="1901952"/>
            <a:ext cx="5852160" cy="786384"/>
          </a:xfrm>
          <a:prstGeom prst="rect">
            <a:avLst/>
          </a:prstGeom>
          <a:noFill/>
          <a:ln/>
        </p:spPr>
        <p:txBody>
          <a:bodyPr wrap="square" lIns="0" tIns="0" rIns="0" bIns="0" rtlCol="0" anchor="ctr"/>
          <a:lstStyle/>
          <a:p>
            <a:pPr indent="0" marL="0">
              <a:buNone/>
            </a:pPr>
            <a:r>
              <a:rPr lang="en-US" sz="1550" dirty="0">
                <a:solidFill>
                  <a:srgbClr val="D9E8E4"/>
                </a:solidFill>
                <a:latin typeface="Heiti SC" pitchFamily="34" charset="0"/>
                <a:ea typeface="Heiti SC" pitchFamily="34" charset="-122"/>
                <a:cs typeface="Heiti SC" pitchFamily="34" charset="-120"/>
              </a:rPr>
              <a:t>中国版 Medvi 的 AI 消费医疗平台：以三圈产品、轻资产履约和 OPC 运营系统构建订阅型健康生意</a:t>
            </a:r>
            <a:endParaRPr lang="en-US" sz="1550" dirty="0"/>
          </a:p>
        </p:txBody>
      </p:sp>
      <p:sp>
        <p:nvSpPr>
          <p:cNvPr id="6" name="Shape 4"/>
          <p:cNvSpPr/>
          <p:nvPr/>
        </p:nvSpPr>
        <p:spPr>
          <a:xfrm>
            <a:off x="658368" y="3977640"/>
            <a:ext cx="1783080" cy="1152144"/>
          </a:xfrm>
          <a:prstGeom prst="roundRect">
            <a:avLst>
              <a:gd name="adj" fmla="val 6349"/>
            </a:avLst>
          </a:prstGeom>
          <a:solidFill>
            <a:srgbClr val="2E6C67"/>
          </a:solidFill>
          <a:ln w="12700">
            <a:solidFill>
              <a:srgbClr val="2E6C67">
                <a:alpha val="0"/>
              </a:srgbClr>
            </a:solidFill>
            <a:prstDash val="solid"/>
          </a:ln>
        </p:spPr>
      </p:sp>
      <p:sp>
        <p:nvSpPr>
          <p:cNvPr id="7" name="Text 5"/>
          <p:cNvSpPr/>
          <p:nvPr/>
        </p:nvSpPr>
        <p:spPr>
          <a:xfrm>
            <a:off x="749808" y="4114800"/>
            <a:ext cx="160020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三圈模型</a:t>
            </a:r>
            <a:endParaRPr lang="en-US" sz="1100" dirty="0"/>
          </a:p>
        </p:txBody>
      </p:sp>
      <p:sp>
        <p:nvSpPr>
          <p:cNvPr id="8" name="Text 6"/>
          <p:cNvSpPr/>
          <p:nvPr/>
        </p:nvSpPr>
        <p:spPr>
          <a:xfrm>
            <a:off x="749808" y="4370832"/>
            <a:ext cx="1600200" cy="530352"/>
          </a:xfrm>
          <a:prstGeom prst="rect">
            <a:avLst/>
          </a:prstGeom>
          <a:noFill/>
          <a:ln/>
        </p:spPr>
        <p:txBody>
          <a:bodyPr wrap="square" lIns="0" tIns="0" rIns="0" bIns="0" rtlCol="0" anchor="t">
            <a:normAutofit/>
          </a:bodyPr>
          <a:lstStyle/>
          <a:p>
            <a:pPr indent="0" marL="0">
              <a:buNone/>
            </a:pPr>
            <a:r>
              <a:rPr lang="en-US" sz="880" dirty="0">
                <a:solidFill>
                  <a:srgbClr val="FFFFFF"/>
                </a:solidFill>
                <a:latin typeface="Heiti SC" pitchFamily="34" charset="0"/>
                <a:ea typeface="Heiti SC" pitchFamily="34" charset="-122"/>
                <a:cs typeface="Heiti SC" pitchFamily="34" charset="-120"/>
              </a:rPr>
              <a:t>处方建立信任</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药食同源做复购</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保健品拉利润</a:t>
            </a:r>
            <a:endParaRPr lang="en-US" sz="880" dirty="0"/>
          </a:p>
        </p:txBody>
      </p:sp>
      <p:sp>
        <p:nvSpPr>
          <p:cNvPr id="9" name="Shape 7"/>
          <p:cNvSpPr/>
          <p:nvPr/>
        </p:nvSpPr>
        <p:spPr>
          <a:xfrm>
            <a:off x="2651760" y="3977640"/>
            <a:ext cx="1783080" cy="1152144"/>
          </a:xfrm>
          <a:prstGeom prst="roundRect">
            <a:avLst>
              <a:gd name="adj" fmla="val 6349"/>
            </a:avLst>
          </a:prstGeom>
          <a:solidFill>
            <a:srgbClr val="4E9177"/>
          </a:solidFill>
          <a:ln w="12700">
            <a:solidFill>
              <a:srgbClr val="4E9177">
                <a:alpha val="0"/>
              </a:srgbClr>
            </a:solidFill>
            <a:prstDash val="solid"/>
          </a:ln>
        </p:spPr>
      </p:sp>
      <p:sp>
        <p:nvSpPr>
          <p:cNvPr id="10" name="Text 8"/>
          <p:cNvSpPr/>
          <p:nvPr/>
        </p:nvSpPr>
        <p:spPr>
          <a:xfrm>
            <a:off x="2743200" y="4114800"/>
            <a:ext cx="160020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组织模式</a:t>
            </a:r>
            <a:endParaRPr lang="en-US" sz="1100" dirty="0"/>
          </a:p>
        </p:txBody>
      </p:sp>
      <p:sp>
        <p:nvSpPr>
          <p:cNvPr id="11" name="Text 9"/>
          <p:cNvSpPr/>
          <p:nvPr/>
        </p:nvSpPr>
        <p:spPr>
          <a:xfrm>
            <a:off x="2743200" y="4370832"/>
            <a:ext cx="1600200" cy="530352"/>
          </a:xfrm>
          <a:prstGeom prst="rect">
            <a:avLst/>
          </a:prstGeom>
          <a:noFill/>
          <a:ln/>
        </p:spPr>
        <p:txBody>
          <a:bodyPr wrap="square" lIns="0" tIns="0" rIns="0" bIns="0" rtlCol="0" anchor="t">
            <a:normAutofit/>
          </a:bodyPr>
          <a:lstStyle/>
          <a:p>
            <a:pPr indent="0" marL="0">
              <a:buNone/>
            </a:pPr>
            <a:r>
              <a:rPr lang="en-US" sz="880" dirty="0">
                <a:solidFill>
                  <a:srgbClr val="FFFFFF"/>
                </a:solidFill>
                <a:latin typeface="Heiti SC" pitchFamily="34" charset="0"/>
                <a:ea typeface="Heiti SC" pitchFamily="34" charset="-122"/>
                <a:cs typeface="Heiti SC" pitchFamily="34" charset="-120"/>
              </a:rPr>
              <a:t>1 人 + AI 驱动</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持牌与履约外包</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系统替代部门</a:t>
            </a:r>
            <a:endParaRPr lang="en-US" sz="880" dirty="0"/>
          </a:p>
        </p:txBody>
      </p:sp>
      <p:sp>
        <p:nvSpPr>
          <p:cNvPr id="12" name="Shape 10"/>
          <p:cNvSpPr/>
          <p:nvPr/>
        </p:nvSpPr>
        <p:spPr>
          <a:xfrm>
            <a:off x="4645152" y="3977640"/>
            <a:ext cx="1783080" cy="1152144"/>
          </a:xfrm>
          <a:prstGeom prst="roundRect">
            <a:avLst>
              <a:gd name="adj" fmla="val 6349"/>
            </a:avLst>
          </a:prstGeom>
          <a:solidFill>
            <a:srgbClr val="B78B3C"/>
          </a:solidFill>
          <a:ln w="12700">
            <a:solidFill>
              <a:srgbClr val="B78B3C">
                <a:alpha val="0"/>
              </a:srgbClr>
            </a:solidFill>
            <a:prstDash val="solid"/>
          </a:ln>
        </p:spPr>
      </p:sp>
      <p:sp>
        <p:nvSpPr>
          <p:cNvPr id="13" name="Text 11"/>
          <p:cNvSpPr/>
          <p:nvPr/>
        </p:nvSpPr>
        <p:spPr>
          <a:xfrm>
            <a:off x="4736592" y="4114800"/>
            <a:ext cx="1600200"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财务假设</a:t>
            </a:r>
            <a:endParaRPr lang="en-US" sz="1100" dirty="0"/>
          </a:p>
        </p:txBody>
      </p:sp>
      <p:sp>
        <p:nvSpPr>
          <p:cNvPr id="14" name="Text 12"/>
          <p:cNvSpPr/>
          <p:nvPr/>
        </p:nvSpPr>
        <p:spPr>
          <a:xfrm>
            <a:off x="4736592" y="4370832"/>
            <a:ext cx="1600200" cy="530352"/>
          </a:xfrm>
          <a:prstGeom prst="rect">
            <a:avLst/>
          </a:prstGeom>
          <a:noFill/>
          <a:ln/>
        </p:spPr>
        <p:txBody>
          <a:bodyPr wrap="square" lIns="0" tIns="0" rIns="0" bIns="0" rtlCol="0" anchor="t">
            <a:normAutofit/>
          </a:bodyPr>
          <a:lstStyle/>
          <a:p>
            <a:pPr indent="0" marL="0">
              <a:buNone/>
            </a:pPr>
            <a:r>
              <a:rPr lang="en-US" sz="880" dirty="0">
                <a:solidFill>
                  <a:srgbClr val="FFFFFF"/>
                </a:solidFill>
                <a:latin typeface="Heiti SC" pitchFamily="34" charset="0"/>
                <a:ea typeface="Heiti SC" pitchFamily="34" charset="-122"/>
                <a:cs typeface="Heiti SC" pitchFamily="34" charset="-120"/>
              </a:rPr>
              <a:t>M12 目标 1 万付费用户</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月收入 765 万</a:t>
            </a:r>
            <a:endParaRPr lang="en-US" sz="880" dirty="0"/>
          </a:p>
          <a:p>
            <a:pPr indent="0" marL="0">
              <a:buNone/>
            </a:pPr>
            <a:r>
              <a:rPr lang="en-US" sz="880" dirty="0">
                <a:solidFill>
                  <a:srgbClr val="FFFFFF"/>
                </a:solidFill>
                <a:latin typeface="Heiti SC" pitchFamily="34" charset="0"/>
                <a:ea typeface="Heiti SC" pitchFamily="34" charset="-122"/>
                <a:cs typeface="Heiti SC" pitchFamily="34" charset="-120"/>
              </a:rPr>
              <a:t>净利率目标 25-30%</a:t>
            </a:r>
            <a:endParaRPr lang="en-US" sz="880" dirty="0"/>
          </a:p>
        </p:txBody>
      </p:sp>
      <p:sp>
        <p:nvSpPr>
          <p:cNvPr id="15" name="Shape 13"/>
          <p:cNvSpPr/>
          <p:nvPr/>
        </p:nvSpPr>
        <p:spPr>
          <a:xfrm>
            <a:off x="7726680" y="914400"/>
            <a:ext cx="3822192" cy="4572000"/>
          </a:xfrm>
          <a:prstGeom prst="roundRect">
            <a:avLst>
              <a:gd name="adj" fmla="val 2871"/>
            </a:avLst>
          </a:prstGeom>
          <a:solidFill>
            <a:srgbClr val="254C47"/>
          </a:solidFill>
          <a:ln w="12700">
            <a:solidFill>
              <a:srgbClr val="3C5A56"/>
            </a:solidFill>
            <a:prstDash val="solid"/>
          </a:ln>
        </p:spPr>
      </p:sp>
      <p:sp>
        <p:nvSpPr>
          <p:cNvPr id="16" name="Text 14"/>
          <p:cNvSpPr/>
          <p:nvPr/>
        </p:nvSpPr>
        <p:spPr>
          <a:xfrm>
            <a:off x="8046720" y="1316736"/>
            <a:ext cx="1737360" cy="219456"/>
          </a:xfrm>
          <a:prstGeom prst="rect">
            <a:avLst/>
          </a:prstGeom>
          <a:noFill/>
          <a:ln/>
        </p:spPr>
        <p:txBody>
          <a:bodyPr wrap="square" lIns="0" tIns="0" rIns="0" bIns="0" rtlCol="0" anchor="ctr"/>
          <a:lstStyle/>
          <a:p>
            <a:pPr indent="0" marL="0">
              <a:buNone/>
            </a:pPr>
            <a:r>
              <a:rPr lang="en-US" sz="1600" b="1" dirty="0">
                <a:solidFill>
                  <a:srgbClr val="FFFFFF"/>
                </a:solidFill>
                <a:latin typeface="Heiti SC" pitchFamily="34" charset="0"/>
                <a:ea typeface="Heiti SC" pitchFamily="34" charset="-122"/>
                <a:cs typeface="Heiti SC" pitchFamily="34" charset="-120"/>
              </a:rPr>
              <a:t>投资摘要</a:t>
            </a:r>
            <a:endParaRPr lang="en-US" sz="1600" dirty="0"/>
          </a:p>
        </p:txBody>
      </p:sp>
      <p:sp>
        <p:nvSpPr>
          <p:cNvPr id="17" name="Text 15"/>
          <p:cNvSpPr/>
          <p:nvPr/>
        </p:nvSpPr>
        <p:spPr>
          <a:xfrm>
            <a:off x="8046720" y="1755648"/>
            <a:ext cx="3090672" cy="3474720"/>
          </a:xfrm>
          <a:prstGeom prst="rect">
            <a:avLst/>
          </a:prstGeom>
          <a:noFill/>
          <a:ln/>
        </p:spPr>
        <p:txBody>
          <a:bodyPr wrap="square" lIns="0" tIns="0" rIns="0" bIns="0" rtlCol="0" anchor="t">
            <a:normAutofit/>
          </a:bodyPr>
          <a:lstStyle/>
          <a:p>
            <a:pPr indent="0" marL="0">
              <a:buNone/>
            </a:pPr>
            <a:r>
              <a:rPr lang="en-US" sz="1376" dirty="0">
                <a:solidFill>
                  <a:srgbClr val="E6F0ED"/>
                </a:solidFill>
                <a:latin typeface="Heiti SC" pitchFamily="34" charset="0"/>
                <a:ea typeface="Heiti SC" pitchFamily="34" charset="-122"/>
                <a:cs typeface="Heiti SC" pitchFamily="34" charset="-120"/>
              </a:rPr>
              <a:t>1. 需求侧：减重、亚健康、女性调养、睡眠与肠胃都在持续消费化。</a:t>
            </a:r>
            <a:endParaRPr lang="en-US" sz="1376" dirty="0"/>
          </a:p>
          <a:p>
            <a:pPr indent="0" marL="0">
              <a:buNone/>
            </a:pPr>
            <a:r>
              <a:rPr lang="en-US" sz="1376" dirty="0">
                <a:solidFill>
                  <a:srgbClr val="E6F0ED"/>
                </a:solidFill>
                <a:latin typeface="Heiti SC" pitchFamily="34" charset="0"/>
                <a:ea typeface="Heiti SC" pitchFamily="34" charset="-122"/>
                <a:cs typeface="Heiti SC" pitchFamily="34" charset="-120"/>
              </a:rPr>
              <a:t>2. 模型侧：中国可以用药食同源和体质辨识完成 Medvi 在美国做不到的复购设计。</a:t>
            </a:r>
            <a:endParaRPr lang="en-US" sz="1376" dirty="0"/>
          </a:p>
          <a:p>
            <a:pPr indent="0" marL="0">
              <a:buNone/>
            </a:pPr>
            <a:r>
              <a:rPr lang="en-US" sz="1376" dirty="0">
                <a:solidFill>
                  <a:srgbClr val="E6F0ED"/>
                </a:solidFill>
                <a:latin typeface="Heiti SC" pitchFamily="34" charset="0"/>
                <a:ea typeface="Heiti SC" pitchFamily="34" charset="-122"/>
                <a:cs typeface="Heiti SC" pitchFamily="34" charset="-120"/>
              </a:rPr>
              <a:t>3. 合规侧：我们不做医疗主体，只做流量、评估、CRM 和复购管理。</a:t>
            </a:r>
            <a:endParaRPr lang="en-US" sz="1376" dirty="0"/>
          </a:p>
          <a:p>
            <a:pPr indent="0" marL="0">
              <a:buNone/>
            </a:pPr>
            <a:r>
              <a:rPr lang="en-US" sz="1376" dirty="0">
                <a:solidFill>
                  <a:srgbClr val="E6F0ED"/>
                </a:solidFill>
                <a:latin typeface="Heiti SC" pitchFamily="34" charset="0"/>
                <a:ea typeface="Heiti SC" pitchFamily="34" charset="-122"/>
                <a:cs typeface="Heiti SC" pitchFamily="34" charset="-120"/>
              </a:rPr>
              <a:t>4. 经营侧：先打爆第二圈，再导向第三圈和第一圈，降低冷启动难度。</a:t>
            </a:r>
            <a:endParaRPr lang="en-US" sz="1376" dirty="0"/>
          </a:p>
          <a:p>
            <a:pPr indent="0" marL="0">
              <a:buNone/>
            </a:pPr>
            <a:r>
              <a:rPr lang="en-US" sz="1376" dirty="0">
                <a:solidFill>
                  <a:srgbClr val="E6F0ED"/>
                </a:solidFill>
                <a:latin typeface="Heiti SC" pitchFamily="34" charset="0"/>
                <a:ea typeface="Heiti SC" pitchFamily="34" charset="-122"/>
                <a:cs typeface="Heiti SC" pitchFamily="34" charset="-120"/>
              </a:rPr>
              <a:t>5. 本版用途：用于董事会判断 90 天计划、融资准备与关键合作优先级。</a:t>
            </a:r>
            <a:endParaRPr lang="en-US" sz="1376" dirty="0"/>
          </a:p>
        </p:txBody>
      </p:sp>
      <p:sp>
        <p:nvSpPr>
          <p:cNvPr id="18" name="Text 16"/>
          <p:cNvSpPr/>
          <p:nvPr/>
        </p:nvSpPr>
        <p:spPr>
          <a:xfrm>
            <a:off x="658368" y="6272784"/>
            <a:ext cx="7132320" cy="164592"/>
          </a:xfrm>
          <a:prstGeom prst="rect">
            <a:avLst/>
          </a:prstGeom>
          <a:noFill/>
          <a:ln/>
        </p:spPr>
        <p:txBody>
          <a:bodyPr wrap="square" lIns="0" tIns="0" rIns="0" bIns="0" rtlCol="0" anchor="ctr"/>
          <a:lstStyle/>
          <a:p>
            <a:pPr indent="0" marL="0">
              <a:buNone/>
            </a:pPr>
            <a:r>
              <a:rPr lang="en-US" sz="860" dirty="0">
                <a:solidFill>
                  <a:srgbClr val="C8D7D3"/>
                </a:solidFill>
                <a:latin typeface="Heiti SC" pitchFamily="34" charset="0"/>
                <a:ea typeface="Heiti SC" pitchFamily="34" charset="-122"/>
                <a:cs typeface="Heiti SC" pitchFamily="34" charset="-120"/>
              </a:rPr>
              <a:t>注：本 deck 中财务与增长数字均基于现有商业方案和仓库文档的内部经营测算。</a:t>
            </a:r>
            <a:endParaRPr lang="en-US" sz="860" dirty="0"/>
          </a:p>
        </p:txBody>
      </p:sp>
      <p:sp>
        <p:nvSpPr>
          <p:cNvPr id="19" name="Text 17"/>
          <p:cNvSpPr/>
          <p:nvPr/>
        </p:nvSpPr>
        <p:spPr>
          <a:xfrm>
            <a:off x="11045952" y="6455664"/>
            <a:ext cx="585216" cy="164592"/>
          </a:xfrm>
          <a:prstGeom prst="rect">
            <a:avLst/>
          </a:prstGeom>
          <a:noFill/>
          <a:ln/>
        </p:spPr>
        <p:txBody>
          <a:bodyPr wrap="square" lIns="0" tIns="0" rIns="0" bIns="0" rtlCol="0" anchor="ctr"/>
          <a:lstStyle/>
          <a:p>
            <a:pPr algn="r" indent="0" marL="0">
              <a:buNone/>
            </a:pPr>
            <a:r>
              <a:rPr lang="en-US" sz="950" b="1" dirty="0">
                <a:solidFill>
                  <a:srgbClr val="FFFFFF"/>
                </a:solidFill>
                <a:latin typeface="Heiti SC" pitchFamily="34" charset="0"/>
                <a:ea typeface="Heiti SC" pitchFamily="34" charset="-122"/>
                <a:cs typeface="Heiti SC" pitchFamily="34" charset="-120"/>
              </a:rPr>
              <a:t>01</a:t>
            </a:r>
            <a:endParaRPr lang="en-US" sz="950" dirty="0"/>
          </a:p>
        </p:txBody>
      </p:sp>
    </p:spTree>
  </p:cSld>
  <p:clrMapOvr>
    <a:masterClrMapping/>
  </p:clrMapOvr>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E6C67"/>
          </a:solidFill>
          <a:ln w="12700">
            <a:solidFill>
              <a:srgbClr val="2E6C67">
                <a:alpha val="0"/>
              </a:srgbClr>
            </a:solidFill>
            <a:prstDash val="solid"/>
          </a:ln>
        </p:spPr>
      </p:sp>
      <p:sp>
        <p:nvSpPr>
          <p:cNvPr id="3" name="Text 1"/>
          <p:cNvSpPr/>
          <p:nvPr/>
        </p:nvSpPr>
        <p:spPr>
          <a:xfrm>
            <a:off x="530352" y="256032"/>
            <a:ext cx="7955280" cy="365760"/>
          </a:xfrm>
          <a:prstGeom prst="rect">
            <a:avLst/>
          </a:prstGeom>
          <a:noFill/>
          <a:ln/>
        </p:spPr>
        <p:txBody>
          <a:bodyPr wrap="square" lIns="0" tIns="0" rIns="0" bIns="0" rtlCol="0" anchor="ctr"/>
          <a:lstStyle/>
          <a:p>
            <a:pPr indent="0" marL="0">
              <a:buNone/>
            </a:pPr>
            <a:r>
              <a:rPr lang="en-US" sz="2400" b="1" dirty="0">
                <a:solidFill>
                  <a:srgbClr val="173632"/>
                </a:solidFill>
                <a:latin typeface="Heiti SC" pitchFamily="34" charset="0"/>
                <a:ea typeface="Heiti SC" pitchFamily="34" charset="-122"/>
                <a:cs typeface="Heiti SC" pitchFamily="34" charset="-120"/>
              </a:rPr>
              <a:t>为什么现在值得投 / 值得做</a:t>
            </a:r>
            <a:endParaRPr lang="en-US" sz="2400" dirty="0"/>
          </a:p>
        </p:txBody>
      </p:sp>
      <p:sp>
        <p:nvSpPr>
          <p:cNvPr id="4" name="Text 2"/>
          <p:cNvSpPr/>
          <p:nvPr/>
        </p:nvSpPr>
        <p:spPr>
          <a:xfrm>
            <a:off x="530352" y="694944"/>
            <a:ext cx="8961120" cy="201168"/>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董事会真正要判断的不是“能不能做”，而是“这是不是一个能成立的中国化模型”</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7"/>
          </a:solidFill>
          <a:ln w="12700">
            <a:solidFill>
              <a:srgbClr val="EEF3F0">
                <a:alpha val="0"/>
              </a:srgbClr>
            </a:solidFill>
            <a:prstDash val="solid"/>
          </a:ln>
        </p:spPr>
      </p:sp>
      <p:sp>
        <p:nvSpPr>
          <p:cNvPr id="6" name="Text 4"/>
          <p:cNvSpPr/>
          <p:nvPr/>
        </p:nvSpPr>
        <p:spPr>
          <a:xfrm>
            <a:off x="10058400" y="292608"/>
            <a:ext cx="1261872" cy="164592"/>
          </a:xfrm>
          <a:prstGeom prst="rect">
            <a:avLst/>
          </a:prstGeom>
          <a:noFill/>
          <a:ln/>
        </p:spPr>
        <p:txBody>
          <a:bodyPr wrap="square" lIns="0" tIns="0" rIns="0" bIns="0" rtlCol="0" anchor="ctr"/>
          <a:lstStyle/>
          <a:p>
            <a:pPr algn="ctr" indent="0" marL="0">
              <a:buNone/>
            </a:pPr>
            <a:r>
              <a:rPr lang="en-US" sz="950" b="1" dirty="0">
                <a:solidFill>
                  <a:srgbClr val="2E6C67"/>
                </a:solidFill>
                <a:latin typeface="Heiti SC" pitchFamily="34" charset="0"/>
                <a:ea typeface="Heiti SC" pitchFamily="34" charset="-122"/>
                <a:cs typeface="Heiti SC" pitchFamily="34" charset="-120"/>
              </a:rPr>
              <a:t>机会</a:t>
            </a:r>
            <a:endParaRPr lang="en-US" sz="950" dirty="0"/>
          </a:p>
        </p:txBody>
      </p:sp>
      <p:sp>
        <p:nvSpPr>
          <p:cNvPr id="7" name="Shape 5"/>
          <p:cNvSpPr/>
          <p:nvPr/>
        </p:nvSpPr>
        <p:spPr>
          <a:xfrm>
            <a:off x="530352" y="6455664"/>
            <a:ext cx="11119104" cy="0"/>
          </a:xfrm>
          <a:prstGeom prst="line">
            <a:avLst/>
          </a:prstGeom>
          <a:noFill/>
          <a:ln w="12700">
            <a:solidFill>
              <a:srgbClr val="DDD8CD"/>
            </a:solidFill>
            <a:prstDash val="solid"/>
          </a:ln>
        </p:spPr>
      </p:sp>
      <p:sp>
        <p:nvSpPr>
          <p:cNvPr id="8" name="Text 6"/>
          <p:cNvSpPr/>
          <p:nvPr/>
        </p:nvSpPr>
        <p:spPr>
          <a:xfrm>
            <a:off x="530352" y="6501384"/>
            <a:ext cx="960120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 董事会版 / 融资版 | 预测数据均为内部经营测算，外发前需标注已验证数据</a:t>
            </a:r>
            <a:endParaRPr lang="en-US" sz="800" dirty="0"/>
          </a:p>
        </p:txBody>
      </p:sp>
      <p:sp>
        <p:nvSpPr>
          <p:cNvPr id="9" name="Text 7"/>
          <p:cNvSpPr/>
          <p:nvPr/>
        </p:nvSpPr>
        <p:spPr>
          <a:xfrm>
            <a:off x="11045952" y="6473952"/>
            <a:ext cx="585216" cy="164592"/>
          </a:xfrm>
          <a:prstGeom prst="rect">
            <a:avLst/>
          </a:prstGeom>
          <a:noFill/>
          <a:ln/>
        </p:spPr>
        <p:txBody>
          <a:bodyPr wrap="square" lIns="0" tIns="0" rIns="0" bIns="0" rtlCol="0" anchor="ctr"/>
          <a:lstStyle/>
          <a:p>
            <a:pPr algn="r" indent="0" marL="0">
              <a:buNone/>
            </a:pPr>
            <a:r>
              <a:rPr lang="en-US" sz="900" b="1" dirty="0">
                <a:solidFill>
                  <a:srgbClr val="2E6C67"/>
                </a:solidFill>
                <a:latin typeface="Heiti SC" pitchFamily="34" charset="0"/>
                <a:ea typeface="Heiti SC" pitchFamily="34" charset="-122"/>
                <a:cs typeface="Heiti SC" pitchFamily="34" charset="-120"/>
              </a:rPr>
              <a:t>02</a:t>
            </a:r>
            <a:endParaRPr lang="en-US" sz="900" dirty="0"/>
          </a:p>
        </p:txBody>
      </p:sp>
      <p:sp>
        <p:nvSpPr>
          <p:cNvPr id="10" name="Shape 8"/>
          <p:cNvSpPr/>
          <p:nvPr/>
        </p:nvSpPr>
        <p:spPr>
          <a:xfrm>
            <a:off x="530352" y="1170432"/>
            <a:ext cx="2743200" cy="2176272"/>
          </a:xfrm>
          <a:prstGeom prst="roundRect">
            <a:avLst>
              <a:gd name="adj" fmla="val 3361"/>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2743200" cy="100584"/>
          </a:xfrm>
          <a:prstGeom prst="rect">
            <a:avLst/>
          </a:prstGeom>
          <a:solidFill>
            <a:srgbClr val="2E6C67"/>
          </a:solidFill>
          <a:ln w="12700">
            <a:solidFill>
              <a:srgbClr val="2E6C67">
                <a:alpha val="0"/>
              </a:srgbClr>
            </a:solidFill>
            <a:prstDash val="solid"/>
          </a:ln>
        </p:spPr>
      </p:sp>
      <p:sp>
        <p:nvSpPr>
          <p:cNvPr id="12" name="Text 10"/>
          <p:cNvSpPr/>
          <p:nvPr/>
        </p:nvSpPr>
        <p:spPr>
          <a:xfrm>
            <a:off x="694944" y="1353312"/>
            <a:ext cx="241401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赛道变化</a:t>
            </a:r>
            <a:endParaRPr lang="en-US" sz="1500" dirty="0"/>
          </a:p>
        </p:txBody>
      </p:sp>
      <p:sp>
        <p:nvSpPr>
          <p:cNvPr id="13" name="Text 11"/>
          <p:cNvSpPr/>
          <p:nvPr/>
        </p:nvSpPr>
        <p:spPr>
          <a:xfrm>
            <a:off x="694944" y="1682496"/>
            <a:ext cx="2414016" cy="1517904"/>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医疗消费化已经从单次看病转向长期管理。减重、亚健康、睡眠、女性调养与轻营养都在从“治疗需求”变成“持续付费需求”。</a:t>
            </a:r>
            <a:endParaRPr lang="en-US" sz="1316" dirty="0"/>
          </a:p>
        </p:txBody>
      </p:sp>
      <p:sp>
        <p:nvSpPr>
          <p:cNvPr id="14" name="Shape 12"/>
          <p:cNvSpPr/>
          <p:nvPr/>
        </p:nvSpPr>
        <p:spPr>
          <a:xfrm>
            <a:off x="3438144" y="1170432"/>
            <a:ext cx="2743200" cy="2176272"/>
          </a:xfrm>
          <a:prstGeom prst="roundRect">
            <a:avLst>
              <a:gd name="adj" fmla="val 3361"/>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3438144" y="1170432"/>
            <a:ext cx="2743200" cy="100584"/>
          </a:xfrm>
          <a:prstGeom prst="rect">
            <a:avLst/>
          </a:prstGeom>
          <a:solidFill>
            <a:srgbClr val="4E9177"/>
          </a:solidFill>
          <a:ln w="12700">
            <a:solidFill>
              <a:srgbClr val="4E9177">
                <a:alpha val="0"/>
              </a:srgbClr>
            </a:solidFill>
            <a:prstDash val="solid"/>
          </a:ln>
        </p:spPr>
      </p:sp>
      <p:sp>
        <p:nvSpPr>
          <p:cNvPr id="16" name="Text 14"/>
          <p:cNvSpPr/>
          <p:nvPr/>
        </p:nvSpPr>
        <p:spPr>
          <a:xfrm>
            <a:off x="3602736" y="1353312"/>
            <a:ext cx="241401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中国化机会</a:t>
            </a:r>
            <a:endParaRPr lang="en-US" sz="1500" dirty="0"/>
          </a:p>
        </p:txBody>
      </p:sp>
      <p:sp>
        <p:nvSpPr>
          <p:cNvPr id="17" name="Text 15"/>
          <p:cNvSpPr/>
          <p:nvPr/>
        </p:nvSpPr>
        <p:spPr>
          <a:xfrm>
            <a:off x="3602736" y="1682496"/>
            <a:ext cx="2414016" cy="1517904"/>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美国 Medvi 主要靠 GLP-1 和远程处方。中国如果只复制处方路径，会受平台与合规约束；加入药食同源和体质辨识后，冷启动效率更高。</a:t>
            </a:r>
            <a:endParaRPr lang="en-US" sz="1316" dirty="0"/>
          </a:p>
        </p:txBody>
      </p:sp>
      <p:sp>
        <p:nvSpPr>
          <p:cNvPr id="18" name="Shape 16"/>
          <p:cNvSpPr/>
          <p:nvPr/>
        </p:nvSpPr>
        <p:spPr>
          <a:xfrm>
            <a:off x="6345936" y="1170432"/>
            <a:ext cx="2743200" cy="2176272"/>
          </a:xfrm>
          <a:prstGeom prst="roundRect">
            <a:avLst>
              <a:gd name="adj" fmla="val 3361"/>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6345936" y="1170432"/>
            <a:ext cx="2743200" cy="100584"/>
          </a:xfrm>
          <a:prstGeom prst="rect">
            <a:avLst/>
          </a:prstGeom>
          <a:solidFill>
            <a:srgbClr val="B78B3C"/>
          </a:solidFill>
          <a:ln w="12700">
            <a:solidFill>
              <a:srgbClr val="B78B3C">
                <a:alpha val="0"/>
              </a:srgbClr>
            </a:solidFill>
            <a:prstDash val="solid"/>
          </a:ln>
        </p:spPr>
      </p:sp>
      <p:sp>
        <p:nvSpPr>
          <p:cNvPr id="20" name="Text 18"/>
          <p:cNvSpPr/>
          <p:nvPr/>
        </p:nvSpPr>
        <p:spPr>
          <a:xfrm>
            <a:off x="6510528" y="1353312"/>
            <a:ext cx="241401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差异化护城河</a:t>
            </a:r>
            <a:endParaRPr lang="en-US" sz="1500" dirty="0"/>
          </a:p>
        </p:txBody>
      </p:sp>
      <p:sp>
        <p:nvSpPr>
          <p:cNvPr id="21" name="Text 19"/>
          <p:cNvSpPr/>
          <p:nvPr/>
        </p:nvSpPr>
        <p:spPr>
          <a:xfrm>
            <a:off x="6510528" y="1682496"/>
            <a:ext cx="2414016" cy="1517904"/>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真正的壁垒不是某个单品，而是：体质辨识、订阅盒、企微陪伴、状态机运营、用户健康数据和低成本 AI 自动化。</a:t>
            </a:r>
            <a:endParaRPr lang="en-US" sz="1316" dirty="0"/>
          </a:p>
        </p:txBody>
      </p:sp>
      <p:sp>
        <p:nvSpPr>
          <p:cNvPr id="22" name="Shape 20"/>
          <p:cNvSpPr/>
          <p:nvPr/>
        </p:nvSpPr>
        <p:spPr>
          <a:xfrm>
            <a:off x="9253728" y="1170432"/>
            <a:ext cx="2386584" cy="2176272"/>
          </a:xfrm>
          <a:prstGeom prst="roundRect">
            <a:avLst>
              <a:gd name="adj" fmla="val 3361"/>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9253728" y="1170432"/>
            <a:ext cx="2386584" cy="100584"/>
          </a:xfrm>
          <a:prstGeom prst="rect">
            <a:avLst/>
          </a:prstGeom>
          <a:solidFill>
            <a:srgbClr val="5B84B1"/>
          </a:solidFill>
          <a:ln w="12700">
            <a:solidFill>
              <a:srgbClr val="5B84B1">
                <a:alpha val="0"/>
              </a:srgbClr>
            </a:solidFill>
            <a:prstDash val="solid"/>
          </a:ln>
        </p:spPr>
      </p:sp>
      <p:sp>
        <p:nvSpPr>
          <p:cNvPr id="24" name="Text 22"/>
          <p:cNvSpPr/>
          <p:nvPr/>
        </p:nvSpPr>
        <p:spPr>
          <a:xfrm>
            <a:off x="9418320" y="1353312"/>
            <a:ext cx="2057400"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边界清晰</a:t>
            </a:r>
            <a:endParaRPr lang="en-US" sz="1500" dirty="0"/>
          </a:p>
        </p:txBody>
      </p:sp>
      <p:sp>
        <p:nvSpPr>
          <p:cNvPr id="25" name="Text 23"/>
          <p:cNvSpPr/>
          <p:nvPr/>
        </p:nvSpPr>
        <p:spPr>
          <a:xfrm>
            <a:off x="9418320" y="1682496"/>
            <a:ext cx="2057400" cy="1517904"/>
          </a:xfrm>
          <a:prstGeom prst="rect">
            <a:avLst/>
          </a:prstGeom>
          <a:noFill/>
          <a:ln/>
        </p:spPr>
        <p:txBody>
          <a:bodyPr wrap="square" lIns="0" tIns="0" rIns="0" bIns="0" rtlCol="0" anchor="t">
            <a:normAutofit/>
          </a:bodyPr>
          <a:lstStyle/>
          <a:p>
            <a:pPr indent="0" marL="0">
              <a:buNone/>
            </a:pPr>
            <a:r>
              <a:rPr lang="en-US" sz="1276" dirty="0">
                <a:solidFill>
                  <a:srgbClr val="173632"/>
                </a:solidFill>
                <a:latin typeface="Heiti SC" pitchFamily="34" charset="0"/>
                <a:ea typeface="Heiti SC" pitchFamily="34" charset="-122"/>
                <a:cs typeface="Heiti SC" pitchFamily="34" charset="-120"/>
              </a:rPr>
              <a:t>我们不是医疗主体。处方、问诊、药品经营全部归合作方；我们只做品牌、流量、评估、CRM、复购。</a:t>
            </a:r>
            <a:endParaRPr lang="en-US" sz="1276" dirty="0"/>
          </a:p>
        </p:txBody>
      </p:sp>
      <p:sp>
        <p:nvSpPr>
          <p:cNvPr id="26" name="Shape 24"/>
          <p:cNvSpPr/>
          <p:nvPr/>
        </p:nvSpPr>
        <p:spPr>
          <a:xfrm>
            <a:off x="530352" y="3602736"/>
            <a:ext cx="5559552" cy="2414016"/>
          </a:xfrm>
          <a:prstGeom prst="roundRect">
            <a:avLst>
              <a:gd name="adj" fmla="val 303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7" name="Shape 25"/>
          <p:cNvSpPr/>
          <p:nvPr/>
        </p:nvSpPr>
        <p:spPr>
          <a:xfrm>
            <a:off x="530352" y="3602736"/>
            <a:ext cx="5559552" cy="100584"/>
          </a:xfrm>
          <a:prstGeom prst="rect">
            <a:avLst/>
          </a:prstGeom>
          <a:solidFill>
            <a:srgbClr val="BC6652"/>
          </a:solidFill>
          <a:ln w="12700">
            <a:solidFill>
              <a:srgbClr val="BC6652">
                <a:alpha val="0"/>
              </a:srgbClr>
            </a:solidFill>
            <a:prstDash val="solid"/>
          </a:ln>
        </p:spPr>
      </p:sp>
      <p:sp>
        <p:nvSpPr>
          <p:cNvPr id="28" name="Text 26"/>
          <p:cNvSpPr/>
          <p:nvPr/>
        </p:nvSpPr>
        <p:spPr>
          <a:xfrm>
            <a:off x="694944" y="3785616"/>
            <a:ext cx="523036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商业模式判断</a:t>
            </a:r>
            <a:endParaRPr lang="en-US" sz="1500" dirty="0"/>
          </a:p>
        </p:txBody>
      </p:sp>
      <p:sp>
        <p:nvSpPr>
          <p:cNvPr id="29" name="Text 27"/>
          <p:cNvSpPr/>
          <p:nvPr/>
        </p:nvSpPr>
        <p:spPr>
          <a:xfrm>
            <a:off x="694944" y="4114800"/>
            <a:ext cx="5230368" cy="1755648"/>
          </a:xfrm>
          <a:prstGeom prst="rect">
            <a:avLst/>
          </a:prstGeom>
          <a:noFill/>
          <a:ln/>
        </p:spPr>
        <p:txBody>
          <a:bodyPr wrap="square" lIns="0" tIns="0" rIns="0" bIns="0" rtlCol="0" anchor="t">
            <a:normAutofit/>
          </a:bodyPr>
          <a:lstStyle/>
          <a:p>
            <a:pPr indent="0" marL="0">
              <a:buNone/>
            </a:pPr>
            <a:r>
              <a:rPr lang="en-US" sz="1335" dirty="0">
                <a:solidFill>
                  <a:srgbClr val="173632"/>
                </a:solidFill>
                <a:latin typeface="Heiti SC" pitchFamily="34" charset="0"/>
                <a:ea typeface="Heiti SC" pitchFamily="34" charset="-122"/>
                <a:cs typeface="Heiti SC" pitchFamily="34" charset="-120"/>
              </a:rPr>
              <a:t>如果先打处方类，会面临高 CAC、高合规压力和高解释成本；如果先打第二圈与第三圈，就能用更低门槛的内容获取用户，再把高意愿人群导入处方私域。这是整套模型能跑起来的关键顺序。</a:t>
            </a:r>
            <a:endParaRPr lang="en-US" sz="1335" dirty="0"/>
          </a:p>
        </p:txBody>
      </p:sp>
      <p:sp>
        <p:nvSpPr>
          <p:cNvPr id="30" name="Shape 28"/>
          <p:cNvSpPr/>
          <p:nvPr/>
        </p:nvSpPr>
        <p:spPr>
          <a:xfrm>
            <a:off x="6309360" y="3602736"/>
            <a:ext cx="5330952" cy="2414016"/>
          </a:xfrm>
          <a:prstGeom prst="roundRect">
            <a:avLst>
              <a:gd name="adj" fmla="val 303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31" name="Shape 29"/>
          <p:cNvSpPr/>
          <p:nvPr/>
        </p:nvSpPr>
        <p:spPr>
          <a:xfrm>
            <a:off x="6309360" y="3602736"/>
            <a:ext cx="5330952" cy="100584"/>
          </a:xfrm>
          <a:prstGeom prst="rect">
            <a:avLst/>
          </a:prstGeom>
          <a:solidFill>
            <a:srgbClr val="2E6C67"/>
          </a:solidFill>
          <a:ln w="12700">
            <a:solidFill>
              <a:srgbClr val="2E6C67">
                <a:alpha val="0"/>
              </a:srgbClr>
            </a:solidFill>
            <a:prstDash val="solid"/>
          </a:ln>
        </p:spPr>
      </p:sp>
      <p:sp>
        <p:nvSpPr>
          <p:cNvPr id="32" name="Text 30"/>
          <p:cNvSpPr/>
          <p:nvPr/>
        </p:nvSpPr>
        <p:spPr>
          <a:xfrm>
            <a:off x="6473952" y="3785616"/>
            <a:ext cx="500176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董事会当前应关心的 3 个问题</a:t>
            </a:r>
            <a:endParaRPr lang="en-US" sz="1500" dirty="0"/>
          </a:p>
        </p:txBody>
      </p:sp>
      <p:sp>
        <p:nvSpPr>
          <p:cNvPr id="33" name="Text 31"/>
          <p:cNvSpPr/>
          <p:nvPr/>
        </p:nvSpPr>
        <p:spPr>
          <a:xfrm>
            <a:off x="6473952" y="4114800"/>
            <a:ext cx="5001768" cy="1755648"/>
          </a:xfrm>
          <a:prstGeom prst="rect">
            <a:avLst/>
          </a:prstGeom>
          <a:noFill/>
          <a:ln/>
        </p:spPr>
        <p:txBody>
          <a:bodyPr wrap="square" lIns="0" tIns="0" rIns="0" bIns="0" rtlCol="0" anchor="t">
            <a:normAutofit/>
          </a:bodyPr>
          <a:lstStyle/>
          <a:p>
            <a:pPr indent="0" marL="0">
              <a:buNone/>
            </a:pPr>
            <a:r>
              <a:rPr lang="en-US" sz="1397" dirty="0">
                <a:solidFill>
                  <a:srgbClr val="173632"/>
                </a:solidFill>
                <a:latin typeface="Heiti SC" pitchFamily="34" charset="0"/>
                <a:ea typeface="Heiti SC" pitchFamily="34" charset="-122"/>
                <a:cs typeface="Heiti SC" pitchFamily="34" charset="-120"/>
              </a:rPr>
              <a:t>1. 我们是否同意“第二圈优先”的冷启动顺序。</a:t>
            </a:r>
            <a:endParaRPr lang="en-US" sz="1397" dirty="0"/>
          </a:p>
          <a:p>
            <a:pPr indent="0" marL="0">
              <a:buNone/>
            </a:pPr>
            <a:r>
              <a:rPr lang="en-US" sz="1397" dirty="0">
                <a:solidFill>
                  <a:srgbClr val="173632"/>
                </a:solidFill>
                <a:latin typeface="Heiti SC" pitchFamily="34" charset="0"/>
                <a:ea typeface="Heiti SC" pitchFamily="34" charset="-122"/>
                <a:cs typeface="Heiti SC" pitchFamily="34" charset="-120"/>
              </a:rPr>
              <a:t>2. 我们是否接受“流量+技术服务公司”的主体边界。</a:t>
            </a:r>
            <a:endParaRPr lang="en-US" sz="1397" dirty="0"/>
          </a:p>
          <a:p>
            <a:pPr indent="0" marL="0">
              <a:buNone/>
            </a:pPr>
            <a:r>
              <a:rPr lang="en-US" sz="1397" dirty="0">
                <a:solidFill>
                  <a:srgbClr val="173632"/>
                </a:solidFill>
                <a:latin typeface="Heiti SC" pitchFamily="34" charset="0"/>
                <a:ea typeface="Heiti SC" pitchFamily="34" charset="-122"/>
                <a:cs typeface="Heiti SC" pitchFamily="34" charset="-120"/>
              </a:rPr>
              <a:t>3. 我们是否愿意先用 90 天验证模型，再决定规模化投入。</a:t>
            </a:r>
            <a:endParaRPr lang="en-US" sz="1397" dirty="0"/>
          </a:p>
        </p:txBody>
      </p:sp>
    </p:spTree>
  </p:cSld>
  <p:clrMapOvr>
    <a:masterClrMapping/>
  </p:clrMapOvr>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E6C67"/>
          </a:solidFill>
          <a:ln w="12700">
            <a:solidFill>
              <a:srgbClr val="2E6C67">
                <a:alpha val="0"/>
              </a:srgbClr>
            </a:solidFill>
            <a:prstDash val="solid"/>
          </a:ln>
        </p:spPr>
      </p:sp>
      <p:sp>
        <p:nvSpPr>
          <p:cNvPr id="3" name="Text 1"/>
          <p:cNvSpPr/>
          <p:nvPr/>
        </p:nvSpPr>
        <p:spPr>
          <a:xfrm>
            <a:off x="530352" y="256032"/>
            <a:ext cx="7955280" cy="365760"/>
          </a:xfrm>
          <a:prstGeom prst="rect">
            <a:avLst/>
          </a:prstGeom>
          <a:noFill/>
          <a:ln/>
        </p:spPr>
        <p:txBody>
          <a:bodyPr wrap="square" lIns="0" tIns="0" rIns="0" bIns="0" rtlCol="0" anchor="ctr"/>
          <a:lstStyle/>
          <a:p>
            <a:pPr indent="0" marL="0">
              <a:buNone/>
            </a:pPr>
            <a:r>
              <a:rPr lang="en-US" sz="2400" b="1" dirty="0">
                <a:solidFill>
                  <a:srgbClr val="173632"/>
                </a:solidFill>
                <a:latin typeface="Heiti SC" pitchFamily="34" charset="0"/>
                <a:ea typeface="Heiti SC" pitchFamily="34" charset="-122"/>
                <a:cs typeface="Heiti SC" pitchFamily="34" charset="-120"/>
              </a:rPr>
              <a:t>我们怎么赚钱，以及为什么这个模型有机会成立</a:t>
            </a:r>
            <a:endParaRPr lang="en-US" sz="2400" dirty="0"/>
          </a:p>
        </p:txBody>
      </p:sp>
      <p:sp>
        <p:nvSpPr>
          <p:cNvPr id="4" name="Text 2"/>
          <p:cNvSpPr/>
          <p:nvPr/>
        </p:nvSpPr>
        <p:spPr>
          <a:xfrm>
            <a:off x="530352" y="694944"/>
            <a:ext cx="8961120" cy="201168"/>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把业务拆成收入引擎、单位经济和 12 个月经营节奏</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7"/>
          </a:solidFill>
          <a:ln w="12700">
            <a:solidFill>
              <a:srgbClr val="EEF3F0">
                <a:alpha val="0"/>
              </a:srgbClr>
            </a:solidFill>
            <a:prstDash val="solid"/>
          </a:ln>
        </p:spPr>
      </p:sp>
      <p:sp>
        <p:nvSpPr>
          <p:cNvPr id="6" name="Text 4"/>
          <p:cNvSpPr/>
          <p:nvPr/>
        </p:nvSpPr>
        <p:spPr>
          <a:xfrm>
            <a:off x="10058400" y="292608"/>
            <a:ext cx="1261872" cy="164592"/>
          </a:xfrm>
          <a:prstGeom prst="rect">
            <a:avLst/>
          </a:prstGeom>
          <a:noFill/>
          <a:ln/>
        </p:spPr>
        <p:txBody>
          <a:bodyPr wrap="square" lIns="0" tIns="0" rIns="0" bIns="0" rtlCol="0" anchor="ctr"/>
          <a:lstStyle/>
          <a:p>
            <a:pPr algn="ctr" indent="0" marL="0">
              <a:buNone/>
            </a:pPr>
            <a:r>
              <a:rPr lang="en-US" sz="950" b="1" dirty="0">
                <a:solidFill>
                  <a:srgbClr val="2E6C67"/>
                </a:solidFill>
                <a:latin typeface="Heiti SC" pitchFamily="34" charset="0"/>
                <a:ea typeface="Heiti SC" pitchFamily="34" charset="-122"/>
                <a:cs typeface="Heiti SC" pitchFamily="34" charset="-120"/>
              </a:rPr>
              <a:t>模型</a:t>
            </a:r>
            <a:endParaRPr lang="en-US" sz="950" dirty="0"/>
          </a:p>
        </p:txBody>
      </p:sp>
      <p:sp>
        <p:nvSpPr>
          <p:cNvPr id="7" name="Shape 5"/>
          <p:cNvSpPr/>
          <p:nvPr/>
        </p:nvSpPr>
        <p:spPr>
          <a:xfrm>
            <a:off x="530352" y="6455664"/>
            <a:ext cx="11119104" cy="0"/>
          </a:xfrm>
          <a:prstGeom prst="line">
            <a:avLst/>
          </a:prstGeom>
          <a:noFill/>
          <a:ln w="12700">
            <a:solidFill>
              <a:srgbClr val="DDD8CD"/>
            </a:solidFill>
            <a:prstDash val="solid"/>
          </a:ln>
        </p:spPr>
      </p:sp>
      <p:sp>
        <p:nvSpPr>
          <p:cNvPr id="8" name="Text 6"/>
          <p:cNvSpPr/>
          <p:nvPr/>
        </p:nvSpPr>
        <p:spPr>
          <a:xfrm>
            <a:off x="530352" y="6501384"/>
            <a:ext cx="960120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 董事会版 / 融资版 | 预测数据均为内部经营测算，外发前需标注已验证数据</a:t>
            </a:r>
            <a:endParaRPr lang="en-US" sz="800" dirty="0"/>
          </a:p>
        </p:txBody>
      </p:sp>
      <p:sp>
        <p:nvSpPr>
          <p:cNvPr id="9" name="Text 7"/>
          <p:cNvSpPr/>
          <p:nvPr/>
        </p:nvSpPr>
        <p:spPr>
          <a:xfrm>
            <a:off x="11045952" y="6473952"/>
            <a:ext cx="585216" cy="164592"/>
          </a:xfrm>
          <a:prstGeom prst="rect">
            <a:avLst/>
          </a:prstGeom>
          <a:noFill/>
          <a:ln/>
        </p:spPr>
        <p:txBody>
          <a:bodyPr wrap="square" lIns="0" tIns="0" rIns="0" bIns="0" rtlCol="0" anchor="ctr"/>
          <a:lstStyle/>
          <a:p>
            <a:pPr algn="r" indent="0" marL="0">
              <a:buNone/>
            </a:pPr>
            <a:r>
              <a:rPr lang="en-US" sz="900" b="1" dirty="0">
                <a:solidFill>
                  <a:srgbClr val="2E6C67"/>
                </a:solidFill>
                <a:latin typeface="Heiti SC" pitchFamily="34" charset="0"/>
                <a:ea typeface="Heiti SC" pitchFamily="34" charset="-122"/>
                <a:cs typeface="Heiti SC" pitchFamily="34" charset="-120"/>
              </a:rPr>
              <a:t>03</a:t>
            </a:r>
            <a:endParaRPr lang="en-US" sz="900" dirty="0"/>
          </a:p>
        </p:txBody>
      </p:sp>
      <p:sp>
        <p:nvSpPr>
          <p:cNvPr id="10" name="Shape 8"/>
          <p:cNvSpPr/>
          <p:nvPr/>
        </p:nvSpPr>
        <p:spPr>
          <a:xfrm>
            <a:off x="530352" y="1170432"/>
            <a:ext cx="3703320" cy="1920240"/>
          </a:xfrm>
          <a:prstGeom prst="roundRect">
            <a:avLst>
              <a:gd name="adj" fmla="val 381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3703320" cy="100584"/>
          </a:xfrm>
          <a:prstGeom prst="rect">
            <a:avLst/>
          </a:prstGeom>
          <a:solidFill>
            <a:srgbClr val="2E6C67"/>
          </a:solidFill>
          <a:ln w="12700">
            <a:solidFill>
              <a:srgbClr val="2E6C67">
                <a:alpha val="0"/>
              </a:srgbClr>
            </a:solidFill>
            <a:prstDash val="solid"/>
          </a:ln>
        </p:spPr>
      </p:sp>
      <p:sp>
        <p:nvSpPr>
          <p:cNvPr id="12" name="Text 10"/>
          <p:cNvSpPr/>
          <p:nvPr/>
        </p:nvSpPr>
        <p:spPr>
          <a:xfrm>
            <a:off x="694944" y="1353312"/>
            <a:ext cx="337413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三圈收入引擎</a:t>
            </a:r>
            <a:endParaRPr lang="en-US" sz="1500" dirty="0"/>
          </a:p>
        </p:txBody>
      </p:sp>
      <p:sp>
        <p:nvSpPr>
          <p:cNvPr id="13" name="Text 11"/>
          <p:cNvSpPr/>
          <p:nvPr/>
        </p:nvSpPr>
        <p:spPr>
          <a:xfrm>
            <a:off x="694944" y="1682496"/>
            <a:ext cx="3374136" cy="1261872"/>
          </a:xfrm>
          <a:prstGeom prst="rect">
            <a:avLst/>
          </a:prstGeom>
          <a:noFill/>
          <a:ln/>
        </p:spPr>
        <p:txBody>
          <a:bodyPr wrap="square" lIns="0" tIns="0" rIns="0" bIns="0" rtlCol="0" anchor="t">
            <a:normAutofit/>
          </a:bodyPr>
          <a:lstStyle/>
          <a:p>
            <a:pPr indent="0" marL="0">
              <a:buNone/>
            </a:pPr>
            <a:r>
              <a:rPr lang="en-US" sz="1397" dirty="0">
                <a:solidFill>
                  <a:srgbClr val="173632"/>
                </a:solidFill>
                <a:latin typeface="Heiti SC" pitchFamily="34" charset="0"/>
                <a:ea typeface="Heiti SC" pitchFamily="34" charset="-122"/>
                <a:cs typeface="Heiti SC" pitchFamily="34" charset="-120"/>
              </a:rPr>
              <a:t>第一圈：处方医疗，建立专业信任。</a:t>
            </a:r>
            <a:endParaRPr lang="en-US" sz="1397" dirty="0"/>
          </a:p>
          <a:p>
            <a:pPr indent="0" marL="0">
              <a:buNone/>
            </a:pPr>
            <a:r>
              <a:rPr lang="en-US" sz="1397" dirty="0">
                <a:solidFill>
                  <a:srgbClr val="173632"/>
                </a:solidFill>
                <a:latin typeface="Heiti SC" pitchFamily="34" charset="0"/>
                <a:ea typeface="Heiti SC" pitchFamily="34" charset="-122"/>
                <a:cs typeface="Heiti SC" pitchFamily="34" charset="-120"/>
              </a:rPr>
              <a:t>第二圈：药食同源，高频复购，冷启动现金流核心。</a:t>
            </a:r>
            <a:endParaRPr lang="en-US" sz="1397" dirty="0"/>
          </a:p>
          <a:p>
            <a:pPr indent="0" marL="0">
              <a:buNone/>
            </a:pPr>
            <a:r>
              <a:rPr lang="en-US" sz="1397" dirty="0">
                <a:solidFill>
                  <a:srgbClr val="173632"/>
                </a:solidFill>
                <a:latin typeface="Heiti SC" pitchFamily="34" charset="0"/>
                <a:ea typeface="Heiti SC" pitchFamily="34" charset="-122"/>
                <a:cs typeface="Heiti SC" pitchFamily="34" charset="-120"/>
              </a:rPr>
              <a:t>第三圈：保健品，提高客单价和毛利率。</a:t>
            </a:r>
            <a:endParaRPr lang="en-US" sz="1397" dirty="0"/>
          </a:p>
        </p:txBody>
      </p:sp>
      <p:sp>
        <p:nvSpPr>
          <p:cNvPr id="14" name="Shape 12"/>
          <p:cNvSpPr/>
          <p:nvPr/>
        </p:nvSpPr>
        <p:spPr>
          <a:xfrm>
            <a:off x="530352" y="3310128"/>
            <a:ext cx="3703320" cy="2578608"/>
          </a:xfrm>
          <a:prstGeom prst="roundRect">
            <a:avLst>
              <a:gd name="adj" fmla="val 2837"/>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530352" y="3310128"/>
            <a:ext cx="3703320" cy="100584"/>
          </a:xfrm>
          <a:prstGeom prst="rect">
            <a:avLst/>
          </a:prstGeom>
          <a:solidFill>
            <a:srgbClr val="4E9177"/>
          </a:solidFill>
          <a:ln w="12700">
            <a:solidFill>
              <a:srgbClr val="4E9177">
                <a:alpha val="0"/>
              </a:srgbClr>
            </a:solidFill>
            <a:prstDash val="solid"/>
          </a:ln>
        </p:spPr>
      </p:sp>
      <p:sp>
        <p:nvSpPr>
          <p:cNvPr id="16" name="Text 14"/>
          <p:cNvSpPr/>
          <p:nvPr/>
        </p:nvSpPr>
        <p:spPr>
          <a:xfrm>
            <a:off x="694944" y="3493008"/>
            <a:ext cx="337413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单位经济摘要</a:t>
            </a:r>
            <a:endParaRPr lang="en-US" sz="1500" dirty="0"/>
          </a:p>
        </p:txBody>
      </p:sp>
      <p:sp>
        <p:nvSpPr>
          <p:cNvPr id="17" name="Text 15"/>
          <p:cNvSpPr/>
          <p:nvPr/>
        </p:nvSpPr>
        <p:spPr>
          <a:xfrm>
            <a:off x="694944" y="3822192"/>
            <a:ext cx="3374136" cy="1920240"/>
          </a:xfrm>
          <a:prstGeom prst="rect">
            <a:avLst/>
          </a:prstGeom>
          <a:noFill/>
          <a:ln/>
        </p:spPr>
        <p:txBody>
          <a:bodyPr wrap="square" lIns="0" tIns="0" rIns="0" bIns="0" rtlCol="0" anchor="t">
            <a:normAutofit/>
          </a:bodyPr>
          <a:lstStyle/>
          <a:p>
            <a:pPr indent="0" marL="0">
              <a:buNone/>
            </a:pPr>
            <a:r>
              <a:rPr lang="en-US" sz="1296" dirty="0">
                <a:solidFill>
                  <a:srgbClr val="173632"/>
                </a:solidFill>
                <a:latin typeface="Heiti SC" pitchFamily="34" charset="0"/>
                <a:ea typeface="Heiti SC" pitchFamily="34" charset="-122"/>
                <a:cs typeface="Heiti SC" pitchFamily="34" charset="-120"/>
              </a:rPr>
              <a:t>处方药单：首月 ¥399 / 续费 ¥599，续费毛利约 42.4%。</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药食同源单：¥168 / 月，月毛利约 42.3%。</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保健品单：¥198 / 月，月毛利约 46%。</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结论：真正决定模型成立的不是首单毛利，而是 30 日复购和组合加购。</a:t>
            </a:r>
            <a:endParaRPr lang="en-US" sz="1296" dirty="0"/>
          </a:p>
        </p:txBody>
      </p:sp>
      <p:sp>
        <p:nvSpPr>
          <p:cNvPr id="18" name="Shape 16"/>
          <p:cNvSpPr/>
          <p:nvPr/>
        </p:nvSpPr>
        <p:spPr>
          <a:xfrm>
            <a:off x="4480560" y="1170432"/>
            <a:ext cx="3657600" cy="4718304"/>
          </a:xfrm>
          <a:prstGeom prst="roundRect">
            <a:avLst>
              <a:gd name="adj" fmla="val 200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4480560" y="1170432"/>
            <a:ext cx="3657600" cy="100584"/>
          </a:xfrm>
          <a:prstGeom prst="rect">
            <a:avLst/>
          </a:prstGeom>
          <a:solidFill>
            <a:srgbClr val="B78B3C"/>
          </a:solidFill>
          <a:ln w="12700">
            <a:solidFill>
              <a:srgbClr val="B78B3C">
                <a:alpha val="0"/>
              </a:srgbClr>
            </a:solidFill>
            <a:prstDash val="solid"/>
          </a:ln>
        </p:spPr>
      </p:sp>
      <p:sp>
        <p:nvSpPr>
          <p:cNvPr id="20" name="Text 18"/>
          <p:cNvSpPr/>
          <p:nvPr/>
        </p:nvSpPr>
        <p:spPr>
          <a:xfrm>
            <a:off x="4645152" y="1353312"/>
            <a:ext cx="332841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12 个月经营测算</a:t>
            </a:r>
            <a:endParaRPr lang="en-US" sz="1500" dirty="0"/>
          </a:p>
        </p:txBody>
      </p:sp>
      <p:sp>
        <p:nvSpPr>
          <p:cNvPr id="21" name="Text 19"/>
          <p:cNvSpPr/>
          <p:nvPr/>
        </p:nvSpPr>
        <p:spPr>
          <a:xfrm>
            <a:off x="4645152" y="1682496"/>
            <a:ext cx="3328416" cy="4059936"/>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M1：100 付费用户，月收入约 7.65 万。</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M3：500 用户，月收入约 38.25 万。</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M6：2,000 用户，月收入约 153 万。</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M9：5,000 用户，月收入约 382.5 万。</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M12：10,000 用户，月收入约 765 万，净利率目标 25-30%。</a:t>
            </a:r>
            <a:endParaRPr lang="en-US" sz="1316" dirty="0"/>
          </a:p>
          <a:p>
            <a:pPr indent="0" marL="0">
              <a:buNone/>
            </a:pP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这些数字当前属于经营目标，不是已验证业绩。</a:t>
            </a:r>
            <a:endParaRPr lang="en-US" sz="1316" dirty="0"/>
          </a:p>
        </p:txBody>
      </p:sp>
      <p:sp>
        <p:nvSpPr>
          <p:cNvPr id="22" name="Shape 20"/>
          <p:cNvSpPr/>
          <p:nvPr/>
        </p:nvSpPr>
        <p:spPr>
          <a:xfrm>
            <a:off x="8385048" y="1170432"/>
            <a:ext cx="3255264" cy="2267712"/>
          </a:xfrm>
          <a:prstGeom prst="roundRect">
            <a:avLst>
              <a:gd name="adj" fmla="val 3226"/>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8385048" y="1170432"/>
            <a:ext cx="3255264" cy="100584"/>
          </a:xfrm>
          <a:prstGeom prst="rect">
            <a:avLst/>
          </a:prstGeom>
          <a:solidFill>
            <a:srgbClr val="5B84B1"/>
          </a:solidFill>
          <a:ln w="12700">
            <a:solidFill>
              <a:srgbClr val="5B84B1">
                <a:alpha val="0"/>
              </a:srgbClr>
            </a:solidFill>
            <a:prstDash val="solid"/>
          </a:ln>
        </p:spPr>
      </p:sp>
      <p:sp>
        <p:nvSpPr>
          <p:cNvPr id="24" name="Text 22"/>
          <p:cNvSpPr/>
          <p:nvPr/>
        </p:nvSpPr>
        <p:spPr>
          <a:xfrm>
            <a:off x="8549640" y="1353312"/>
            <a:ext cx="2926080"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成本结构</a:t>
            </a:r>
            <a:endParaRPr lang="en-US" sz="1500" dirty="0"/>
          </a:p>
        </p:txBody>
      </p:sp>
      <p:sp>
        <p:nvSpPr>
          <p:cNvPr id="25" name="Text 23"/>
          <p:cNvSpPr/>
          <p:nvPr/>
        </p:nvSpPr>
        <p:spPr>
          <a:xfrm>
            <a:off x="8549640" y="1682496"/>
            <a:ext cx="2926080" cy="1609344"/>
          </a:xfrm>
          <a:prstGeom prst="rect">
            <a:avLst/>
          </a:prstGeom>
          <a:noFill/>
          <a:ln/>
        </p:spPr>
        <p:txBody>
          <a:bodyPr wrap="square" lIns="0" tIns="0" rIns="0" bIns="0" rtlCol="0" anchor="t">
            <a:normAutofit/>
          </a:bodyPr>
          <a:lstStyle/>
          <a:p>
            <a:pPr indent="0" marL="0">
              <a:buNone/>
            </a:pPr>
            <a:r>
              <a:rPr lang="en-US" sz="1276" dirty="0">
                <a:solidFill>
                  <a:srgbClr val="173632"/>
                </a:solidFill>
                <a:latin typeface="Heiti SC" pitchFamily="34" charset="0"/>
                <a:ea typeface="Heiti SC" pitchFamily="34" charset="-122"/>
                <a:cs typeface="Heiti SC" pitchFamily="34" charset="-120"/>
              </a:rPr>
              <a:t>产品成本约 25%，流量获客约 20%，合作方分成约 8%，物流约 5%，AI 系统约 2%，人力约 5%。</a:t>
            </a:r>
            <a:endParaRPr lang="en-US" sz="1276" dirty="0"/>
          </a:p>
          <a:p>
            <a:pPr indent="0" marL="0">
              <a:buNone/>
            </a:pPr>
            <a:r>
              <a:rPr lang="en-US" sz="1276" dirty="0">
                <a:solidFill>
                  <a:srgbClr val="173632"/>
                </a:solidFill>
                <a:latin typeface="Heiti SC" pitchFamily="34" charset="0"/>
                <a:ea typeface="Heiti SC" pitchFamily="34" charset="-122"/>
                <a:cs typeface="Heiti SC" pitchFamily="34" charset="-120"/>
              </a:rPr>
              <a:t>轻资产结构是利润空间的前提。</a:t>
            </a:r>
            <a:endParaRPr lang="en-US" sz="1276" dirty="0"/>
          </a:p>
        </p:txBody>
      </p:sp>
      <p:sp>
        <p:nvSpPr>
          <p:cNvPr id="26" name="Shape 24"/>
          <p:cNvSpPr/>
          <p:nvPr/>
        </p:nvSpPr>
        <p:spPr>
          <a:xfrm>
            <a:off x="8385048" y="3675888"/>
            <a:ext cx="3255264" cy="2212848"/>
          </a:xfrm>
          <a:prstGeom prst="roundRect">
            <a:avLst>
              <a:gd name="adj" fmla="val 3306"/>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7" name="Shape 25"/>
          <p:cNvSpPr/>
          <p:nvPr/>
        </p:nvSpPr>
        <p:spPr>
          <a:xfrm>
            <a:off x="8385048" y="3675888"/>
            <a:ext cx="3255264" cy="100584"/>
          </a:xfrm>
          <a:prstGeom prst="rect">
            <a:avLst/>
          </a:prstGeom>
          <a:solidFill>
            <a:srgbClr val="BC6652"/>
          </a:solidFill>
          <a:ln w="12700">
            <a:solidFill>
              <a:srgbClr val="BC6652">
                <a:alpha val="0"/>
              </a:srgbClr>
            </a:solidFill>
            <a:prstDash val="solid"/>
          </a:ln>
        </p:spPr>
      </p:sp>
      <p:sp>
        <p:nvSpPr>
          <p:cNvPr id="28" name="Text 26"/>
          <p:cNvSpPr/>
          <p:nvPr/>
        </p:nvSpPr>
        <p:spPr>
          <a:xfrm>
            <a:off x="8549640" y="3858768"/>
            <a:ext cx="2926080"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融资视角</a:t>
            </a:r>
            <a:endParaRPr lang="en-US" sz="1500" dirty="0"/>
          </a:p>
        </p:txBody>
      </p:sp>
      <p:sp>
        <p:nvSpPr>
          <p:cNvPr id="29" name="Text 27"/>
          <p:cNvSpPr/>
          <p:nvPr/>
        </p:nvSpPr>
        <p:spPr>
          <a:xfrm>
            <a:off x="8549640" y="4187952"/>
            <a:ext cx="2926080" cy="1554480"/>
          </a:xfrm>
          <a:prstGeom prst="rect">
            <a:avLst/>
          </a:prstGeom>
          <a:noFill/>
          <a:ln/>
        </p:spPr>
        <p:txBody>
          <a:bodyPr wrap="square" lIns="0" tIns="0" rIns="0" bIns="0" rtlCol="0" anchor="t">
            <a:normAutofit/>
          </a:bodyPr>
          <a:lstStyle/>
          <a:p>
            <a:pPr indent="0" marL="0">
              <a:buNone/>
            </a:pPr>
            <a:r>
              <a:rPr lang="en-US" sz="1296" dirty="0">
                <a:solidFill>
                  <a:srgbClr val="173632"/>
                </a:solidFill>
                <a:latin typeface="Heiti SC" pitchFamily="34" charset="0"/>
                <a:ea typeface="Heiti SC" pitchFamily="34" charset="-122"/>
                <a:cs typeface="Heiti SC" pitchFamily="34" charset="-120"/>
              </a:rPr>
              <a:t>投资逻辑不是“卖货 GMV”，而是“可持续 MRR 生意”。</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只要 CAC 可控、复购成立、伙伴稳定，这就是一个能滚起来的订阅型平台。</a:t>
            </a:r>
            <a:endParaRPr lang="en-US" sz="1296" dirty="0"/>
          </a:p>
        </p:txBody>
      </p:sp>
    </p:spTree>
  </p:cSld>
  <p:clrMapOvr>
    <a:masterClrMapping/>
  </p:clrMapOvr>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E6C67"/>
          </a:solidFill>
          <a:ln w="12700">
            <a:solidFill>
              <a:srgbClr val="2E6C67">
                <a:alpha val="0"/>
              </a:srgbClr>
            </a:solidFill>
            <a:prstDash val="solid"/>
          </a:ln>
        </p:spPr>
      </p:sp>
      <p:sp>
        <p:nvSpPr>
          <p:cNvPr id="3" name="Text 1"/>
          <p:cNvSpPr/>
          <p:nvPr/>
        </p:nvSpPr>
        <p:spPr>
          <a:xfrm>
            <a:off x="530352" y="256032"/>
            <a:ext cx="7955280" cy="365760"/>
          </a:xfrm>
          <a:prstGeom prst="rect">
            <a:avLst/>
          </a:prstGeom>
          <a:noFill/>
          <a:ln/>
        </p:spPr>
        <p:txBody>
          <a:bodyPr wrap="square" lIns="0" tIns="0" rIns="0" bIns="0" rtlCol="0" anchor="ctr"/>
          <a:lstStyle/>
          <a:p>
            <a:pPr indent="0" marL="0">
              <a:buNone/>
            </a:pPr>
            <a:r>
              <a:rPr lang="en-US" sz="2400" b="1" dirty="0">
                <a:solidFill>
                  <a:srgbClr val="173632"/>
                </a:solidFill>
                <a:latin typeface="Heiti SC" pitchFamily="34" charset="0"/>
                <a:ea typeface="Heiti SC" pitchFamily="34" charset="-122"/>
                <a:cs typeface="Heiti SC" pitchFamily="34" charset="-120"/>
              </a:rPr>
              <a:t>增长与运营系统：为什么一人公司仍能推进这件事</a:t>
            </a:r>
            <a:endParaRPr lang="en-US" sz="2400" dirty="0"/>
          </a:p>
        </p:txBody>
      </p:sp>
      <p:sp>
        <p:nvSpPr>
          <p:cNvPr id="4" name="Text 2"/>
          <p:cNvSpPr/>
          <p:nvPr/>
        </p:nvSpPr>
        <p:spPr>
          <a:xfrm>
            <a:off x="530352" y="694944"/>
            <a:ext cx="8961120" cy="201168"/>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关键不在于人少，而在于把重复性工作交给系统和合作网络</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7"/>
          </a:solidFill>
          <a:ln w="12700">
            <a:solidFill>
              <a:srgbClr val="EEF3F0">
                <a:alpha val="0"/>
              </a:srgbClr>
            </a:solidFill>
            <a:prstDash val="solid"/>
          </a:ln>
        </p:spPr>
      </p:sp>
      <p:sp>
        <p:nvSpPr>
          <p:cNvPr id="6" name="Text 4"/>
          <p:cNvSpPr/>
          <p:nvPr/>
        </p:nvSpPr>
        <p:spPr>
          <a:xfrm>
            <a:off x="10058400" y="292608"/>
            <a:ext cx="1261872" cy="164592"/>
          </a:xfrm>
          <a:prstGeom prst="rect">
            <a:avLst/>
          </a:prstGeom>
          <a:noFill/>
          <a:ln/>
        </p:spPr>
        <p:txBody>
          <a:bodyPr wrap="square" lIns="0" tIns="0" rIns="0" bIns="0" rtlCol="0" anchor="ctr"/>
          <a:lstStyle/>
          <a:p>
            <a:pPr algn="ctr" indent="0" marL="0">
              <a:buNone/>
            </a:pPr>
            <a:r>
              <a:rPr lang="en-US" sz="950" b="1" dirty="0">
                <a:solidFill>
                  <a:srgbClr val="2E6C67"/>
                </a:solidFill>
                <a:latin typeface="Heiti SC" pitchFamily="34" charset="0"/>
                <a:ea typeface="Heiti SC" pitchFamily="34" charset="-122"/>
                <a:cs typeface="Heiti SC" pitchFamily="34" charset="-120"/>
              </a:rPr>
              <a:t>执行</a:t>
            </a:r>
            <a:endParaRPr lang="en-US" sz="950" dirty="0"/>
          </a:p>
        </p:txBody>
      </p:sp>
      <p:sp>
        <p:nvSpPr>
          <p:cNvPr id="7" name="Shape 5"/>
          <p:cNvSpPr/>
          <p:nvPr/>
        </p:nvSpPr>
        <p:spPr>
          <a:xfrm>
            <a:off x="530352" y="6455664"/>
            <a:ext cx="11119104" cy="0"/>
          </a:xfrm>
          <a:prstGeom prst="line">
            <a:avLst/>
          </a:prstGeom>
          <a:noFill/>
          <a:ln w="12700">
            <a:solidFill>
              <a:srgbClr val="DDD8CD"/>
            </a:solidFill>
            <a:prstDash val="solid"/>
          </a:ln>
        </p:spPr>
      </p:sp>
      <p:sp>
        <p:nvSpPr>
          <p:cNvPr id="8" name="Text 6"/>
          <p:cNvSpPr/>
          <p:nvPr/>
        </p:nvSpPr>
        <p:spPr>
          <a:xfrm>
            <a:off x="530352" y="6501384"/>
            <a:ext cx="960120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 董事会版 / 融资版 | 预测数据均为内部经营测算，外发前需标注已验证数据</a:t>
            </a:r>
            <a:endParaRPr lang="en-US" sz="800" dirty="0"/>
          </a:p>
        </p:txBody>
      </p:sp>
      <p:sp>
        <p:nvSpPr>
          <p:cNvPr id="9" name="Text 7"/>
          <p:cNvSpPr/>
          <p:nvPr/>
        </p:nvSpPr>
        <p:spPr>
          <a:xfrm>
            <a:off x="11045952" y="6473952"/>
            <a:ext cx="585216" cy="164592"/>
          </a:xfrm>
          <a:prstGeom prst="rect">
            <a:avLst/>
          </a:prstGeom>
          <a:noFill/>
          <a:ln/>
        </p:spPr>
        <p:txBody>
          <a:bodyPr wrap="square" lIns="0" tIns="0" rIns="0" bIns="0" rtlCol="0" anchor="ctr"/>
          <a:lstStyle/>
          <a:p>
            <a:pPr algn="r" indent="0" marL="0">
              <a:buNone/>
            </a:pPr>
            <a:r>
              <a:rPr lang="en-US" sz="900" b="1" dirty="0">
                <a:solidFill>
                  <a:srgbClr val="2E6C67"/>
                </a:solidFill>
                <a:latin typeface="Heiti SC" pitchFamily="34" charset="0"/>
                <a:ea typeface="Heiti SC" pitchFamily="34" charset="-122"/>
                <a:cs typeface="Heiti SC" pitchFamily="34" charset="-120"/>
              </a:rPr>
              <a:t>04</a:t>
            </a:r>
            <a:endParaRPr lang="en-US" sz="900" dirty="0"/>
          </a:p>
        </p:txBody>
      </p:sp>
      <p:sp>
        <p:nvSpPr>
          <p:cNvPr id="10" name="Shape 8"/>
          <p:cNvSpPr/>
          <p:nvPr/>
        </p:nvSpPr>
        <p:spPr>
          <a:xfrm>
            <a:off x="530352" y="1170432"/>
            <a:ext cx="3794760" cy="2148840"/>
          </a:xfrm>
          <a:prstGeom prst="roundRect">
            <a:avLst>
              <a:gd name="adj" fmla="val 3404"/>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3794760" cy="100584"/>
          </a:xfrm>
          <a:prstGeom prst="rect">
            <a:avLst/>
          </a:prstGeom>
          <a:solidFill>
            <a:srgbClr val="2E6C67"/>
          </a:solidFill>
          <a:ln w="12700">
            <a:solidFill>
              <a:srgbClr val="2E6C67">
                <a:alpha val="0"/>
              </a:srgbClr>
            </a:solidFill>
            <a:prstDash val="solid"/>
          </a:ln>
        </p:spPr>
      </p:sp>
      <p:sp>
        <p:nvSpPr>
          <p:cNvPr id="12" name="Text 10"/>
          <p:cNvSpPr/>
          <p:nvPr/>
        </p:nvSpPr>
        <p:spPr>
          <a:xfrm>
            <a:off x="694944" y="1353312"/>
            <a:ext cx="346557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增长漏斗</a:t>
            </a:r>
            <a:endParaRPr lang="en-US" sz="1500" dirty="0"/>
          </a:p>
        </p:txBody>
      </p:sp>
      <p:sp>
        <p:nvSpPr>
          <p:cNvPr id="13" name="Text 11"/>
          <p:cNvSpPr/>
          <p:nvPr/>
        </p:nvSpPr>
        <p:spPr>
          <a:xfrm>
            <a:off x="694944" y="1682496"/>
            <a:ext cx="3465576" cy="1490472"/>
          </a:xfrm>
          <a:prstGeom prst="rect">
            <a:avLst/>
          </a:prstGeom>
          <a:noFill/>
          <a:ln/>
        </p:spPr>
        <p:txBody>
          <a:bodyPr wrap="square" lIns="0" tIns="0" rIns="0" bIns="0" rtlCol="0" anchor="t">
            <a:normAutofit/>
          </a:bodyPr>
          <a:lstStyle/>
          <a:p>
            <a:pPr indent="0" marL="0">
              <a:buNone/>
            </a:pPr>
            <a:r>
              <a:rPr lang="en-US" sz="1355" dirty="0">
                <a:solidFill>
                  <a:srgbClr val="173632"/>
                </a:solidFill>
                <a:latin typeface="Heiti SC" pitchFamily="34" charset="0"/>
                <a:ea typeface="Heiti SC" pitchFamily="34" charset="-122"/>
                <a:cs typeface="Heiti SC" pitchFamily="34" charset="-120"/>
              </a:rPr>
              <a:t>公域内容（小红书 / 抖音 / 微信）→ H5 留资 → AI 评估 → 企微顾问 → 支付成交 → 随访复购 → 裂变。</a:t>
            </a:r>
            <a:endParaRPr lang="en-US" sz="1355" dirty="0"/>
          </a:p>
          <a:p>
            <a:pPr indent="0" marL="0">
              <a:buNone/>
            </a:pPr>
            <a:r>
              <a:rPr lang="en-US" sz="1355" dirty="0">
                <a:solidFill>
                  <a:srgbClr val="173632"/>
                </a:solidFill>
                <a:latin typeface="Heiti SC" pitchFamily="34" charset="0"/>
                <a:ea typeface="Heiti SC" pitchFamily="34" charset="-122"/>
                <a:cs typeface="Heiti SC" pitchFamily="34" charset="-120"/>
              </a:rPr>
              <a:t>公域做兴趣，私域做成交，社群做留存。</a:t>
            </a:r>
            <a:endParaRPr lang="en-US" sz="1355" dirty="0"/>
          </a:p>
        </p:txBody>
      </p:sp>
      <p:sp>
        <p:nvSpPr>
          <p:cNvPr id="14" name="Shape 12"/>
          <p:cNvSpPr/>
          <p:nvPr/>
        </p:nvSpPr>
        <p:spPr>
          <a:xfrm>
            <a:off x="530352" y="3566160"/>
            <a:ext cx="3794760" cy="2322576"/>
          </a:xfrm>
          <a:prstGeom prst="roundRect">
            <a:avLst>
              <a:gd name="adj" fmla="val 315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530352" y="3566160"/>
            <a:ext cx="3794760" cy="100584"/>
          </a:xfrm>
          <a:prstGeom prst="rect">
            <a:avLst/>
          </a:prstGeom>
          <a:solidFill>
            <a:srgbClr val="4E9177"/>
          </a:solidFill>
          <a:ln w="12700">
            <a:solidFill>
              <a:srgbClr val="4E9177">
                <a:alpha val="0"/>
              </a:srgbClr>
            </a:solidFill>
            <a:prstDash val="solid"/>
          </a:ln>
        </p:spPr>
      </p:sp>
      <p:sp>
        <p:nvSpPr>
          <p:cNvPr id="16" name="Text 14"/>
          <p:cNvSpPr/>
          <p:nvPr/>
        </p:nvSpPr>
        <p:spPr>
          <a:xfrm>
            <a:off x="694944" y="3749040"/>
            <a:ext cx="346557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AI 四层架构</a:t>
            </a:r>
            <a:endParaRPr lang="en-US" sz="1500" dirty="0"/>
          </a:p>
        </p:txBody>
      </p:sp>
      <p:sp>
        <p:nvSpPr>
          <p:cNvPr id="17" name="Text 15"/>
          <p:cNvSpPr/>
          <p:nvPr/>
        </p:nvSpPr>
        <p:spPr>
          <a:xfrm>
            <a:off x="694944" y="4078224"/>
            <a:ext cx="3465576" cy="1664208"/>
          </a:xfrm>
          <a:prstGeom prst="rect">
            <a:avLst/>
          </a:prstGeom>
          <a:noFill/>
          <a:ln/>
        </p:spPr>
        <p:txBody>
          <a:bodyPr wrap="square" lIns="0" tIns="0" rIns="0" bIns="0" rtlCol="0" anchor="t">
            <a:normAutofit/>
          </a:bodyPr>
          <a:lstStyle/>
          <a:p>
            <a:pPr indent="0" marL="0">
              <a:buNone/>
            </a:pPr>
            <a:r>
              <a:rPr lang="en-US" sz="1296" dirty="0">
                <a:solidFill>
                  <a:srgbClr val="173632"/>
                </a:solidFill>
                <a:latin typeface="Heiti SC" pitchFamily="34" charset="0"/>
                <a:ea typeface="Heiti SC" pitchFamily="34" charset="-122"/>
                <a:cs typeface="Heiti SC" pitchFamily="34" charset="-120"/>
              </a:rPr>
              <a:t>Agent 层：内容、客服、运营、数据。</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工具层：评估系统、业务流、后台、内容引擎。</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合作层：医院、药房、工厂、物流、支付。</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人层：创始人只做决策、谈判、合规与关键升级。</a:t>
            </a:r>
            <a:endParaRPr lang="en-US" sz="1296" dirty="0"/>
          </a:p>
        </p:txBody>
      </p:sp>
      <p:sp>
        <p:nvSpPr>
          <p:cNvPr id="18" name="Shape 16"/>
          <p:cNvSpPr/>
          <p:nvPr/>
        </p:nvSpPr>
        <p:spPr>
          <a:xfrm>
            <a:off x="4572000" y="1170432"/>
            <a:ext cx="3456432" cy="2148840"/>
          </a:xfrm>
          <a:prstGeom prst="roundRect">
            <a:avLst>
              <a:gd name="adj" fmla="val 3404"/>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4572000" y="1170432"/>
            <a:ext cx="3456432" cy="100584"/>
          </a:xfrm>
          <a:prstGeom prst="rect">
            <a:avLst/>
          </a:prstGeom>
          <a:solidFill>
            <a:srgbClr val="B78B3C"/>
          </a:solidFill>
          <a:ln w="12700">
            <a:solidFill>
              <a:srgbClr val="B78B3C">
                <a:alpha val="0"/>
              </a:srgbClr>
            </a:solidFill>
            <a:prstDash val="solid"/>
          </a:ln>
        </p:spPr>
      </p:sp>
      <p:sp>
        <p:nvSpPr>
          <p:cNvPr id="20" name="Text 18"/>
          <p:cNvSpPr/>
          <p:nvPr/>
        </p:nvSpPr>
        <p:spPr>
          <a:xfrm>
            <a:off x="4736592" y="1353312"/>
            <a:ext cx="312724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90 天重点里程碑</a:t>
            </a:r>
            <a:endParaRPr lang="en-US" sz="1500" dirty="0"/>
          </a:p>
        </p:txBody>
      </p:sp>
      <p:sp>
        <p:nvSpPr>
          <p:cNvPr id="21" name="Text 19"/>
          <p:cNvSpPr/>
          <p:nvPr/>
        </p:nvSpPr>
        <p:spPr>
          <a:xfrm>
            <a:off x="4736592" y="1682496"/>
            <a:ext cx="3127248" cy="1490472"/>
          </a:xfrm>
          <a:prstGeom prst="rect">
            <a:avLst/>
          </a:prstGeom>
          <a:noFill/>
          <a:ln/>
        </p:spPr>
        <p:txBody>
          <a:bodyPr wrap="square" lIns="0" tIns="0" rIns="0" bIns="0" rtlCol="0" anchor="t">
            <a:normAutofit/>
          </a:bodyPr>
          <a:lstStyle/>
          <a:p>
            <a:pPr indent="0" marL="0">
              <a:buNone/>
            </a:pPr>
            <a:r>
              <a:rPr lang="en-US" sz="1355" dirty="0">
                <a:solidFill>
                  <a:srgbClr val="173632"/>
                </a:solidFill>
                <a:latin typeface="Heiti SC" pitchFamily="34" charset="0"/>
                <a:ea typeface="Heiti SC" pitchFamily="34" charset="-122"/>
                <a:cs typeface="Heiti SC" pitchFamily="34" charset="-120"/>
              </a:rPr>
              <a:t>D1-D30：跑通最小闭环。</a:t>
            </a:r>
            <a:endParaRPr lang="en-US" sz="1355" dirty="0"/>
          </a:p>
          <a:p>
            <a:pPr indent="0" marL="0">
              <a:buNone/>
            </a:pPr>
            <a:r>
              <a:rPr lang="en-US" sz="1355" dirty="0">
                <a:solidFill>
                  <a:srgbClr val="173632"/>
                </a:solidFill>
                <a:latin typeface="Heiti SC" pitchFamily="34" charset="0"/>
                <a:ea typeface="Heiti SC" pitchFamily="34" charset="-122"/>
                <a:cs typeface="Heiti SC" pitchFamily="34" charset="-120"/>
              </a:rPr>
              <a:t>D31-D60：固定主打品类和主打渠道。</a:t>
            </a:r>
            <a:endParaRPr lang="en-US" sz="1355" dirty="0"/>
          </a:p>
          <a:p>
            <a:pPr indent="0" marL="0">
              <a:buNone/>
            </a:pPr>
            <a:r>
              <a:rPr lang="en-US" sz="1355" dirty="0">
                <a:solidFill>
                  <a:srgbClr val="173632"/>
                </a:solidFill>
                <a:latin typeface="Heiti SC" pitchFamily="34" charset="0"/>
                <a:ea typeface="Heiti SC" pitchFamily="34" charset="-122"/>
                <a:cs typeface="Heiti SC" pitchFamily="34" charset="-120"/>
              </a:rPr>
              <a:t>D61-D90：放大第二圈和第三圈，谨慎引入处方私域服务。</a:t>
            </a:r>
            <a:endParaRPr lang="en-US" sz="1355" dirty="0"/>
          </a:p>
        </p:txBody>
      </p:sp>
      <p:sp>
        <p:nvSpPr>
          <p:cNvPr id="22" name="Shape 20"/>
          <p:cNvSpPr/>
          <p:nvPr/>
        </p:nvSpPr>
        <p:spPr>
          <a:xfrm>
            <a:off x="4572000" y="3566160"/>
            <a:ext cx="3456432" cy="2322576"/>
          </a:xfrm>
          <a:prstGeom prst="roundRect">
            <a:avLst>
              <a:gd name="adj" fmla="val 3150"/>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4572000" y="3566160"/>
            <a:ext cx="3456432" cy="100584"/>
          </a:xfrm>
          <a:prstGeom prst="rect">
            <a:avLst/>
          </a:prstGeom>
          <a:solidFill>
            <a:srgbClr val="5B84B1"/>
          </a:solidFill>
          <a:ln w="12700">
            <a:solidFill>
              <a:srgbClr val="5B84B1">
                <a:alpha val="0"/>
              </a:srgbClr>
            </a:solidFill>
            <a:prstDash val="solid"/>
          </a:ln>
        </p:spPr>
      </p:sp>
      <p:sp>
        <p:nvSpPr>
          <p:cNvPr id="24" name="Text 22"/>
          <p:cNvSpPr/>
          <p:nvPr/>
        </p:nvSpPr>
        <p:spPr>
          <a:xfrm>
            <a:off x="4736592" y="3749040"/>
            <a:ext cx="312724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当前系统基础</a:t>
            </a:r>
            <a:endParaRPr lang="en-US" sz="1500" dirty="0"/>
          </a:p>
        </p:txBody>
      </p:sp>
      <p:sp>
        <p:nvSpPr>
          <p:cNvPr id="25" name="Text 23"/>
          <p:cNvSpPr/>
          <p:nvPr/>
        </p:nvSpPr>
        <p:spPr>
          <a:xfrm>
            <a:off x="4736592" y="4078224"/>
            <a:ext cx="3127248" cy="1664208"/>
          </a:xfrm>
          <a:prstGeom prst="rect">
            <a:avLst/>
          </a:prstGeom>
          <a:noFill/>
          <a:ln/>
        </p:spPr>
        <p:txBody>
          <a:bodyPr wrap="square" lIns="0" tIns="0" rIns="0" bIns="0" rtlCol="0" anchor="t">
            <a:normAutofit/>
          </a:bodyPr>
          <a:lstStyle/>
          <a:p>
            <a:pPr indent="0" marL="0">
              <a:buNone/>
            </a:pPr>
            <a:r>
              <a:rPr lang="en-US" sz="1306" dirty="0">
                <a:solidFill>
                  <a:srgbClr val="173632"/>
                </a:solidFill>
                <a:latin typeface="Heiti SC" pitchFamily="34" charset="0"/>
                <a:ea typeface="Heiti SC" pitchFamily="34" charset="-122"/>
                <a:cs typeface="Heiti SC" pitchFamily="34" charset="-120"/>
              </a:rPr>
              <a:t>已具备：主站、评估、后台、订单与线索数据结构、内容引擎。</a:t>
            </a:r>
            <a:endParaRPr lang="en-US" sz="1306" dirty="0"/>
          </a:p>
          <a:p>
            <a:pPr indent="0" marL="0">
              <a:buNone/>
            </a:pPr>
            <a:r>
              <a:rPr lang="en-US" sz="1306" dirty="0">
                <a:solidFill>
                  <a:srgbClr val="173632"/>
                </a:solidFill>
                <a:latin typeface="Heiti SC" pitchFamily="34" charset="0"/>
                <a:ea typeface="Heiti SC" pitchFamily="34" charset="-122"/>
                <a:cs typeface="Heiti SC" pitchFamily="34" charset="-120"/>
              </a:rPr>
              <a:t>待补齐：支付闭环、企微承接、订阅管理、伙伴 API 实接。</a:t>
            </a:r>
            <a:endParaRPr lang="en-US" sz="1306" dirty="0"/>
          </a:p>
        </p:txBody>
      </p:sp>
      <p:sp>
        <p:nvSpPr>
          <p:cNvPr id="26" name="Shape 24"/>
          <p:cNvSpPr/>
          <p:nvPr/>
        </p:nvSpPr>
        <p:spPr>
          <a:xfrm>
            <a:off x="8275320" y="1170432"/>
            <a:ext cx="3364992" cy="4718304"/>
          </a:xfrm>
          <a:prstGeom prst="roundRect">
            <a:avLst>
              <a:gd name="adj" fmla="val 2174"/>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7" name="Shape 25"/>
          <p:cNvSpPr/>
          <p:nvPr/>
        </p:nvSpPr>
        <p:spPr>
          <a:xfrm>
            <a:off x="8275320" y="1170432"/>
            <a:ext cx="3364992" cy="100584"/>
          </a:xfrm>
          <a:prstGeom prst="rect">
            <a:avLst/>
          </a:prstGeom>
          <a:solidFill>
            <a:srgbClr val="BC6652"/>
          </a:solidFill>
          <a:ln w="12700">
            <a:solidFill>
              <a:srgbClr val="BC6652">
                <a:alpha val="0"/>
              </a:srgbClr>
            </a:solidFill>
            <a:prstDash val="solid"/>
          </a:ln>
        </p:spPr>
      </p:sp>
      <p:sp>
        <p:nvSpPr>
          <p:cNvPr id="28" name="Text 26"/>
          <p:cNvSpPr/>
          <p:nvPr/>
        </p:nvSpPr>
        <p:spPr>
          <a:xfrm>
            <a:off x="8439912" y="1353312"/>
            <a:ext cx="303580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为什么现在适合推进</a:t>
            </a:r>
            <a:endParaRPr lang="en-US" sz="1500" dirty="0"/>
          </a:p>
        </p:txBody>
      </p:sp>
      <p:sp>
        <p:nvSpPr>
          <p:cNvPr id="29" name="Text 27"/>
          <p:cNvSpPr/>
          <p:nvPr/>
        </p:nvSpPr>
        <p:spPr>
          <a:xfrm>
            <a:off x="8439912" y="1682496"/>
            <a:ext cx="3035808" cy="4059936"/>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1. 现有文档和仓库已具备最小经营骨架。</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2. 冷启动可以先依赖第二圈与第三圈，不必直接重投处方链路。</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3. 一旦伙伴网络敲定，平台可在较轻的人力结构下扩大。</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4. 风险并不小，但已经足够清楚，可以被前置管理。</a:t>
            </a:r>
            <a:endParaRPr lang="en-US" sz="1316" dirty="0"/>
          </a:p>
        </p:txBody>
      </p:sp>
    </p:spTree>
  </p:cSld>
  <p:clrMapOvr>
    <a:masterClrMapping/>
  </p:clrMapOvr>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E6C67"/>
          </a:solidFill>
          <a:ln w="12700">
            <a:solidFill>
              <a:srgbClr val="2E6C67">
                <a:alpha val="0"/>
              </a:srgbClr>
            </a:solidFill>
            <a:prstDash val="solid"/>
          </a:ln>
        </p:spPr>
      </p:sp>
      <p:sp>
        <p:nvSpPr>
          <p:cNvPr id="3" name="Text 1"/>
          <p:cNvSpPr/>
          <p:nvPr/>
        </p:nvSpPr>
        <p:spPr>
          <a:xfrm>
            <a:off x="530352" y="256032"/>
            <a:ext cx="7955280" cy="365760"/>
          </a:xfrm>
          <a:prstGeom prst="rect">
            <a:avLst/>
          </a:prstGeom>
          <a:noFill/>
          <a:ln/>
        </p:spPr>
        <p:txBody>
          <a:bodyPr wrap="square" lIns="0" tIns="0" rIns="0" bIns="0" rtlCol="0" anchor="ctr"/>
          <a:lstStyle/>
          <a:p>
            <a:pPr indent="0" marL="0">
              <a:buNone/>
            </a:pPr>
            <a:r>
              <a:rPr lang="en-US" sz="2400" b="1" dirty="0">
                <a:solidFill>
                  <a:srgbClr val="173632"/>
                </a:solidFill>
                <a:latin typeface="Heiti SC" pitchFamily="34" charset="0"/>
                <a:ea typeface="Heiti SC" pitchFamily="34" charset="-122"/>
                <a:cs typeface="Heiti SC" pitchFamily="34" charset="-120"/>
              </a:rPr>
              <a:t>董事会版结论：现在需要拍板什么，融资版需要补什么</a:t>
            </a:r>
            <a:endParaRPr lang="en-US" sz="2400" dirty="0"/>
          </a:p>
        </p:txBody>
      </p:sp>
      <p:sp>
        <p:nvSpPr>
          <p:cNvPr id="4" name="Text 2"/>
          <p:cNvSpPr/>
          <p:nvPr/>
        </p:nvSpPr>
        <p:spPr>
          <a:xfrm>
            <a:off x="530352" y="694944"/>
            <a:ext cx="8961120" cy="201168"/>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最后一页只回答“下一步怎么推进”</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7"/>
          </a:solidFill>
          <a:ln w="12700">
            <a:solidFill>
              <a:srgbClr val="EEF3F0">
                <a:alpha val="0"/>
              </a:srgbClr>
            </a:solidFill>
            <a:prstDash val="solid"/>
          </a:ln>
        </p:spPr>
      </p:sp>
      <p:sp>
        <p:nvSpPr>
          <p:cNvPr id="6" name="Text 4"/>
          <p:cNvSpPr/>
          <p:nvPr/>
        </p:nvSpPr>
        <p:spPr>
          <a:xfrm>
            <a:off x="10058400" y="292608"/>
            <a:ext cx="1261872" cy="164592"/>
          </a:xfrm>
          <a:prstGeom prst="rect">
            <a:avLst/>
          </a:prstGeom>
          <a:noFill/>
          <a:ln/>
        </p:spPr>
        <p:txBody>
          <a:bodyPr wrap="square" lIns="0" tIns="0" rIns="0" bIns="0" rtlCol="0" anchor="ctr"/>
          <a:lstStyle/>
          <a:p>
            <a:pPr algn="ctr" indent="0" marL="0">
              <a:buNone/>
            </a:pPr>
            <a:r>
              <a:rPr lang="en-US" sz="950" b="1" dirty="0">
                <a:solidFill>
                  <a:srgbClr val="2E6C67"/>
                </a:solidFill>
                <a:latin typeface="Heiti SC" pitchFamily="34" charset="0"/>
                <a:ea typeface="Heiti SC" pitchFamily="34" charset="-122"/>
                <a:cs typeface="Heiti SC" pitchFamily="34" charset="-120"/>
              </a:rPr>
              <a:t>决策</a:t>
            </a:r>
            <a:endParaRPr lang="en-US" sz="950" dirty="0"/>
          </a:p>
        </p:txBody>
      </p:sp>
      <p:sp>
        <p:nvSpPr>
          <p:cNvPr id="7" name="Shape 5"/>
          <p:cNvSpPr/>
          <p:nvPr/>
        </p:nvSpPr>
        <p:spPr>
          <a:xfrm>
            <a:off x="530352" y="6455664"/>
            <a:ext cx="11119104" cy="0"/>
          </a:xfrm>
          <a:prstGeom prst="line">
            <a:avLst/>
          </a:prstGeom>
          <a:noFill/>
          <a:ln w="12700">
            <a:solidFill>
              <a:srgbClr val="DDD8CD"/>
            </a:solidFill>
            <a:prstDash val="solid"/>
          </a:ln>
        </p:spPr>
      </p:sp>
      <p:sp>
        <p:nvSpPr>
          <p:cNvPr id="8" name="Text 6"/>
          <p:cNvSpPr/>
          <p:nvPr/>
        </p:nvSpPr>
        <p:spPr>
          <a:xfrm>
            <a:off x="530352" y="6501384"/>
            <a:ext cx="960120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 董事会版 / 融资版 | 预测数据均为内部经营测算，外发前需标注已验证数据</a:t>
            </a:r>
            <a:endParaRPr lang="en-US" sz="800" dirty="0"/>
          </a:p>
        </p:txBody>
      </p:sp>
      <p:sp>
        <p:nvSpPr>
          <p:cNvPr id="9" name="Text 7"/>
          <p:cNvSpPr/>
          <p:nvPr/>
        </p:nvSpPr>
        <p:spPr>
          <a:xfrm>
            <a:off x="11045952" y="6473952"/>
            <a:ext cx="585216" cy="164592"/>
          </a:xfrm>
          <a:prstGeom prst="rect">
            <a:avLst/>
          </a:prstGeom>
          <a:noFill/>
          <a:ln/>
        </p:spPr>
        <p:txBody>
          <a:bodyPr wrap="square" lIns="0" tIns="0" rIns="0" bIns="0" rtlCol="0" anchor="ctr"/>
          <a:lstStyle/>
          <a:p>
            <a:pPr algn="r" indent="0" marL="0">
              <a:buNone/>
            </a:pPr>
            <a:r>
              <a:rPr lang="en-US" sz="900" b="1" dirty="0">
                <a:solidFill>
                  <a:srgbClr val="2E6C67"/>
                </a:solidFill>
                <a:latin typeface="Heiti SC" pitchFamily="34" charset="0"/>
                <a:ea typeface="Heiti SC" pitchFamily="34" charset="-122"/>
                <a:cs typeface="Heiti SC" pitchFamily="34" charset="-120"/>
              </a:rPr>
              <a:t>05</a:t>
            </a:r>
            <a:endParaRPr lang="en-US" sz="900" dirty="0"/>
          </a:p>
        </p:txBody>
      </p:sp>
      <p:sp>
        <p:nvSpPr>
          <p:cNvPr id="10" name="Shape 8"/>
          <p:cNvSpPr/>
          <p:nvPr/>
        </p:nvSpPr>
        <p:spPr>
          <a:xfrm>
            <a:off x="530352" y="1170432"/>
            <a:ext cx="3685032" cy="2121408"/>
          </a:xfrm>
          <a:prstGeom prst="roundRect">
            <a:avLst>
              <a:gd name="adj" fmla="val 3448"/>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3685032" cy="100584"/>
          </a:xfrm>
          <a:prstGeom prst="rect">
            <a:avLst/>
          </a:prstGeom>
          <a:solidFill>
            <a:srgbClr val="2E6C67"/>
          </a:solidFill>
          <a:ln w="12700">
            <a:solidFill>
              <a:srgbClr val="2E6C67">
                <a:alpha val="0"/>
              </a:srgbClr>
            </a:solidFill>
            <a:prstDash val="solid"/>
          </a:ln>
        </p:spPr>
      </p:sp>
      <p:sp>
        <p:nvSpPr>
          <p:cNvPr id="12" name="Text 10"/>
          <p:cNvSpPr/>
          <p:nvPr/>
        </p:nvSpPr>
        <p:spPr>
          <a:xfrm>
            <a:off x="694944" y="1353312"/>
            <a:ext cx="335584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董事会需确认的 4 件事</a:t>
            </a:r>
            <a:endParaRPr lang="en-US" sz="1500" dirty="0"/>
          </a:p>
        </p:txBody>
      </p:sp>
      <p:sp>
        <p:nvSpPr>
          <p:cNvPr id="13" name="Text 11"/>
          <p:cNvSpPr/>
          <p:nvPr/>
        </p:nvSpPr>
        <p:spPr>
          <a:xfrm>
            <a:off x="694944" y="1682496"/>
            <a:ext cx="3355848" cy="1463040"/>
          </a:xfrm>
          <a:prstGeom prst="rect">
            <a:avLst/>
          </a:prstGeom>
          <a:noFill/>
          <a:ln/>
        </p:spPr>
        <p:txBody>
          <a:bodyPr wrap="square" lIns="0" tIns="0" rIns="0" bIns="0" rtlCol="0" anchor="t">
            <a:normAutofit/>
          </a:bodyPr>
          <a:lstStyle/>
          <a:p>
            <a:pPr indent="0" marL="0">
              <a:buNone/>
            </a:pPr>
            <a:r>
              <a:rPr lang="en-US" sz="1316" dirty="0">
                <a:solidFill>
                  <a:srgbClr val="173632"/>
                </a:solidFill>
                <a:latin typeface="Heiti SC" pitchFamily="34" charset="0"/>
                <a:ea typeface="Heiti SC" pitchFamily="34" charset="-122"/>
                <a:cs typeface="Heiti SC" pitchFamily="34" charset="-120"/>
              </a:rPr>
              <a:t>1. 是否批准以第二圈为先的冷启动顺序。</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2. 是否批准 90 天验证期及对应预算。</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3. 是否批准优先敲定互联网医院 / 药房 / 供应商三类关键合作。</a:t>
            </a:r>
            <a:endParaRPr lang="en-US" sz="1316" dirty="0"/>
          </a:p>
          <a:p>
            <a:pPr indent="0" marL="0">
              <a:buNone/>
            </a:pPr>
            <a:r>
              <a:rPr lang="en-US" sz="1316" dirty="0">
                <a:solidFill>
                  <a:srgbClr val="173632"/>
                </a:solidFill>
                <a:latin typeface="Heiti SC" pitchFamily="34" charset="0"/>
                <a:ea typeface="Heiti SC" pitchFamily="34" charset="-122"/>
                <a:cs typeface="Heiti SC" pitchFamily="34" charset="-120"/>
              </a:rPr>
              <a:t>4. 是否同意启动融资资料准备。</a:t>
            </a:r>
            <a:endParaRPr lang="en-US" sz="1316" dirty="0"/>
          </a:p>
        </p:txBody>
      </p:sp>
      <p:sp>
        <p:nvSpPr>
          <p:cNvPr id="14" name="Shape 12"/>
          <p:cNvSpPr/>
          <p:nvPr/>
        </p:nvSpPr>
        <p:spPr>
          <a:xfrm>
            <a:off x="530352" y="3529584"/>
            <a:ext cx="3685032" cy="2377440"/>
          </a:xfrm>
          <a:prstGeom prst="roundRect">
            <a:avLst>
              <a:gd name="adj" fmla="val 3077"/>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530352" y="3529584"/>
            <a:ext cx="3685032" cy="100584"/>
          </a:xfrm>
          <a:prstGeom prst="rect">
            <a:avLst/>
          </a:prstGeom>
          <a:solidFill>
            <a:srgbClr val="4E9177"/>
          </a:solidFill>
          <a:ln w="12700">
            <a:solidFill>
              <a:srgbClr val="4E9177">
                <a:alpha val="0"/>
              </a:srgbClr>
            </a:solidFill>
            <a:prstDash val="solid"/>
          </a:ln>
        </p:spPr>
      </p:sp>
      <p:sp>
        <p:nvSpPr>
          <p:cNvPr id="16" name="Text 14"/>
          <p:cNvSpPr/>
          <p:nvPr/>
        </p:nvSpPr>
        <p:spPr>
          <a:xfrm>
            <a:off x="694944" y="3712464"/>
            <a:ext cx="3355848"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本轮资金若启动，建议用途结构</a:t>
            </a:r>
            <a:endParaRPr lang="en-US" sz="1500" dirty="0"/>
          </a:p>
        </p:txBody>
      </p:sp>
      <p:sp>
        <p:nvSpPr>
          <p:cNvPr id="17" name="Text 15"/>
          <p:cNvSpPr/>
          <p:nvPr/>
        </p:nvSpPr>
        <p:spPr>
          <a:xfrm>
            <a:off x="694944" y="4041648"/>
            <a:ext cx="3355848" cy="1719072"/>
          </a:xfrm>
          <a:prstGeom prst="rect">
            <a:avLst/>
          </a:prstGeom>
          <a:noFill/>
          <a:ln/>
        </p:spPr>
        <p:txBody>
          <a:bodyPr wrap="square" lIns="0" tIns="0" rIns="0" bIns="0" rtlCol="0" anchor="t">
            <a:normAutofit/>
          </a:bodyPr>
          <a:lstStyle/>
          <a:p>
            <a:pPr indent="0" marL="0">
              <a:buNone/>
            </a:pPr>
            <a:r>
              <a:rPr lang="en-US" sz="1276" dirty="0">
                <a:solidFill>
                  <a:srgbClr val="173632"/>
                </a:solidFill>
                <a:latin typeface="Heiti SC" pitchFamily="34" charset="0"/>
                <a:ea typeface="Heiti SC" pitchFamily="34" charset="-122"/>
                <a:cs typeface="Heiti SC" pitchFamily="34" charset="-120"/>
              </a:rPr>
              <a:t>35% 用于增长验证与内容投放。</a:t>
            </a:r>
            <a:endParaRPr lang="en-US" sz="1276" dirty="0"/>
          </a:p>
          <a:p>
            <a:pPr indent="0" marL="0">
              <a:buNone/>
            </a:pPr>
            <a:r>
              <a:rPr lang="en-US" sz="1276" dirty="0">
                <a:solidFill>
                  <a:srgbClr val="173632"/>
                </a:solidFill>
                <a:latin typeface="Heiti SC" pitchFamily="34" charset="0"/>
                <a:ea typeface="Heiti SC" pitchFamily="34" charset="-122"/>
                <a:cs typeface="Heiti SC" pitchFamily="34" charset="-120"/>
              </a:rPr>
              <a:t>25% 用于系统补齐：支付、企微、订阅、数据看板。</a:t>
            </a:r>
            <a:endParaRPr lang="en-US" sz="1276" dirty="0"/>
          </a:p>
          <a:p>
            <a:pPr indent="0" marL="0">
              <a:buNone/>
            </a:pPr>
            <a:r>
              <a:rPr lang="en-US" sz="1276" dirty="0">
                <a:solidFill>
                  <a:srgbClr val="173632"/>
                </a:solidFill>
                <a:latin typeface="Heiti SC" pitchFamily="34" charset="0"/>
                <a:ea typeface="Heiti SC" pitchFamily="34" charset="-122"/>
                <a:cs typeface="Heiti SC" pitchFamily="34" charset="-120"/>
              </a:rPr>
              <a:t>20% 用于伙伴接入、合规和打样。</a:t>
            </a:r>
            <a:endParaRPr lang="en-US" sz="1276" dirty="0"/>
          </a:p>
          <a:p>
            <a:pPr indent="0" marL="0">
              <a:buNone/>
            </a:pPr>
            <a:r>
              <a:rPr lang="en-US" sz="1276" dirty="0">
                <a:solidFill>
                  <a:srgbClr val="173632"/>
                </a:solidFill>
                <a:latin typeface="Heiti SC" pitchFamily="34" charset="0"/>
                <a:ea typeface="Heiti SC" pitchFamily="34" charset="-122"/>
                <a:cs typeface="Heiti SC" pitchFamily="34" charset="-120"/>
              </a:rPr>
              <a:t>20% 作为营运与安全垫。</a:t>
            </a:r>
            <a:endParaRPr lang="en-US" sz="1276" dirty="0"/>
          </a:p>
          <a:p>
            <a:pPr indent="0" marL="0">
              <a:buNone/>
            </a:pPr>
            <a:endParaRPr lang="en-US" sz="1276" dirty="0"/>
          </a:p>
          <a:p>
            <a:pPr indent="0" marL="0">
              <a:buNone/>
            </a:pPr>
            <a:r>
              <a:rPr lang="en-US" sz="1276" dirty="0">
                <a:solidFill>
                  <a:srgbClr val="173632"/>
                </a:solidFill>
                <a:latin typeface="Heiti SC" pitchFamily="34" charset="0"/>
                <a:ea typeface="Heiti SC" pitchFamily="34" charset="-122"/>
                <a:cs typeface="Heiti SC" pitchFamily="34" charset="-120"/>
              </a:rPr>
              <a:t>金额由董事会按 12-18 个月 runway 反推。</a:t>
            </a:r>
            <a:endParaRPr lang="en-US" sz="1276" dirty="0"/>
          </a:p>
        </p:txBody>
      </p:sp>
      <p:sp>
        <p:nvSpPr>
          <p:cNvPr id="18" name="Shape 16"/>
          <p:cNvSpPr/>
          <p:nvPr/>
        </p:nvSpPr>
        <p:spPr>
          <a:xfrm>
            <a:off x="4480560" y="1170432"/>
            <a:ext cx="3602736" cy="2121408"/>
          </a:xfrm>
          <a:prstGeom prst="roundRect">
            <a:avLst>
              <a:gd name="adj" fmla="val 3448"/>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4480560" y="1170432"/>
            <a:ext cx="3602736" cy="100584"/>
          </a:xfrm>
          <a:prstGeom prst="rect">
            <a:avLst/>
          </a:prstGeom>
          <a:solidFill>
            <a:srgbClr val="B78B3C"/>
          </a:solidFill>
          <a:ln w="12700">
            <a:solidFill>
              <a:srgbClr val="B78B3C">
                <a:alpha val="0"/>
              </a:srgbClr>
            </a:solidFill>
            <a:prstDash val="solid"/>
          </a:ln>
        </p:spPr>
      </p:sp>
      <p:sp>
        <p:nvSpPr>
          <p:cNvPr id="20" name="Text 18"/>
          <p:cNvSpPr/>
          <p:nvPr/>
        </p:nvSpPr>
        <p:spPr>
          <a:xfrm>
            <a:off x="4645152" y="1353312"/>
            <a:ext cx="3273552"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外发融资版还需补齐的 4 个字段</a:t>
            </a:r>
            <a:endParaRPr lang="en-US" sz="1500" dirty="0"/>
          </a:p>
        </p:txBody>
      </p:sp>
      <p:sp>
        <p:nvSpPr>
          <p:cNvPr id="21" name="Text 19"/>
          <p:cNvSpPr/>
          <p:nvPr/>
        </p:nvSpPr>
        <p:spPr>
          <a:xfrm>
            <a:off x="4645152" y="1682496"/>
            <a:ext cx="3273552" cy="1463040"/>
          </a:xfrm>
          <a:prstGeom prst="rect">
            <a:avLst/>
          </a:prstGeom>
          <a:noFill/>
          <a:ln/>
        </p:spPr>
        <p:txBody>
          <a:bodyPr wrap="square" lIns="0" tIns="0" rIns="0" bIns="0" rtlCol="0" anchor="t">
            <a:normAutofit/>
          </a:bodyPr>
          <a:lstStyle/>
          <a:p>
            <a:pPr indent="0" marL="0">
              <a:buNone/>
            </a:pPr>
            <a:r>
              <a:rPr lang="en-US" sz="1159" dirty="0">
                <a:solidFill>
                  <a:srgbClr val="173632"/>
                </a:solidFill>
                <a:latin typeface="Heiti SC" pitchFamily="34" charset="0"/>
                <a:ea typeface="Heiti SC" pitchFamily="34" charset="-122"/>
                <a:cs typeface="Heiti SC" pitchFamily="34" charset="-120"/>
              </a:rPr>
              <a:t>1. 已验证数据：真实线索、内测用户、成交、复购。</a:t>
            </a:r>
            <a:endParaRPr lang="en-US" sz="1159" dirty="0"/>
          </a:p>
          <a:p>
            <a:pPr indent="0" marL="0">
              <a:buNone/>
            </a:pPr>
            <a:r>
              <a:rPr lang="en-US" sz="1159" dirty="0">
                <a:solidFill>
                  <a:srgbClr val="173632"/>
                </a:solidFill>
                <a:latin typeface="Heiti SC" pitchFamily="34" charset="0"/>
                <a:ea typeface="Heiti SC" pitchFamily="34" charset="-122"/>
                <a:cs typeface="Heiti SC" pitchFamily="34" charset="-120"/>
              </a:rPr>
              <a:t>2. 合作进展：医院、药房、供应商的真实签约状态。</a:t>
            </a:r>
            <a:endParaRPr lang="en-US" sz="1159" dirty="0"/>
          </a:p>
          <a:p>
            <a:pPr indent="0" marL="0">
              <a:buNone/>
            </a:pPr>
            <a:r>
              <a:rPr lang="en-US" sz="1159" dirty="0">
                <a:solidFill>
                  <a:srgbClr val="173632"/>
                </a:solidFill>
                <a:latin typeface="Heiti SC" pitchFamily="34" charset="0"/>
                <a:ea typeface="Heiti SC" pitchFamily="34" charset="-122"/>
                <a:cs typeface="Heiti SC" pitchFamily="34" charset="-120"/>
              </a:rPr>
              <a:t>3. 融资要素：本轮金额、估值区间、资金期限。</a:t>
            </a:r>
            <a:endParaRPr lang="en-US" sz="1159" dirty="0"/>
          </a:p>
          <a:p>
            <a:pPr indent="0" marL="0">
              <a:buNone/>
            </a:pPr>
            <a:r>
              <a:rPr lang="en-US" sz="1159" dirty="0">
                <a:solidFill>
                  <a:srgbClr val="173632"/>
                </a:solidFill>
                <a:latin typeface="Heiti SC" pitchFamily="34" charset="0"/>
                <a:ea typeface="Heiti SC" pitchFamily="34" charset="-122"/>
                <a:cs typeface="Heiti SC" pitchFamily="34" charset="-120"/>
              </a:rPr>
              <a:t>4. 团队亮点：创始人背景、技术与 BD 执行记录。</a:t>
            </a:r>
            <a:endParaRPr lang="en-US" sz="1159" dirty="0"/>
          </a:p>
        </p:txBody>
      </p:sp>
      <p:sp>
        <p:nvSpPr>
          <p:cNvPr id="22" name="Shape 20"/>
          <p:cNvSpPr/>
          <p:nvPr/>
        </p:nvSpPr>
        <p:spPr>
          <a:xfrm>
            <a:off x="4480560" y="3529584"/>
            <a:ext cx="3602736" cy="2377440"/>
          </a:xfrm>
          <a:prstGeom prst="roundRect">
            <a:avLst>
              <a:gd name="adj" fmla="val 3077"/>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4480560" y="3529584"/>
            <a:ext cx="3602736" cy="100584"/>
          </a:xfrm>
          <a:prstGeom prst="rect">
            <a:avLst/>
          </a:prstGeom>
          <a:solidFill>
            <a:srgbClr val="5B84B1"/>
          </a:solidFill>
          <a:ln w="12700">
            <a:solidFill>
              <a:srgbClr val="5B84B1">
                <a:alpha val="0"/>
              </a:srgbClr>
            </a:solidFill>
            <a:prstDash val="solid"/>
          </a:ln>
        </p:spPr>
      </p:sp>
      <p:sp>
        <p:nvSpPr>
          <p:cNvPr id="24" name="Text 22"/>
          <p:cNvSpPr/>
          <p:nvPr/>
        </p:nvSpPr>
        <p:spPr>
          <a:xfrm>
            <a:off x="4645152" y="3712464"/>
            <a:ext cx="3273552"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核心风险与应对</a:t>
            </a:r>
            <a:endParaRPr lang="en-US" sz="1500" dirty="0"/>
          </a:p>
        </p:txBody>
      </p:sp>
      <p:sp>
        <p:nvSpPr>
          <p:cNvPr id="25" name="Text 23"/>
          <p:cNvSpPr/>
          <p:nvPr/>
        </p:nvSpPr>
        <p:spPr>
          <a:xfrm>
            <a:off x="4645152" y="4041648"/>
            <a:ext cx="3273552" cy="1719072"/>
          </a:xfrm>
          <a:prstGeom prst="rect">
            <a:avLst/>
          </a:prstGeom>
          <a:noFill/>
          <a:ln/>
        </p:spPr>
        <p:txBody>
          <a:bodyPr wrap="square" lIns="0" tIns="0" rIns="0" bIns="0" rtlCol="0" anchor="t">
            <a:normAutofit/>
          </a:bodyPr>
          <a:lstStyle/>
          <a:p>
            <a:pPr indent="0" marL="0">
              <a:buNone/>
            </a:pPr>
            <a:r>
              <a:rPr lang="en-US" sz="1296" dirty="0">
                <a:solidFill>
                  <a:srgbClr val="173632"/>
                </a:solidFill>
                <a:latin typeface="Heiti SC" pitchFamily="34" charset="0"/>
                <a:ea typeface="Heiti SC" pitchFamily="34" charset="-122"/>
                <a:cs typeface="Heiti SC" pitchFamily="34" charset="-120"/>
              </a:rPr>
              <a:t>风险：合规踩线、伙伴失效、供应不稳、平台限流、复购不成立。</a:t>
            </a:r>
            <a:endParaRPr lang="en-US" sz="1296" dirty="0"/>
          </a:p>
          <a:p>
            <a:pPr indent="0" marL="0">
              <a:buNone/>
            </a:pPr>
            <a:r>
              <a:rPr lang="en-US" sz="1296" dirty="0">
                <a:solidFill>
                  <a:srgbClr val="173632"/>
                </a:solidFill>
                <a:latin typeface="Heiti SC" pitchFamily="34" charset="0"/>
                <a:ea typeface="Heiti SC" pitchFamily="34" charset="-122"/>
                <a:cs typeface="Heiti SC" pitchFamily="34" charset="-120"/>
              </a:rPr>
              <a:t>应对：边界清晰、备选伙伴、状态机管理、跨平台布局、把复购当北极星。</a:t>
            </a:r>
            <a:endParaRPr lang="en-US" sz="1296" dirty="0"/>
          </a:p>
        </p:txBody>
      </p:sp>
      <p:sp>
        <p:nvSpPr>
          <p:cNvPr id="26" name="Shape 24"/>
          <p:cNvSpPr/>
          <p:nvPr/>
        </p:nvSpPr>
        <p:spPr>
          <a:xfrm>
            <a:off x="8348472" y="1170432"/>
            <a:ext cx="3291840" cy="4736592"/>
          </a:xfrm>
          <a:prstGeom prst="roundRect">
            <a:avLst>
              <a:gd name="adj" fmla="val 2222"/>
            </a:avLst>
          </a:prstGeom>
          <a:solidFill>
            <a:srgbClr val="FFFFFF"/>
          </a:solidFill>
          <a:ln w="12700">
            <a:solidFill>
              <a:srgbClr val="DDD8CD"/>
            </a:solidFill>
            <a:prstDash val="solid"/>
          </a:ln>
          <a:effectLst>
            <a:outerShdw sx="100000" sy="100000" kx="0" ky="0" algn="bl" rotWithShape="0" blurRad="15240" dist="8890" dir="2700000">
              <a:srgbClr val="86918D">
                <a:alpha val="12000"/>
              </a:srgbClr>
            </a:outerShdw>
          </a:effectLst>
        </p:spPr>
      </p:sp>
      <p:sp>
        <p:nvSpPr>
          <p:cNvPr id="27" name="Shape 25"/>
          <p:cNvSpPr/>
          <p:nvPr/>
        </p:nvSpPr>
        <p:spPr>
          <a:xfrm>
            <a:off x="8348472" y="1170432"/>
            <a:ext cx="3291840" cy="100584"/>
          </a:xfrm>
          <a:prstGeom prst="rect">
            <a:avLst/>
          </a:prstGeom>
          <a:solidFill>
            <a:srgbClr val="BC6652"/>
          </a:solidFill>
          <a:ln w="12700">
            <a:solidFill>
              <a:srgbClr val="BC6652">
                <a:alpha val="0"/>
              </a:srgbClr>
            </a:solidFill>
            <a:prstDash val="solid"/>
          </a:ln>
        </p:spPr>
      </p:sp>
      <p:sp>
        <p:nvSpPr>
          <p:cNvPr id="28" name="Text 26"/>
          <p:cNvSpPr/>
          <p:nvPr/>
        </p:nvSpPr>
        <p:spPr>
          <a:xfrm>
            <a:off x="8513064" y="1353312"/>
            <a:ext cx="2962656" cy="256032"/>
          </a:xfrm>
          <a:prstGeom prst="rect">
            <a:avLst/>
          </a:prstGeom>
          <a:noFill/>
          <a:ln/>
        </p:spPr>
        <p:txBody>
          <a:bodyPr wrap="square" lIns="0" tIns="0" rIns="0" bIns="0" rtlCol="0" anchor="ctr"/>
          <a:lstStyle/>
          <a:p>
            <a:pPr indent="0" marL="0">
              <a:buNone/>
            </a:pPr>
            <a:r>
              <a:rPr lang="en-US" sz="1500" b="1" dirty="0">
                <a:solidFill>
                  <a:srgbClr val="173632"/>
                </a:solidFill>
                <a:latin typeface="Heiti SC" pitchFamily="34" charset="0"/>
                <a:ea typeface="Heiti SC" pitchFamily="34" charset="-122"/>
                <a:cs typeface="Heiti SC" pitchFamily="34" charset="-120"/>
              </a:rPr>
              <a:t>一句话结论</a:t>
            </a:r>
            <a:endParaRPr lang="en-US" sz="1500" dirty="0"/>
          </a:p>
        </p:txBody>
      </p:sp>
      <p:sp>
        <p:nvSpPr>
          <p:cNvPr id="29" name="Text 27"/>
          <p:cNvSpPr/>
          <p:nvPr/>
        </p:nvSpPr>
        <p:spPr>
          <a:xfrm>
            <a:off x="8513064" y="1682496"/>
            <a:ext cx="2962656" cy="4078224"/>
          </a:xfrm>
          <a:prstGeom prst="rect">
            <a:avLst/>
          </a:prstGeom>
          <a:noFill/>
          <a:ln/>
        </p:spPr>
        <p:txBody>
          <a:bodyPr wrap="square" lIns="0" tIns="0" rIns="0" bIns="0" rtlCol="0" anchor="t">
            <a:normAutofit/>
          </a:bodyPr>
          <a:lstStyle/>
          <a:p>
            <a:pPr indent="0" marL="0">
              <a:buNone/>
            </a:pPr>
            <a:r>
              <a:rPr lang="en-US" sz="1345" dirty="0">
                <a:solidFill>
                  <a:srgbClr val="173632"/>
                </a:solidFill>
                <a:latin typeface="Heiti SC" pitchFamily="34" charset="0"/>
                <a:ea typeface="Heiti SC" pitchFamily="34" charset="-122"/>
                <a:cs typeface="Heiti SC" pitchFamily="34" charset="-120"/>
              </a:rPr>
              <a:t>MediSlim 值得推进的原因，不是它看起来像一个好卖货项目，而是它有机会成为一个中国化的、订阅型的、轻资产的健康管理平台。</a:t>
            </a:r>
            <a:endParaRPr lang="en-US" sz="1345" dirty="0"/>
          </a:p>
          <a:p>
            <a:pPr indent="0" marL="0">
              <a:buNone/>
            </a:pPr>
            <a:endParaRPr lang="en-US" sz="1345" dirty="0"/>
          </a:p>
          <a:p>
            <a:pPr indent="0" marL="0">
              <a:buNone/>
            </a:pPr>
            <a:r>
              <a:rPr lang="en-US" sz="1345" dirty="0">
                <a:solidFill>
                  <a:srgbClr val="173632"/>
                </a:solidFill>
                <a:latin typeface="Heiti SC" pitchFamily="34" charset="0"/>
                <a:ea typeface="Heiti SC" pitchFamily="34" charset="-122"/>
                <a:cs typeface="Heiti SC" pitchFamily="34" charset="-120"/>
              </a:rPr>
              <a:t>董事会如果认可这套顺序：先第二圈、再第三圈、后第一圈；先验证、后放大；先边界、后增长，那么这件事就应该进入下一阶段。</a:t>
            </a:r>
            <a:endParaRPr lang="en-US" sz="1345" dirty="0"/>
          </a:p>
          <a:p>
            <a:pPr indent="0" marL="0">
              <a:buNone/>
            </a:pPr>
            <a:endParaRPr lang="en-US" sz="1345" dirty="0"/>
          </a:p>
          <a:p>
            <a:pPr indent="0" marL="0">
              <a:buNone/>
            </a:pPr>
            <a:r>
              <a:rPr lang="en-US" sz="1345" dirty="0">
                <a:solidFill>
                  <a:srgbClr val="173632"/>
                </a:solidFill>
                <a:latin typeface="Heiti SC" pitchFamily="34" charset="0"/>
                <a:ea typeface="Heiti SC" pitchFamily="34" charset="-122"/>
                <a:cs typeface="Heiti SC" pitchFamily="34" charset="-120"/>
              </a:rPr>
              <a:t>反之，如果想一开始就做重处方、高投放、高复杂度路径，模型会明显变重。</a:t>
            </a:r>
            <a:endParaRPr lang="en-US" sz="1345" dirty="0"/>
          </a:p>
        </p:txBody>
      </p:sp>
    </p:spTree>
  </p:cSld>
  <p:clrMapOvr>
    <a:masterClrMapping/>
  </p:clrMapOvr>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8322F"/>
        </a:solidFill>
      </p:bgPr>
    </p:bg>
    <p:spTree>
      <p:nvGrpSpPr>
        <p:cNvPr id="1" name=""/>
        <p:cNvGrpSpPr/>
        <p:nvPr/>
      </p:nvGrpSpPr>
      <p:grpSpPr/>
      <p:sp>
        <p:nvSpPr>
          <p:cNvPr id="2" name="Shape 0"/>
          <p:cNvSpPr/>
          <p:nvPr/>
        </p:nvSpPr>
        <p:spPr>
          <a:xfrm>
            <a:off x="0" y="0"/>
            <a:ext cx="12191695" cy="6858000"/>
          </a:xfrm>
          <a:prstGeom prst="rect">
            <a:avLst/>
          </a:prstGeom>
          <a:solidFill>
            <a:srgbClr val="18322F"/>
          </a:solidFill>
          <a:ln w="12700">
            <a:solidFill>
              <a:srgbClr val="18322F">
                <a:alpha val="0"/>
              </a:srgbClr>
            </a:solidFill>
            <a:prstDash val="solid"/>
          </a:ln>
        </p:spPr>
      </p:sp>
      <p:sp>
        <p:nvSpPr>
          <p:cNvPr id="3" name="Shape 1"/>
          <p:cNvSpPr/>
          <p:nvPr/>
        </p:nvSpPr>
        <p:spPr>
          <a:xfrm>
            <a:off x="0" y="0"/>
            <a:ext cx="12191695" cy="164592"/>
          </a:xfrm>
          <a:prstGeom prst="rect">
            <a:avLst/>
          </a:prstGeom>
          <a:solidFill>
            <a:srgbClr val="B3883B"/>
          </a:solidFill>
          <a:ln w="12700">
            <a:solidFill>
              <a:srgbClr val="B3883B">
                <a:alpha val="0"/>
              </a:srgbClr>
            </a:solidFill>
            <a:prstDash val="solid"/>
          </a:ln>
        </p:spPr>
      </p:sp>
      <p:sp>
        <p:nvSpPr>
          <p:cNvPr id="4" name="Text 2"/>
          <p:cNvSpPr/>
          <p:nvPr/>
        </p:nvSpPr>
        <p:spPr>
          <a:xfrm>
            <a:off x="658368" y="640080"/>
            <a:ext cx="4023360" cy="502920"/>
          </a:xfrm>
          <a:prstGeom prst="rect">
            <a:avLst/>
          </a:prstGeom>
          <a:noFill/>
          <a:ln/>
        </p:spPr>
        <p:txBody>
          <a:bodyPr wrap="square" lIns="0" tIns="0" rIns="0" bIns="0" rtlCol="0" anchor="ctr"/>
          <a:lstStyle/>
          <a:p>
            <a:pPr indent="0" marL="0">
              <a:buNone/>
            </a:pPr>
            <a:r>
              <a:rPr lang="en-US" sz="3000" b="1" dirty="0">
                <a:solidFill>
                  <a:srgbClr val="FFFFFF"/>
                </a:solidFill>
                <a:latin typeface="Heiti SC" pitchFamily="34" charset="0"/>
                <a:ea typeface="Heiti SC" pitchFamily="34" charset="-122"/>
                <a:cs typeface="Heiti SC" pitchFamily="34" charset="-120"/>
              </a:rPr>
              <a:t>MediSlim</a:t>
            </a:r>
            <a:endParaRPr lang="en-US" sz="3000" dirty="0"/>
          </a:p>
        </p:txBody>
      </p:sp>
      <p:sp>
        <p:nvSpPr>
          <p:cNvPr id="5" name="Text 3"/>
          <p:cNvSpPr/>
          <p:nvPr/>
        </p:nvSpPr>
        <p:spPr>
          <a:xfrm>
            <a:off x="658368" y="1389888"/>
            <a:ext cx="6217920" cy="731520"/>
          </a:xfrm>
          <a:prstGeom prst="rect">
            <a:avLst/>
          </a:prstGeom>
          <a:noFill/>
          <a:ln/>
        </p:spPr>
        <p:txBody>
          <a:bodyPr wrap="square" lIns="0" tIns="0" rIns="0" bIns="0" rtlCol="0" anchor="ctr"/>
          <a:lstStyle/>
          <a:p>
            <a:pPr indent="0" marL="0">
              <a:buNone/>
            </a:pPr>
            <a:r>
              <a:rPr lang="en-US" sz="2600" b="1" dirty="0">
                <a:solidFill>
                  <a:srgbClr val="FFFFFF"/>
                </a:solidFill>
                <a:latin typeface="Heiti SC" pitchFamily="34" charset="0"/>
                <a:ea typeface="Heiti SC" pitchFamily="34" charset="-122"/>
                <a:cs typeface="Heiti SC" pitchFamily="34" charset="-120"/>
              </a:rPr>
              <a:t>战略与运营行动方针</a:t>
            </a:r>
            <a:endParaRPr lang="en-US" sz="2600" dirty="0"/>
          </a:p>
        </p:txBody>
      </p:sp>
      <p:sp>
        <p:nvSpPr>
          <p:cNvPr id="6" name="Text 4"/>
          <p:cNvSpPr/>
          <p:nvPr/>
        </p:nvSpPr>
        <p:spPr>
          <a:xfrm>
            <a:off x="658368" y="2139696"/>
            <a:ext cx="7132320" cy="292608"/>
          </a:xfrm>
          <a:prstGeom prst="rect">
            <a:avLst/>
          </a:prstGeom>
          <a:noFill/>
          <a:ln/>
        </p:spPr>
        <p:txBody>
          <a:bodyPr wrap="square" lIns="0" tIns="0" rIns="0" bIns="0" rtlCol="0" anchor="ctr"/>
          <a:lstStyle/>
          <a:p>
            <a:pPr indent="0" marL="0">
              <a:buNone/>
            </a:pPr>
            <a:r>
              <a:rPr lang="en-US" sz="1250" dirty="0">
                <a:solidFill>
                  <a:srgbClr val="D9E6E2"/>
                </a:solidFill>
                <a:latin typeface="Heiti SC" pitchFamily="34" charset="0"/>
                <a:ea typeface="Heiti SC" pitchFamily="34" charset="-122"/>
                <a:cs typeface="Heiti SC" pitchFamily="34" charset="-120"/>
              </a:rPr>
              <a:t>基于商业方案与 OPC 运营手册整合而成的 50 页内部经营版</a:t>
            </a:r>
            <a:endParaRPr lang="en-US" sz="1250" dirty="0"/>
          </a:p>
        </p:txBody>
      </p:sp>
      <p:sp>
        <p:nvSpPr>
          <p:cNvPr id="7" name="Text 5"/>
          <p:cNvSpPr/>
          <p:nvPr/>
        </p:nvSpPr>
        <p:spPr>
          <a:xfrm>
            <a:off x="658368" y="2761488"/>
            <a:ext cx="6766560" cy="731520"/>
          </a:xfrm>
          <a:prstGeom prst="rect">
            <a:avLst/>
          </a:prstGeom>
          <a:noFill/>
          <a:ln/>
        </p:spPr>
        <p:txBody>
          <a:bodyPr wrap="square" lIns="0" tIns="0" rIns="0" bIns="0" rtlCol="0" anchor="ctr"/>
          <a:lstStyle/>
          <a:p>
            <a:pPr indent="0" marL="0">
              <a:buNone/>
            </a:pPr>
            <a:r>
              <a:rPr lang="en-US" sz="1700" dirty="0">
                <a:solidFill>
                  <a:srgbClr val="DCEFE8"/>
                </a:solidFill>
                <a:latin typeface="Heiti SC" pitchFamily="34" charset="0"/>
                <a:ea typeface="Heiti SC" pitchFamily="34" charset="-122"/>
                <a:cs typeface="Heiti SC" pitchFamily="34" charset="-120"/>
              </a:rPr>
              <a:t>目标不是做一份介绍稿，而是形成未来 90 天可反复复盘、可逐页执行、可作为团队统一语言的经营蓝图。</a:t>
            </a:r>
            <a:endParaRPr lang="en-US" sz="1700" dirty="0"/>
          </a:p>
        </p:txBody>
      </p:sp>
      <p:sp>
        <p:nvSpPr>
          <p:cNvPr id="8" name="Shape 6"/>
          <p:cNvSpPr/>
          <p:nvPr/>
        </p:nvSpPr>
        <p:spPr>
          <a:xfrm>
            <a:off x="658368" y="4069080"/>
            <a:ext cx="1700784" cy="1078992"/>
          </a:xfrm>
          <a:prstGeom prst="roundRect">
            <a:avLst>
              <a:gd name="adj" fmla="val 6780"/>
            </a:avLst>
          </a:prstGeom>
          <a:solidFill>
            <a:srgbClr val="2C6E68"/>
          </a:solidFill>
          <a:ln w="12700">
            <a:solidFill>
              <a:srgbClr val="2C6E68">
                <a:alpha val="0"/>
              </a:srgbClr>
            </a:solidFill>
            <a:prstDash val="solid"/>
          </a:ln>
        </p:spPr>
      </p:sp>
      <p:sp>
        <p:nvSpPr>
          <p:cNvPr id="9" name="Text 7"/>
          <p:cNvSpPr/>
          <p:nvPr/>
        </p:nvSpPr>
        <p:spPr>
          <a:xfrm>
            <a:off x="768096" y="4206240"/>
            <a:ext cx="148132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商业模型</a:t>
            </a:r>
            <a:endParaRPr lang="en-US" sz="1100" dirty="0"/>
          </a:p>
        </p:txBody>
      </p:sp>
      <p:sp>
        <p:nvSpPr>
          <p:cNvPr id="10" name="Text 8"/>
          <p:cNvSpPr/>
          <p:nvPr/>
        </p:nvSpPr>
        <p:spPr>
          <a:xfrm>
            <a:off x="768096" y="4480560"/>
            <a:ext cx="1481328" cy="457200"/>
          </a:xfrm>
          <a:prstGeom prst="rect">
            <a:avLst/>
          </a:prstGeom>
          <a:noFill/>
          <a:ln/>
        </p:spPr>
        <p:txBody>
          <a:bodyPr wrap="square" lIns="0" tIns="0" rIns="0" bIns="0" rtlCol="0" anchor="ctr"/>
          <a:lstStyle/>
          <a:p>
            <a:pPr algn="ctr" indent="0" marL="0">
              <a:buNone/>
            </a:pPr>
            <a:r>
              <a:rPr lang="en-US" sz="1000" dirty="0">
                <a:solidFill>
                  <a:srgbClr val="FFFFFF"/>
                </a:solidFill>
                <a:latin typeface="Heiti SC" pitchFamily="34" charset="0"/>
                <a:ea typeface="Heiti SC" pitchFamily="34" charset="-122"/>
                <a:cs typeface="Heiti SC" pitchFamily="34" charset="-120"/>
              </a:rPr>
              <a:t>三圈产品结构</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轻资产外包履约</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订阅制现金流</a:t>
            </a:r>
            <a:endParaRPr lang="en-US" sz="1000" dirty="0"/>
          </a:p>
        </p:txBody>
      </p:sp>
      <p:sp>
        <p:nvSpPr>
          <p:cNvPr id="11" name="Shape 9"/>
          <p:cNvSpPr/>
          <p:nvPr/>
        </p:nvSpPr>
        <p:spPr>
          <a:xfrm>
            <a:off x="2560320" y="4069080"/>
            <a:ext cx="1700784" cy="1078992"/>
          </a:xfrm>
          <a:prstGeom prst="roundRect">
            <a:avLst>
              <a:gd name="adj" fmla="val 6780"/>
            </a:avLst>
          </a:prstGeom>
          <a:solidFill>
            <a:srgbClr val="4A8F74"/>
          </a:solidFill>
          <a:ln w="12700">
            <a:solidFill>
              <a:srgbClr val="4A8F74">
                <a:alpha val="0"/>
              </a:srgbClr>
            </a:solidFill>
            <a:prstDash val="solid"/>
          </a:ln>
        </p:spPr>
      </p:sp>
      <p:sp>
        <p:nvSpPr>
          <p:cNvPr id="12" name="Text 10"/>
          <p:cNvSpPr/>
          <p:nvPr/>
        </p:nvSpPr>
        <p:spPr>
          <a:xfrm>
            <a:off x="2670048" y="4206240"/>
            <a:ext cx="148132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增长系统</a:t>
            </a:r>
            <a:endParaRPr lang="en-US" sz="1100" dirty="0"/>
          </a:p>
        </p:txBody>
      </p:sp>
      <p:sp>
        <p:nvSpPr>
          <p:cNvPr id="13" name="Text 11"/>
          <p:cNvSpPr/>
          <p:nvPr/>
        </p:nvSpPr>
        <p:spPr>
          <a:xfrm>
            <a:off x="2670048" y="4480560"/>
            <a:ext cx="1481328" cy="457200"/>
          </a:xfrm>
          <a:prstGeom prst="rect">
            <a:avLst/>
          </a:prstGeom>
          <a:noFill/>
          <a:ln/>
        </p:spPr>
        <p:txBody>
          <a:bodyPr wrap="square" lIns="0" tIns="0" rIns="0" bIns="0" rtlCol="0" anchor="ctr"/>
          <a:lstStyle/>
          <a:p>
            <a:pPr algn="ctr" indent="0" marL="0">
              <a:buNone/>
            </a:pPr>
            <a:r>
              <a:rPr lang="en-US" sz="1000" dirty="0">
                <a:solidFill>
                  <a:srgbClr val="FFFFFF"/>
                </a:solidFill>
                <a:latin typeface="Heiti SC" pitchFamily="34" charset="0"/>
                <a:ea typeface="Heiti SC" pitchFamily="34" charset="-122"/>
                <a:cs typeface="Heiti SC" pitchFamily="34" charset="-120"/>
              </a:rPr>
              <a:t>公域种草</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私域转化</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复购裂变</a:t>
            </a:r>
            <a:endParaRPr lang="en-US" sz="1000" dirty="0"/>
          </a:p>
        </p:txBody>
      </p:sp>
      <p:sp>
        <p:nvSpPr>
          <p:cNvPr id="14" name="Shape 12"/>
          <p:cNvSpPr/>
          <p:nvPr/>
        </p:nvSpPr>
        <p:spPr>
          <a:xfrm>
            <a:off x="4462272" y="4069080"/>
            <a:ext cx="1700784" cy="1078992"/>
          </a:xfrm>
          <a:prstGeom prst="roundRect">
            <a:avLst>
              <a:gd name="adj" fmla="val 6780"/>
            </a:avLst>
          </a:prstGeom>
          <a:solidFill>
            <a:srgbClr val="B3883B"/>
          </a:solidFill>
          <a:ln w="12700">
            <a:solidFill>
              <a:srgbClr val="B3883B">
                <a:alpha val="0"/>
              </a:srgbClr>
            </a:solidFill>
            <a:prstDash val="solid"/>
          </a:ln>
        </p:spPr>
      </p:sp>
      <p:sp>
        <p:nvSpPr>
          <p:cNvPr id="15" name="Text 13"/>
          <p:cNvSpPr/>
          <p:nvPr/>
        </p:nvSpPr>
        <p:spPr>
          <a:xfrm>
            <a:off x="4572000" y="4206240"/>
            <a:ext cx="1481328" cy="201168"/>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经营治理</a:t>
            </a:r>
            <a:endParaRPr lang="en-US" sz="1100" dirty="0"/>
          </a:p>
        </p:txBody>
      </p:sp>
      <p:sp>
        <p:nvSpPr>
          <p:cNvPr id="16" name="Text 14"/>
          <p:cNvSpPr/>
          <p:nvPr/>
        </p:nvSpPr>
        <p:spPr>
          <a:xfrm>
            <a:off x="4572000" y="4480560"/>
            <a:ext cx="1481328" cy="457200"/>
          </a:xfrm>
          <a:prstGeom prst="rect">
            <a:avLst/>
          </a:prstGeom>
          <a:noFill/>
          <a:ln/>
        </p:spPr>
        <p:txBody>
          <a:bodyPr wrap="square" lIns="0" tIns="0" rIns="0" bIns="0" rtlCol="0" anchor="ctr"/>
          <a:lstStyle/>
          <a:p>
            <a:pPr algn="ctr" indent="0" marL="0">
              <a:buNone/>
            </a:pPr>
            <a:r>
              <a:rPr lang="en-US" sz="1000" dirty="0">
                <a:solidFill>
                  <a:srgbClr val="FFFFFF"/>
                </a:solidFill>
                <a:latin typeface="Heiti SC" pitchFamily="34" charset="0"/>
                <a:ea typeface="Heiti SC" pitchFamily="34" charset="-122"/>
                <a:cs typeface="Heiti SC" pitchFamily="34" charset="-120"/>
              </a:rPr>
              <a:t>合规红线</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数据看板</a:t>
            </a:r>
            <a:endParaRPr lang="en-US" sz="1000" dirty="0"/>
          </a:p>
          <a:p>
            <a:pPr algn="ctr" indent="0" marL="0">
              <a:buNone/>
            </a:pPr>
            <a:r>
              <a:rPr lang="en-US" sz="1000" dirty="0">
                <a:solidFill>
                  <a:srgbClr val="FFFFFF"/>
                </a:solidFill>
                <a:latin typeface="Heiti SC" pitchFamily="34" charset="0"/>
                <a:ea typeface="Heiti SC" pitchFamily="34" charset="-122"/>
                <a:cs typeface="Heiti SC" pitchFamily="34" charset="-120"/>
              </a:rPr>
              <a:t>30/90天计划</a:t>
            </a:r>
            <a:endParaRPr lang="en-US" sz="1000" dirty="0"/>
          </a:p>
        </p:txBody>
      </p:sp>
      <p:sp>
        <p:nvSpPr>
          <p:cNvPr id="17" name="Shape 15"/>
          <p:cNvSpPr/>
          <p:nvPr/>
        </p:nvSpPr>
        <p:spPr>
          <a:xfrm>
            <a:off x="7726680" y="987552"/>
            <a:ext cx="3749040" cy="4480560"/>
          </a:xfrm>
          <a:prstGeom prst="roundRect">
            <a:avLst>
              <a:gd name="adj" fmla="val 2927"/>
            </a:avLst>
          </a:prstGeom>
          <a:solidFill>
            <a:srgbClr val="214540"/>
          </a:solidFill>
          <a:ln w="12700">
            <a:solidFill>
              <a:srgbClr val="40615D"/>
            </a:solidFill>
            <a:prstDash val="solid"/>
          </a:ln>
        </p:spPr>
      </p:sp>
      <p:sp>
        <p:nvSpPr>
          <p:cNvPr id="18" name="Text 16"/>
          <p:cNvSpPr/>
          <p:nvPr/>
        </p:nvSpPr>
        <p:spPr>
          <a:xfrm>
            <a:off x="8046720" y="1325880"/>
            <a:ext cx="2011680" cy="256032"/>
          </a:xfrm>
          <a:prstGeom prst="rect">
            <a:avLst/>
          </a:prstGeom>
          <a:noFill/>
          <a:ln/>
        </p:spPr>
        <p:txBody>
          <a:bodyPr wrap="square" lIns="0" tIns="0" rIns="0" bIns="0" rtlCol="0" anchor="ctr"/>
          <a:lstStyle/>
          <a:p>
            <a:pPr indent="0" marL="0">
              <a:buNone/>
            </a:pPr>
            <a:r>
              <a:rPr lang="en-US" sz="1600" b="1" dirty="0">
                <a:solidFill>
                  <a:srgbClr val="FFFFFF"/>
                </a:solidFill>
                <a:latin typeface="Heiti SC" pitchFamily="34" charset="0"/>
                <a:ea typeface="Heiti SC" pitchFamily="34" charset="-122"/>
                <a:cs typeface="Heiti SC" pitchFamily="34" charset="-120"/>
              </a:rPr>
              <a:t>本版使用方式</a:t>
            </a:r>
            <a:endParaRPr lang="en-US" sz="1600" dirty="0"/>
          </a:p>
        </p:txBody>
      </p:sp>
      <p:sp>
        <p:nvSpPr>
          <p:cNvPr id="19" name="Text 17"/>
          <p:cNvSpPr/>
          <p:nvPr/>
        </p:nvSpPr>
        <p:spPr>
          <a:xfrm>
            <a:off x="8046720" y="1783080"/>
            <a:ext cx="3108960" cy="3246120"/>
          </a:xfrm>
          <a:prstGeom prst="rect">
            <a:avLst/>
          </a:prstGeom>
          <a:noFill/>
          <a:ln/>
        </p:spPr>
        <p:txBody>
          <a:bodyPr wrap="square" lIns="0" tIns="0" rIns="0" bIns="0" rtlCol="0" anchor="t">
            <a:normAutofit/>
          </a:bodyPr>
          <a:lstStyle/>
          <a:p>
            <a:pPr indent="0" marL="0">
              <a:buNone/>
            </a:pPr>
            <a:r>
              <a:rPr lang="en-US" sz="1396" dirty="0">
                <a:solidFill>
                  <a:srgbClr val="E9F2EF"/>
                </a:solidFill>
                <a:latin typeface="Heiti SC" pitchFamily="34" charset="0"/>
                <a:ea typeface="Heiti SC" pitchFamily="34" charset="-122"/>
                <a:cs typeface="Heiti SC" pitchFamily="34" charset="-120"/>
              </a:rPr>
              <a:t>1. 先统一边界：我们是流量+技术服务公司，不是医疗主体。</a:t>
            </a:r>
            <a:endParaRPr lang="en-US" sz="1396" dirty="0"/>
          </a:p>
          <a:p>
            <a:pPr indent="0" marL="0">
              <a:buNone/>
            </a:pPr>
            <a:r>
              <a:rPr lang="en-US" sz="1396" dirty="0">
                <a:solidFill>
                  <a:srgbClr val="E9F2EF"/>
                </a:solidFill>
                <a:latin typeface="Heiti SC" pitchFamily="34" charset="0"/>
                <a:ea typeface="Heiti SC" pitchFamily="34" charset="-122"/>
                <a:cs typeface="Heiti SC" pitchFamily="34" charset="-120"/>
              </a:rPr>
              <a:t>2. 先打爆第二圈：药食同源与保健品是冷启动现金流核心。</a:t>
            </a:r>
            <a:endParaRPr lang="en-US" sz="1396" dirty="0"/>
          </a:p>
          <a:p>
            <a:pPr indent="0" marL="0">
              <a:buNone/>
            </a:pPr>
            <a:r>
              <a:rPr lang="en-US" sz="1396" dirty="0">
                <a:solidFill>
                  <a:srgbClr val="E9F2EF"/>
                </a:solidFill>
                <a:latin typeface="Heiti SC" pitchFamily="34" charset="0"/>
                <a:ea typeface="Heiti SC" pitchFamily="34" charset="-122"/>
                <a:cs typeface="Heiti SC" pitchFamily="34" charset="-120"/>
              </a:rPr>
              <a:t>3. 处方类只走私域与互联网医院，绝不在公域直接营销。</a:t>
            </a:r>
            <a:endParaRPr lang="en-US" sz="1396" dirty="0"/>
          </a:p>
          <a:p>
            <a:pPr indent="0" marL="0">
              <a:buNone/>
            </a:pPr>
            <a:r>
              <a:rPr lang="en-US" sz="1396" dirty="0">
                <a:solidFill>
                  <a:srgbClr val="E9F2EF"/>
                </a:solidFill>
                <a:latin typeface="Heiti SC" pitchFamily="34" charset="0"/>
                <a:ea typeface="Heiti SC" pitchFamily="34" charset="-122"/>
                <a:cs typeface="Heiti SC" pitchFamily="34" charset="-120"/>
              </a:rPr>
              <a:t>4. 每周经营会对照本 deck 更新 KPI、风险、行动人。</a:t>
            </a:r>
            <a:endParaRPr lang="en-US" sz="1396" dirty="0"/>
          </a:p>
          <a:p>
            <a:pPr indent="0" marL="0">
              <a:buNone/>
            </a:pPr>
            <a:r>
              <a:rPr lang="en-US" sz="1396" dirty="0">
                <a:solidFill>
                  <a:srgbClr val="E9F2EF"/>
                </a:solidFill>
                <a:latin typeface="Heiti SC" pitchFamily="34" charset="0"/>
                <a:ea typeface="Heiti SC" pitchFamily="34" charset="-122"/>
                <a:cs typeface="Heiti SC" pitchFamily="34" charset="-120"/>
              </a:rPr>
              <a:t>5. 所有新增产品、渠道、活动，都必须穿过合规和单位经济模型。</a:t>
            </a:r>
            <a:endParaRPr lang="en-US" sz="1396" dirty="0"/>
          </a:p>
        </p:txBody>
      </p:sp>
      <p:sp>
        <p:nvSpPr>
          <p:cNvPr id="20" name="Text 18"/>
          <p:cNvSpPr/>
          <p:nvPr/>
        </p:nvSpPr>
        <p:spPr>
          <a:xfrm>
            <a:off x="658368" y="6291072"/>
            <a:ext cx="7406640" cy="182880"/>
          </a:xfrm>
          <a:prstGeom prst="rect">
            <a:avLst/>
          </a:prstGeom>
          <a:noFill/>
          <a:ln/>
        </p:spPr>
        <p:txBody>
          <a:bodyPr wrap="square" lIns="0" tIns="0" rIns="0" bIns="0" rtlCol="0" anchor="ctr"/>
          <a:lstStyle/>
          <a:p>
            <a:pPr indent="0" marL="0">
              <a:buNone/>
            </a:pPr>
            <a:r>
              <a:rPr lang="en-US" sz="900" dirty="0">
                <a:solidFill>
                  <a:srgbClr val="C8D8D4"/>
                </a:solidFill>
                <a:latin typeface="Heiti SC" pitchFamily="34" charset="0"/>
                <a:ea typeface="Heiti SC" pitchFamily="34" charset="-122"/>
                <a:cs typeface="Heiti SC" pitchFamily="34" charset="-120"/>
              </a:rPr>
              <a:t>版本：2026-04-05 | 生成方式：两份源文档 + 仓库业务文档整合</a:t>
            </a:r>
            <a:endParaRPr lang="en-US" sz="900" dirty="0"/>
          </a:p>
        </p:txBody>
      </p:sp>
    </p:spTree>
  </p:cSld>
  <p:clrMapOvr>
    <a:masterClrMapping/>
  </p:clrMapOvr>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这份幻灯怎么用</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它应当被当作经营操作系统，而不是一次性展示材料</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总览</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02</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定位</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这是内部经营版。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用于统一战略、周会复盘、合作对接、项目排期。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对外融资版可由此压缩成 12-15 页。</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更新频率</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每周更新 KPI、风险、行动项。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每月更新财务假设、渠道 ROI、合作方状态。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每季度更新品类路线图。</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阅读顺序</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先看 1-10 页定边界。</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再看增长、运营、财务、合规模块。</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最后用 30/90 天计划落地。</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管理要求</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每页必须对应一个动作、一个负责人、一个指标。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无法落到动作的内容不进入经营版。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数字统一以数据看板为准。</a:t>
            </a:r>
            <a:endParaRPr lang="en-US" sz="1356" dirty="0"/>
          </a:p>
        </p:txBody>
      </p:sp>
    </p:spTree>
  </p:cSld>
  <p:clrMapOvr>
    <a:masterClrMapping/>
  </p:clrMapOvr>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50 页内容地图</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全 deck 分成 10 个模块，分别回答 10 个经营问题</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总览</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03</a:t>
            </a:r>
            <a:endParaRPr lang="en-US" sz="950" dirty="0"/>
          </a:p>
        </p:txBody>
      </p:sp>
      <p:sp>
        <p:nvSpPr>
          <p:cNvPr id="10" name="Shape 8"/>
          <p:cNvSpPr/>
          <p:nvPr/>
        </p:nvSpPr>
        <p:spPr>
          <a:xfrm>
            <a:off x="530352" y="1133856"/>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1 战略总览</a:t>
            </a:r>
            <a:endParaRPr lang="en-US" sz="1550" dirty="0"/>
          </a:p>
        </p:txBody>
      </p:sp>
      <p:sp>
        <p:nvSpPr>
          <p:cNvPr id="13" name="Text 11"/>
          <p:cNvSpPr/>
          <p:nvPr/>
        </p:nvSpPr>
        <p:spPr>
          <a:xfrm>
            <a:off x="694944" y="1664208"/>
            <a:ext cx="5116068"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回答：为什么是现在、为什么是我们、为什么是这个模式。</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覆盖市场、对标、边界、目标、商业模型。</a:t>
            </a:r>
            <a:endParaRPr lang="en-US" sz="1356" dirty="0"/>
          </a:p>
        </p:txBody>
      </p:sp>
      <p:sp>
        <p:nvSpPr>
          <p:cNvPr id="14" name="Shape 12"/>
          <p:cNvSpPr/>
          <p:nvPr/>
        </p:nvSpPr>
        <p:spPr>
          <a:xfrm>
            <a:off x="6195060" y="1133856"/>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2 产品设计</a:t>
            </a:r>
            <a:endParaRPr lang="en-US" sz="1550" dirty="0"/>
          </a:p>
        </p:txBody>
      </p:sp>
      <p:sp>
        <p:nvSpPr>
          <p:cNvPr id="17" name="Text 15"/>
          <p:cNvSpPr/>
          <p:nvPr/>
        </p:nvSpPr>
        <p:spPr>
          <a:xfrm>
            <a:off x="6359652" y="1664208"/>
            <a:ext cx="5116068"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回答：卖什么、先卖什么、如何组合。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覆盖三圈模型、价格带、爆品、订阅盒子、用户画像。</a:t>
            </a:r>
            <a:endParaRPr lang="en-US" sz="1356" dirty="0"/>
          </a:p>
        </p:txBody>
      </p:sp>
      <p:sp>
        <p:nvSpPr>
          <p:cNvPr id="18" name="Shape 16"/>
          <p:cNvSpPr/>
          <p:nvPr/>
        </p:nvSpPr>
        <p:spPr>
          <a:xfrm>
            <a:off x="530352" y="2898648"/>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2898648"/>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063240"/>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3 增长引擎</a:t>
            </a:r>
            <a:endParaRPr lang="en-US" sz="1550" dirty="0"/>
          </a:p>
        </p:txBody>
      </p:sp>
      <p:sp>
        <p:nvSpPr>
          <p:cNvPr id="21" name="Text 19"/>
          <p:cNvSpPr/>
          <p:nvPr/>
        </p:nvSpPr>
        <p:spPr>
          <a:xfrm>
            <a:off x="694944" y="3429000"/>
            <a:ext cx="5116068"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回答：流量从哪里来、如何沉淀到私域。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覆盖公域矩阵、内容工厂、企微、公众号、小红书、抖音。</a:t>
            </a:r>
            <a:endParaRPr lang="en-US" sz="1356" dirty="0"/>
          </a:p>
        </p:txBody>
      </p:sp>
      <p:sp>
        <p:nvSpPr>
          <p:cNvPr id="22" name="Shape 20"/>
          <p:cNvSpPr/>
          <p:nvPr/>
        </p:nvSpPr>
        <p:spPr>
          <a:xfrm>
            <a:off x="6195060" y="2898648"/>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2898648"/>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063240"/>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4 交付系统</a:t>
            </a:r>
            <a:endParaRPr lang="en-US" sz="1550" dirty="0"/>
          </a:p>
        </p:txBody>
      </p:sp>
      <p:sp>
        <p:nvSpPr>
          <p:cNvPr id="25" name="Text 23"/>
          <p:cNvSpPr/>
          <p:nvPr/>
        </p:nvSpPr>
        <p:spPr>
          <a:xfrm>
            <a:off x="6359652" y="3429000"/>
            <a:ext cx="5116068"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回答：用户如何从线索变成复购客户。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覆盖评估、分诊、方案、下单、状态机、履约、随访、裂变。</a:t>
            </a:r>
            <a:endParaRPr lang="en-US" sz="1356" dirty="0"/>
          </a:p>
        </p:txBody>
      </p:sp>
      <p:sp>
        <p:nvSpPr>
          <p:cNvPr id="26" name="Shape 24"/>
          <p:cNvSpPr/>
          <p:nvPr/>
        </p:nvSpPr>
        <p:spPr>
          <a:xfrm>
            <a:off x="530352" y="4663440"/>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530352" y="4663440"/>
            <a:ext cx="5445252" cy="109728"/>
          </a:xfrm>
          <a:prstGeom prst="rect">
            <a:avLst/>
          </a:prstGeom>
          <a:solidFill>
            <a:srgbClr val="B65C49"/>
          </a:solidFill>
          <a:ln w="12700">
            <a:solidFill>
              <a:srgbClr val="B65C49">
                <a:alpha val="0"/>
              </a:srgbClr>
            </a:solidFill>
            <a:prstDash val="solid"/>
          </a:ln>
        </p:spPr>
      </p:sp>
      <p:sp>
        <p:nvSpPr>
          <p:cNvPr id="28" name="Text 26"/>
          <p:cNvSpPr/>
          <p:nvPr/>
        </p:nvSpPr>
        <p:spPr>
          <a:xfrm>
            <a:off x="694944" y="4828032"/>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5 组织与系统</a:t>
            </a:r>
            <a:endParaRPr lang="en-US" sz="1550" dirty="0"/>
          </a:p>
        </p:txBody>
      </p:sp>
      <p:sp>
        <p:nvSpPr>
          <p:cNvPr id="29" name="Text 27"/>
          <p:cNvSpPr/>
          <p:nvPr/>
        </p:nvSpPr>
        <p:spPr>
          <a:xfrm>
            <a:off x="694944" y="5193792"/>
            <a:ext cx="5116068"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回答：一人公司如何运转。</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覆盖 AI 四层架构、自动化清单、OPC 组织模型、合作伙伴管理。</a:t>
            </a:r>
            <a:endParaRPr lang="en-US" sz="1356" dirty="0"/>
          </a:p>
        </p:txBody>
      </p:sp>
      <p:sp>
        <p:nvSpPr>
          <p:cNvPr id="30" name="Shape 28"/>
          <p:cNvSpPr/>
          <p:nvPr/>
        </p:nvSpPr>
        <p:spPr>
          <a:xfrm>
            <a:off x="6195060" y="4663440"/>
            <a:ext cx="5445252"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6195060" y="4663440"/>
            <a:ext cx="5445252" cy="109728"/>
          </a:xfrm>
          <a:prstGeom prst="rect">
            <a:avLst/>
          </a:prstGeom>
          <a:solidFill>
            <a:srgbClr val="8DB4A0"/>
          </a:solidFill>
          <a:ln w="12700">
            <a:solidFill>
              <a:srgbClr val="8DB4A0">
                <a:alpha val="0"/>
              </a:srgbClr>
            </a:solidFill>
            <a:prstDash val="solid"/>
          </a:ln>
        </p:spPr>
      </p:sp>
      <p:sp>
        <p:nvSpPr>
          <p:cNvPr id="32" name="Text 30"/>
          <p:cNvSpPr/>
          <p:nvPr/>
        </p:nvSpPr>
        <p:spPr>
          <a:xfrm>
            <a:off x="6359652" y="4828032"/>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模块 6 财务与治理</a:t>
            </a:r>
            <a:endParaRPr lang="en-US" sz="1550" dirty="0"/>
          </a:p>
        </p:txBody>
      </p:sp>
      <p:sp>
        <p:nvSpPr>
          <p:cNvPr id="33" name="Text 31"/>
          <p:cNvSpPr/>
          <p:nvPr/>
        </p:nvSpPr>
        <p:spPr>
          <a:xfrm>
            <a:off x="6359652" y="5193792"/>
            <a:ext cx="5116068" cy="832104"/>
          </a:xfrm>
          <a:prstGeom prst="rect">
            <a:avLst/>
          </a:prstGeom>
          <a:noFill/>
          <a:ln/>
        </p:spPr>
        <p:txBody>
          <a:bodyPr wrap="square" lIns="0" tIns="0" rIns="0" bIns="0" rtlCol="0" anchor="t">
            <a:normAutofit/>
          </a:bodyPr>
          <a:lstStyle/>
          <a:p>
            <a:pPr indent="0" marL="0">
              <a:buNone/>
            </a:pPr>
            <a:r>
              <a:rPr lang="en-US" sz="1242" dirty="0">
                <a:solidFill>
                  <a:srgbClr val="18322F"/>
                </a:solidFill>
                <a:latin typeface="Heiti SC" pitchFamily="34" charset="0"/>
                <a:ea typeface="Heiti SC" pitchFamily="34" charset="-122"/>
                <a:cs typeface="Heiti SC" pitchFamily="34" charset="-120"/>
              </a:rPr>
              <a:t>回答：怎么赚钱、怎么控风险、怎么推进。</a:t>
            </a:r>
            <a:endParaRPr lang="en-US" sz="1242" dirty="0"/>
          </a:p>
          <a:p>
            <a:pPr indent="0" marL="0">
              <a:buNone/>
            </a:pPr>
            <a:r>
              <a:rPr lang="en-US" sz="1242" dirty="0">
                <a:solidFill>
                  <a:srgbClr val="18322F"/>
                </a:solidFill>
                <a:latin typeface="Heiti SC" pitchFamily="34" charset="0"/>
                <a:ea typeface="Heiti SC" pitchFamily="34" charset="-122"/>
                <a:cs typeface="Heiti SC" pitchFamily="34" charset="-120"/>
              </a:rPr>
              <a:t>覆盖资金流、单位经济、收入预测、看板、合规、应急、30/90 天计划。</a:t>
            </a:r>
            <a:endParaRPr lang="en-US" sz="1242" dirty="0"/>
          </a:p>
        </p:txBody>
      </p:sp>
    </p:spTree>
  </p:cSld>
  <p:clrMapOvr>
    <a:masterClrMapping/>
  </p:clrMapOvr>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执行摘要</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先用 4 张卡片记住经营判断，再展开所有细节</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04</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一句话模式</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MediSlim 是 AI 驱动的消费医疗+健康消费品平台。</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我们做品牌、流量、评估、CRM、复购；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持牌问诊、处方与药品销售交给合作方。</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核心增长逻辑</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公域以药食同源和保健品建立低门槛流量入口。</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私域再承接到互联网医院与处方类服务。</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长期靠订阅、复购、裂变形成现金流。</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经营优先级</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优先做第二圈现金流，再用第三圈拉利润，再用第一圈建立专业信任。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顺序错误，组织会直接陷入合规和获客成本问题。</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12 个月目标</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内部测算目标：M12 达到 10,000 付费用户、月收入约 765 万元。</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关键前提是线索转化、复购率和合规稳定三件事同时成立。</a:t>
            </a:r>
            <a:endParaRPr lang="en-US" sz="1356" dirty="0"/>
          </a:p>
        </p:txBody>
      </p:sp>
    </p:spTree>
  </p:cSld>
  <p:clrMapOvr>
    <a:masterClrMapping/>
  </p:clrMapOvr>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市场机会：为什么这个赛道值得做</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不是做“线上卖货”，而是做“持续健康管理的消费入口”</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05</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需求端变化</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减重、亚健康、女性调养、睡眠、肠胃、护肝都在持续消费化。</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用户想要的是轻诊疗、轻咨询、轻决策，而不是复杂医疗流程。</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供给端空缺</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传统医院看病效率低，保健品市场同质化重，用户缺可信的个性化方案。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“有人解释+有人跟进”仍然是巨大空缺。</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渠道端机会</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微信生态、小红书、抖音已经形成“内容种草-私域成交-社群复购”的成熟路径。</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只要合规边界清晰，流量并不缺。</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模型端优势</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中国的药食同源文化与体质调理认知，给了我们 Medvi 在美国没有的第二增长曲线。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这决定了更高复购率和更低毛利压力。</a:t>
            </a:r>
            <a:endParaRPr lang="en-US" sz="1356" dirty="0"/>
          </a:p>
        </p:txBody>
      </p:sp>
    </p:spTree>
  </p:cSld>
  <p:clrMapOvr>
    <a:masterClrMapping/>
  </p:clrMapOvr>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对标 Medvi：该学什么，不该学什么</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学它的极简架构，不复制它的监管灰区</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06</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必须复制的部分</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前端只做流量、评估、支付、复购管理。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把持牌能力交给外部网络。</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让平台像 SaaS 一样运转，而不是像医院一样运转。</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必须本土化的部分</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美国靠 Google/Meta 广告，中国必须靠微信、小红书、抖音和私域沉淀。</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美国靠 GLP-1 单品，中国需要三圈模型。</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不能照搬的部分</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不能在中国公域直接营销处方药。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不能把模糊疗效表述当作增长技巧。</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不能假设用户会接受纯海外式的功能性话术。</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我们的升级点</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中医体质辨识、药食同源订阅、企微陪伴式服务、低成本 AI 自动化。</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这些才是中国版 MediSlim 的真实护城河。</a:t>
            </a:r>
            <a:endParaRPr lang="en-US" sz="1356" dirty="0"/>
          </a:p>
        </p:txBody>
      </p:sp>
    </p:spTree>
  </p:cSld>
  <p:clrMapOvr>
    <a:masterClrMapping/>
  </p:clrMapOvr>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中国化机会与约束</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增长空间巨大，但必须先画出红线</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07</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平台约束</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小红书、抖音、微信都对药品、医疗功效、前后对比图极度敏感。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公域要做健康内容，不做直接药品销售表达。</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持牌约束</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问诊与处方必须归互联网医院和执业医师。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药品销售必须归持牌药房。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我们不能变成事实上的非法医疗主体。</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内容机会</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养生、调理、体质、节气、轻体、睡眠、情绪管理都天然适合内容传播。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这使第二圈和第三圈更适合冷启动。</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商业机会</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中国用户更能接受“组合式管理”而不是单一药物。</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套餐盒、社群、直播、节日活动都能把 LTV 做高。</a:t>
            </a:r>
            <a:endParaRPr lang="en-US" sz="1356" dirty="0"/>
          </a:p>
        </p:txBody>
      </p:sp>
    </p:spTree>
  </p:cSld>
  <p:clrMapOvr>
    <a:masterClrMapping/>
  </p:clrMapOvr>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项目定位与边界</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边界不清，后面所有增长动作都会出问题</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08</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我们是谁</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流量+技术服务公司。</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主营品牌、用户获取、AI 评估、患者管理、复购运营、数据看板。</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我们不是什么</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不是医疗机构，不直接行医，不直接持有处方权，不直接销售处方药。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不碰高风险诊疗动作。</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合作方边界</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互联网医院负责问诊和处方。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药房负责药品调配与配送。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食品工厂/保健品企业负责生产与供货。</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经营红线</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任何人不能在公域许诺疗效、暗示治愈、绕开医师审核、伪造案例或超范围采集数据。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红线优先于短期 GMV。</a:t>
            </a:r>
            <a:endParaRPr lang="en-US" sz="1356" dirty="0"/>
          </a:p>
        </p:txBody>
      </p:sp>
    </p:spTree>
  </p:cSld>
  <p:clrMapOvr>
    <a:masterClrMapping/>
  </p:clrMapOvr>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战略目标与北极星指标</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所有动作必须服务于 4 个阶段目标和 1 个北极星指标</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战略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09</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401878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阶段一：M1-M3</a:t>
            </a:r>
            <a:endParaRPr lang="en-US" sz="1550" dirty="0"/>
          </a:p>
        </p:txBody>
      </p:sp>
      <p:sp>
        <p:nvSpPr>
          <p:cNvPr id="13" name="Shape 11"/>
          <p:cNvSpPr/>
          <p:nvPr/>
        </p:nvSpPr>
        <p:spPr>
          <a:xfrm>
            <a:off x="4896612"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14" name="Text 12"/>
          <p:cNvSpPr/>
          <p:nvPr/>
        </p:nvSpPr>
        <p:spPr>
          <a:xfrm>
            <a:off x="4896612" y="1307592"/>
            <a:ext cx="868680" cy="146304"/>
          </a:xfrm>
          <a:prstGeom prst="rect">
            <a:avLst/>
          </a:prstGeom>
          <a:noFill/>
          <a:ln/>
        </p:spPr>
        <p:txBody>
          <a:bodyPr wrap="square" lIns="0" tIns="0" rIns="0" bIns="0" rtlCol="0" anchor="ctr"/>
          <a:lstStyle/>
          <a:p>
            <a:pPr algn="ctr" indent="0" marL="0">
              <a:buNone/>
            </a:pPr>
            <a:r>
              <a:rPr lang="en-US" sz="850" b="1" dirty="0">
                <a:solidFill>
                  <a:srgbClr val="2C6E68"/>
                </a:solidFill>
                <a:latin typeface="Heiti SC" pitchFamily="34" charset="0"/>
                <a:ea typeface="Heiti SC" pitchFamily="34" charset="-122"/>
                <a:cs typeface="Heiti SC" pitchFamily="34" charset="-120"/>
              </a:rPr>
              <a:t>验证</a:t>
            </a:r>
            <a:endParaRPr lang="en-US" sz="850" dirty="0"/>
          </a:p>
        </p:txBody>
      </p:sp>
      <p:sp>
        <p:nvSpPr>
          <p:cNvPr id="15" name="Text 13"/>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验证 3 个核心产品、1 条稳定线索链路、1 套私域成交话术。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目标不是规模，而是找对模型。</a:t>
            </a:r>
            <a:endParaRPr lang="en-US" sz="1356" dirty="0"/>
          </a:p>
        </p:txBody>
      </p:sp>
      <p:sp>
        <p:nvSpPr>
          <p:cNvPr id="16" name="Shape 14"/>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7" name="Shape 15"/>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8" name="Text 16"/>
          <p:cNvSpPr/>
          <p:nvPr/>
        </p:nvSpPr>
        <p:spPr>
          <a:xfrm>
            <a:off x="6359652" y="1298448"/>
            <a:ext cx="401878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阶段二：M4-M6</a:t>
            </a:r>
            <a:endParaRPr lang="en-US" sz="1550" dirty="0"/>
          </a:p>
        </p:txBody>
      </p:sp>
      <p:sp>
        <p:nvSpPr>
          <p:cNvPr id="19" name="Shape 17"/>
          <p:cNvSpPr/>
          <p:nvPr/>
        </p:nvSpPr>
        <p:spPr>
          <a:xfrm>
            <a:off x="10561320"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20" name="Text 18"/>
          <p:cNvSpPr/>
          <p:nvPr/>
        </p:nvSpPr>
        <p:spPr>
          <a:xfrm>
            <a:off x="10561320" y="1307592"/>
            <a:ext cx="868680" cy="146304"/>
          </a:xfrm>
          <a:prstGeom prst="rect">
            <a:avLst/>
          </a:prstGeom>
          <a:noFill/>
          <a:ln/>
        </p:spPr>
        <p:txBody>
          <a:bodyPr wrap="square" lIns="0" tIns="0" rIns="0" bIns="0" rtlCol="0" anchor="ctr"/>
          <a:lstStyle/>
          <a:p>
            <a:pPr algn="ctr" indent="0" marL="0">
              <a:buNone/>
            </a:pPr>
            <a:r>
              <a:rPr lang="en-US" sz="850" b="1" dirty="0">
                <a:solidFill>
                  <a:srgbClr val="4A8F74"/>
                </a:solidFill>
                <a:latin typeface="Heiti SC" pitchFamily="34" charset="0"/>
                <a:ea typeface="Heiti SC" pitchFamily="34" charset="-122"/>
                <a:cs typeface="Heiti SC" pitchFamily="34" charset="-120"/>
              </a:rPr>
              <a:t>复制</a:t>
            </a:r>
            <a:endParaRPr lang="en-US" sz="850" dirty="0"/>
          </a:p>
        </p:txBody>
      </p:sp>
      <p:sp>
        <p:nvSpPr>
          <p:cNvPr id="21" name="Text 19"/>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建立可复制的投放-私域-成交-复购流程。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形成首个正向现金流月，并确认主打渠道。</a:t>
            </a:r>
            <a:endParaRPr lang="en-US" sz="1356" dirty="0"/>
          </a:p>
        </p:txBody>
      </p:sp>
      <p:sp>
        <p:nvSpPr>
          <p:cNvPr id="22" name="Shape 20"/>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4" name="Text 22"/>
          <p:cNvSpPr/>
          <p:nvPr/>
        </p:nvSpPr>
        <p:spPr>
          <a:xfrm>
            <a:off x="694944" y="3945636"/>
            <a:ext cx="401878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阶段三：M7-M9</a:t>
            </a:r>
            <a:endParaRPr lang="en-US" sz="1550" dirty="0"/>
          </a:p>
        </p:txBody>
      </p:sp>
      <p:sp>
        <p:nvSpPr>
          <p:cNvPr id="25" name="Shape 23"/>
          <p:cNvSpPr/>
          <p:nvPr/>
        </p:nvSpPr>
        <p:spPr>
          <a:xfrm>
            <a:off x="4896612"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26" name="Text 24"/>
          <p:cNvSpPr/>
          <p:nvPr/>
        </p:nvSpPr>
        <p:spPr>
          <a:xfrm>
            <a:off x="4896612" y="3954780"/>
            <a:ext cx="868680" cy="146304"/>
          </a:xfrm>
          <a:prstGeom prst="rect">
            <a:avLst/>
          </a:prstGeom>
          <a:noFill/>
          <a:ln/>
        </p:spPr>
        <p:txBody>
          <a:bodyPr wrap="square" lIns="0" tIns="0" rIns="0" bIns="0" rtlCol="0" anchor="ctr"/>
          <a:lstStyle/>
          <a:p>
            <a:pPr algn="ctr" indent="0" marL="0">
              <a:buNone/>
            </a:pPr>
            <a:r>
              <a:rPr lang="en-US" sz="850" b="1" dirty="0">
                <a:solidFill>
                  <a:srgbClr val="B3883B"/>
                </a:solidFill>
                <a:latin typeface="Heiti SC" pitchFamily="34" charset="0"/>
                <a:ea typeface="Heiti SC" pitchFamily="34" charset="-122"/>
                <a:cs typeface="Heiti SC" pitchFamily="34" charset="-120"/>
              </a:rPr>
              <a:t>放大</a:t>
            </a:r>
            <a:endParaRPr lang="en-US" sz="850" dirty="0"/>
          </a:p>
        </p:txBody>
      </p:sp>
      <p:sp>
        <p:nvSpPr>
          <p:cNvPr id="27" name="Text 25"/>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扩大品类、提高复购、引入订阅盒。</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把组织从“创始人亲自盯”切到“系统自动跑”。</a:t>
            </a:r>
            <a:endParaRPr lang="en-US" sz="1356" dirty="0"/>
          </a:p>
        </p:txBody>
      </p:sp>
      <p:sp>
        <p:nvSpPr>
          <p:cNvPr id="28" name="Shape 26"/>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9" name="Shape 27"/>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30" name="Text 28"/>
          <p:cNvSpPr/>
          <p:nvPr/>
        </p:nvSpPr>
        <p:spPr>
          <a:xfrm>
            <a:off x="6359652" y="3945636"/>
            <a:ext cx="401878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北极星</a:t>
            </a:r>
            <a:endParaRPr lang="en-US" sz="1550" dirty="0"/>
          </a:p>
        </p:txBody>
      </p:sp>
      <p:sp>
        <p:nvSpPr>
          <p:cNvPr id="31" name="Shape 29"/>
          <p:cNvSpPr/>
          <p:nvPr/>
        </p:nvSpPr>
        <p:spPr>
          <a:xfrm>
            <a:off x="10561320"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32" name="Text 30"/>
          <p:cNvSpPr/>
          <p:nvPr/>
        </p:nvSpPr>
        <p:spPr>
          <a:xfrm>
            <a:off x="10561320" y="3954780"/>
            <a:ext cx="868680" cy="146304"/>
          </a:xfrm>
          <a:prstGeom prst="rect">
            <a:avLst/>
          </a:prstGeom>
          <a:noFill/>
          <a:ln/>
        </p:spPr>
        <p:txBody>
          <a:bodyPr wrap="square" lIns="0" tIns="0" rIns="0" bIns="0" rtlCol="0" anchor="ctr"/>
          <a:lstStyle/>
          <a:p>
            <a:pPr algn="ctr" indent="0" marL="0">
              <a:buNone/>
            </a:pPr>
            <a:r>
              <a:rPr lang="en-US" sz="850" b="1" dirty="0">
                <a:solidFill>
                  <a:srgbClr val="5078A5"/>
                </a:solidFill>
                <a:latin typeface="Heiti SC" pitchFamily="34" charset="0"/>
                <a:ea typeface="Heiti SC" pitchFamily="34" charset="-122"/>
                <a:cs typeface="Heiti SC" pitchFamily="34" charset="-120"/>
              </a:rPr>
              <a:t>核心</a:t>
            </a:r>
            <a:endParaRPr lang="en-US" sz="850" dirty="0"/>
          </a:p>
        </p:txBody>
      </p:sp>
      <p:sp>
        <p:nvSpPr>
          <p:cNvPr id="33" name="Text 31"/>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北极星指标不是单日 GMV，而是 MRR（月经常性收入）。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原因：MRR 直接反映复购、订阅和健康经营质量。</a:t>
            </a:r>
            <a:endParaRPr lang="en-US" sz="1356" dirty="0"/>
          </a:p>
        </p:txBody>
      </p:sp>
    </p:spTree>
  </p:cSld>
  <p:clrMapOvr>
    <a:masterClrMapping/>
  </p:clrMapOvr>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商业模式总览</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平台的收入、成本、能力边界全部围绕这条链展开</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商业</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10</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收入来源</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首单成交收入。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订阅续费收入。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组合盒/加购收入。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私域活动带来的增量收入。</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核心成本</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产品与药品成本、合作方分成、物流、流量投放、AI 系统、人力。</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本质上是 CAC 和复购率的平衡游戏。</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能力配置</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自己做高频、可标准化、能沉淀数据的前端环节。</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外包低频、持牌、重履约的后端环节。</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商业判断</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只要 CAC 可控、30 天复购成立、供应稳定，模型就能滚起来。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一旦复购不成立，平台会退化成高成本卖货生意。</a:t>
            </a:r>
            <a:endParaRPr lang="en-US" sz="1356" dirty="0"/>
          </a:p>
        </p:txBody>
      </p:sp>
    </p:spTree>
  </p:cSld>
  <p:clrMapOvr>
    <a:masterClrMapping/>
  </p:clrMapOvr>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三圈飞轮：平台最重要的结构设计</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三圈不是三个业务，而是一套彼此导流的生命周期设计</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商业</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11</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第一圈：处方医疗</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作用是建立专业信任与解决高痛点需求。</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品类重在权威感与用户愿意付费，而不是公域规模。</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第二圈：药食同源</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作用是低门槛、高频复购、文化认同。</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它是最适合冷启动和社交传播的现金流产品带。</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第三圈：保健品</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作用是提升客单价和利润率。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它承接第二圈用户，并把用户带向更丰富的长期健康管理。</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飞轮逻辑</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第一圈给信任，第二圈给复购，第三圈给利润。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数据反哺 AI 推荐，AI 又提升转化和复购，形成闭环。</a:t>
            </a:r>
            <a:endParaRPr lang="en-US" sz="1356" dirty="0"/>
          </a:p>
        </p:txBody>
      </p:sp>
    </p:spTree>
  </p:cSld>
  <p:clrMapOvr>
    <a:masterClrMapping/>
  </p:clrMapOvr>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第一圈：处方医疗产品路线</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目的不是公域放量，而是在私域建立“专业可信”认知</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产品</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12</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GLP-1 减重</a:t>
            </a:r>
            <a:endParaRPr lang="en-US" sz="1550" dirty="0"/>
          </a:p>
        </p:txBody>
      </p:sp>
      <p:sp>
        <p:nvSpPr>
          <p:cNvPr id="13" name="Text 11"/>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首月 ¥399，续费 ¥599/月。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高痛点、高讨论度、高复购。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必须通过互联网医院与药房链路。</a:t>
            </a:r>
            <a:endParaRPr lang="en-US" sz="1356" dirty="0"/>
          </a:p>
        </p:txBody>
      </p:sp>
      <p:sp>
        <p:nvSpPr>
          <p:cNvPr id="14" name="Shape 12"/>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防脱生发</a:t>
            </a:r>
            <a:endParaRPr lang="en-US" sz="1550" dirty="0"/>
          </a:p>
        </p:txBody>
      </p:sp>
      <p:sp>
        <p:nvSpPr>
          <p:cNvPr id="17" name="Text 15"/>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米诺地尔+非那雄胺组合。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适合男性长期管理。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咨询转化率高，复购周期较稳定。</a:t>
            </a:r>
            <a:endParaRPr lang="en-US" sz="1356" dirty="0"/>
          </a:p>
        </p:txBody>
      </p:sp>
      <p:sp>
        <p:nvSpPr>
          <p:cNvPr id="18" name="Shape 16"/>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男性健康</a:t>
            </a:r>
            <a:endParaRPr lang="en-US" sz="1550" dirty="0"/>
          </a:p>
        </p:txBody>
      </p:sp>
      <p:sp>
        <p:nvSpPr>
          <p:cNvPr id="21" name="Text 19"/>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西地那非/他达拉非等。</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私密需求明显，私域成交效率高。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需要严格处理隐私与话术。</a:t>
            </a:r>
            <a:endParaRPr lang="en-US" sz="1356" dirty="0"/>
          </a:p>
        </p:txBody>
      </p:sp>
      <p:sp>
        <p:nvSpPr>
          <p:cNvPr id="22" name="Shape 20"/>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24" name="Text 22"/>
          <p:cNvSpPr/>
          <p:nvPr/>
        </p:nvSpPr>
        <p:spPr>
          <a:xfrm>
            <a:off x="694944"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助眠调理</a:t>
            </a:r>
            <a:endParaRPr lang="en-US" sz="1550" dirty="0"/>
          </a:p>
        </p:txBody>
      </p:sp>
      <p:sp>
        <p:nvSpPr>
          <p:cNvPr id="25" name="Text 23"/>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以轻症管理切入。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可与褪黑素、放松管理、内容服务组合。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适合作为桥接型产品。</a:t>
            </a:r>
            <a:endParaRPr lang="en-US" sz="1356" dirty="0"/>
          </a:p>
        </p:txBody>
      </p:sp>
      <p:sp>
        <p:nvSpPr>
          <p:cNvPr id="26" name="Shape 24"/>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28" name="Text 26"/>
          <p:cNvSpPr/>
          <p:nvPr/>
        </p:nvSpPr>
        <p:spPr>
          <a:xfrm>
            <a:off x="4471416"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皮肤处方</a:t>
            </a:r>
            <a:endParaRPr lang="en-US" sz="1550" dirty="0"/>
          </a:p>
        </p:txBody>
      </p:sp>
      <p:sp>
        <p:nvSpPr>
          <p:cNvPr id="29" name="Text 2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祛痘、维 A 酸、阿达帕林等路径。</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更适合年轻女性用户。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内容引流能力强，但合规要求高。</a:t>
            </a:r>
            <a:endParaRPr lang="en-US" sz="1356" dirty="0"/>
          </a:p>
        </p:txBody>
      </p:sp>
      <p:sp>
        <p:nvSpPr>
          <p:cNvPr id="30" name="Shape 2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32" name="Text 30"/>
          <p:cNvSpPr/>
          <p:nvPr/>
        </p:nvSpPr>
        <p:spPr>
          <a:xfrm>
            <a:off x="8247888" y="3945636"/>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经营原则</a:t>
            </a:r>
            <a:endParaRPr lang="en-US" sz="1550" dirty="0"/>
          </a:p>
        </p:txBody>
      </p:sp>
      <p:sp>
        <p:nvSpPr>
          <p:cNvPr id="33" name="Shape 31"/>
          <p:cNvSpPr/>
          <p:nvPr/>
        </p:nvSpPr>
        <p:spPr>
          <a:xfrm>
            <a:off x="10561320"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34" name="Text 32"/>
          <p:cNvSpPr/>
          <p:nvPr/>
        </p:nvSpPr>
        <p:spPr>
          <a:xfrm>
            <a:off x="10561320" y="3954780"/>
            <a:ext cx="868680" cy="146304"/>
          </a:xfrm>
          <a:prstGeom prst="rect">
            <a:avLst/>
          </a:prstGeom>
          <a:noFill/>
          <a:ln/>
        </p:spPr>
        <p:txBody>
          <a:bodyPr wrap="square" lIns="0" tIns="0" rIns="0" bIns="0" rtlCol="0" anchor="ctr"/>
          <a:lstStyle/>
          <a:p>
            <a:pPr algn="ctr" indent="0" marL="0">
              <a:buNone/>
            </a:pPr>
            <a:r>
              <a:rPr lang="en-US" sz="850" b="1" dirty="0">
                <a:solidFill>
                  <a:srgbClr val="8DB4A0"/>
                </a:solidFill>
                <a:latin typeface="Heiti SC" pitchFamily="34" charset="0"/>
                <a:ea typeface="Heiti SC" pitchFamily="34" charset="-122"/>
                <a:cs typeface="Heiti SC" pitchFamily="34" charset="-120"/>
              </a:rPr>
              <a:t>原则</a:t>
            </a:r>
            <a:endParaRPr lang="en-US" sz="850" dirty="0"/>
          </a:p>
        </p:txBody>
      </p:sp>
      <p:sp>
        <p:nvSpPr>
          <p:cNvPr id="35" name="Text 33"/>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公域不直接卖药。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私域转互联网医院。</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所有处方类只承接已产生咨询意愿的用户。</a:t>
            </a:r>
            <a:endParaRPr lang="en-US" sz="1356" dirty="0"/>
          </a:p>
        </p:txBody>
      </p:sp>
    </p:spTree>
  </p:cSld>
  <p:clrMapOvr>
    <a:masterClrMapping/>
  </p:clrMapOvr>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第二圈：药食同源产品路线</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冷启动现金流的第一优先级，也是最强的中国特色差异化</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产品</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13</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祛湿轻体</a:t>
            </a:r>
            <a:endParaRPr lang="en-US" sz="1550" dirty="0"/>
          </a:p>
        </p:txBody>
      </p:sp>
      <p:sp>
        <p:nvSpPr>
          <p:cNvPr id="13" name="Text 11"/>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红豆薏米+茯苓+陈皮。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¥168。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大众认知强，转化与复购潜力高。</a:t>
            </a:r>
            <a:endParaRPr lang="en-US" sz="1356" dirty="0"/>
          </a:p>
        </p:txBody>
      </p:sp>
      <p:sp>
        <p:nvSpPr>
          <p:cNvPr id="14" name="Shape 12"/>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气血调养</a:t>
            </a:r>
            <a:endParaRPr lang="en-US" sz="1550" dirty="0"/>
          </a:p>
        </p:txBody>
      </p:sp>
      <p:sp>
        <p:nvSpPr>
          <p:cNvPr id="17" name="Text 15"/>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红枣+枸杞+阿胶+黄芪。</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¥198。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适合女性长期调养与送礼场景。</a:t>
            </a:r>
            <a:endParaRPr lang="en-US" sz="1356" dirty="0"/>
          </a:p>
        </p:txBody>
      </p:sp>
      <p:sp>
        <p:nvSpPr>
          <p:cNvPr id="18" name="Shape 16"/>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护肝养生</a:t>
            </a:r>
            <a:endParaRPr lang="en-US" sz="1550" dirty="0"/>
          </a:p>
        </p:txBody>
      </p:sp>
      <p:sp>
        <p:nvSpPr>
          <p:cNvPr id="21" name="Text 19"/>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葛根+枳椇子+菊花+决明子。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¥168。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适合男性、应酬、熬夜场景。</a:t>
            </a:r>
            <a:endParaRPr lang="en-US" sz="1356" dirty="0"/>
          </a:p>
        </p:txBody>
      </p:sp>
      <p:sp>
        <p:nvSpPr>
          <p:cNvPr id="22" name="Shape 20"/>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24" name="Text 22"/>
          <p:cNvSpPr/>
          <p:nvPr/>
        </p:nvSpPr>
        <p:spPr>
          <a:xfrm>
            <a:off x="694944"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暖宫驱寒</a:t>
            </a:r>
            <a:endParaRPr lang="en-US" sz="1550" dirty="0"/>
          </a:p>
        </p:txBody>
      </p:sp>
      <p:sp>
        <p:nvSpPr>
          <p:cNvPr id="25" name="Text 23"/>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姜+红糖+桂圆+当归。</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¥158。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适合女性月经前后与季节营销。</a:t>
            </a:r>
            <a:endParaRPr lang="en-US" sz="1356" dirty="0"/>
          </a:p>
        </p:txBody>
      </p:sp>
      <p:sp>
        <p:nvSpPr>
          <p:cNvPr id="26" name="Shape 24"/>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28" name="Text 26"/>
          <p:cNvSpPr/>
          <p:nvPr/>
        </p:nvSpPr>
        <p:spPr>
          <a:xfrm>
            <a:off x="4471416"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健脾养胃</a:t>
            </a:r>
            <a:endParaRPr lang="en-US" sz="1550" dirty="0"/>
          </a:p>
        </p:txBody>
      </p:sp>
      <p:sp>
        <p:nvSpPr>
          <p:cNvPr id="29" name="Text 2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山药+莲子+芡实+薏米。</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¥148。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适合长期肠胃不适与轻体人群。</a:t>
            </a:r>
            <a:endParaRPr lang="en-US" sz="1356" dirty="0"/>
          </a:p>
        </p:txBody>
      </p:sp>
      <p:sp>
        <p:nvSpPr>
          <p:cNvPr id="30" name="Shape 2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32" name="Text 30"/>
          <p:cNvSpPr/>
          <p:nvPr/>
        </p:nvSpPr>
        <p:spPr>
          <a:xfrm>
            <a:off x="8247888"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润肺清燥</a:t>
            </a:r>
            <a:endParaRPr lang="en-US" sz="1550" dirty="0"/>
          </a:p>
        </p:txBody>
      </p:sp>
      <p:sp>
        <p:nvSpPr>
          <p:cNvPr id="33" name="Text 31"/>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雪梨+百合+银耳+枇杷。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¥138。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季节爆品，适合秋冬专题化内容运营。</a:t>
            </a:r>
            <a:endParaRPr lang="en-US" sz="1356" dirty="0"/>
          </a:p>
        </p:txBody>
      </p:sp>
    </p:spTree>
  </p:cSld>
  <p:clrMapOvr>
    <a:masterClrMapping/>
  </p:clrMapOvr>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第三圈：保健品与营养补充路线</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承接第二圈用户，提高客单价和毛利率</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产品</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14</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益生菌</a:t>
            </a:r>
            <a:endParaRPr lang="en-US" sz="1550" dirty="0"/>
          </a:p>
        </p:txBody>
      </p:sp>
      <p:sp>
        <p:nvSpPr>
          <p:cNvPr id="13" name="Text 11"/>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减重、肠胃、排便、免疫都可挂钩。</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¥198。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与第二圈联动最强。</a:t>
            </a:r>
            <a:endParaRPr lang="en-US" sz="1356" dirty="0"/>
          </a:p>
        </p:txBody>
      </p:sp>
      <p:sp>
        <p:nvSpPr>
          <p:cNvPr id="14" name="Shape 12"/>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胶原蛋白</a:t>
            </a:r>
            <a:endParaRPr lang="en-US" sz="1550" dirty="0"/>
          </a:p>
        </p:txBody>
      </p:sp>
      <p:sp>
        <p:nvSpPr>
          <p:cNvPr id="17" name="Text 15"/>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女性美容与轻医美辅助场景。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¥228。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更适合内容种草与礼盒化。</a:t>
            </a:r>
            <a:endParaRPr lang="en-US" sz="1356" dirty="0"/>
          </a:p>
        </p:txBody>
      </p:sp>
      <p:sp>
        <p:nvSpPr>
          <p:cNvPr id="18" name="Shape 16"/>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维生素 D / K2</a:t>
            </a:r>
            <a:endParaRPr lang="en-US" sz="1550" dirty="0"/>
          </a:p>
        </p:txBody>
      </p:sp>
      <p:sp>
        <p:nvSpPr>
          <p:cNvPr id="21" name="Text 19"/>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办公室人群基础营养。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¥98。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适合作为低门槛加购单品。</a:t>
            </a:r>
            <a:endParaRPr lang="en-US" sz="1356" dirty="0"/>
          </a:p>
        </p:txBody>
      </p:sp>
      <p:sp>
        <p:nvSpPr>
          <p:cNvPr id="22" name="Shape 20"/>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24" name="Text 22"/>
          <p:cNvSpPr/>
          <p:nvPr/>
        </p:nvSpPr>
        <p:spPr>
          <a:xfrm>
            <a:off x="694944"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Omega-3 / 鱼油</a:t>
            </a:r>
            <a:endParaRPr lang="en-US" sz="1550" dirty="0"/>
          </a:p>
        </p:txBody>
      </p:sp>
      <p:sp>
        <p:nvSpPr>
          <p:cNvPr id="25" name="Text 23"/>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心血管、大脑健康、抗炎认知强。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 ¥168。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 30+ 人群长期管理。</a:t>
            </a:r>
            <a:endParaRPr lang="en-US" sz="1356" dirty="0"/>
          </a:p>
        </p:txBody>
      </p:sp>
      <p:sp>
        <p:nvSpPr>
          <p:cNvPr id="26" name="Shape 24"/>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28" name="Text 26"/>
          <p:cNvSpPr/>
          <p:nvPr/>
        </p:nvSpPr>
        <p:spPr>
          <a:xfrm>
            <a:off x="4471416"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辅酶 Q10 / 叶黄素</a:t>
            </a:r>
            <a:endParaRPr lang="en-US" sz="1550" dirty="0"/>
          </a:p>
        </p:txBody>
      </p:sp>
      <p:sp>
        <p:nvSpPr>
          <p:cNvPr id="29" name="Text 2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一个打心脏与抗衰，一个打护眼。</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非常适合以场景专题做组合销售。</a:t>
            </a:r>
            <a:endParaRPr lang="en-US" sz="1356" dirty="0"/>
          </a:p>
        </p:txBody>
      </p:sp>
      <p:sp>
        <p:nvSpPr>
          <p:cNvPr id="30" name="Shape 2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32" name="Text 30"/>
          <p:cNvSpPr/>
          <p:nvPr/>
        </p:nvSpPr>
        <p:spPr>
          <a:xfrm>
            <a:off x="8247888"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蛋白粉 / 多维</a:t>
            </a:r>
            <a:endParaRPr lang="en-US" sz="1550" dirty="0"/>
          </a:p>
        </p:txBody>
      </p:sp>
      <p:sp>
        <p:nvSpPr>
          <p:cNvPr id="33" name="Text 31"/>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适合运动、控糖、减脂、全家健康场景。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可做家庭装与订阅盒的标准 SKU。</a:t>
            </a:r>
            <a:endParaRPr lang="en-US" sz="1356" dirty="0"/>
          </a:p>
        </p:txBody>
      </p:sp>
    </p:spTree>
  </p:cSld>
  <p:clrMapOvr>
    <a:masterClrMapping/>
  </p:clrMapOvr>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产品组合与价格带设计</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目标不是 SKU 越多越好，而是让每个价格带都有明确角色</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产品</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15</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引流单</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用于降低首次下单门槛。</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代表 SKU：祛湿轻体、益生菌、轻咨询服务。</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原则是痛点明确、文案简单、风险低。</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利润单</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用于提高毛利和客单。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代表 SKU：胶原蛋白、气血调养、护肝养生、Q10。</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原则是效果感知强、故事性强、适合组合售卖。</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订阅盒</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女性养生盒、男性健康盒、全家健康盒。</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月价可做到 ¥398-598。</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用于提升留存、品牌感和家庭场景渗透。</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价格带逻辑</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¥99-199 做入门与加购。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¥168-228 做主力现金流。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¥398+ 做组合盒与高粘性经营。</a:t>
            </a:r>
            <a:endParaRPr lang="en-US" sz="1356" dirty="0"/>
          </a:p>
        </p:txBody>
      </p:sp>
    </p:spTree>
  </p:cSld>
  <p:clrMapOvr>
    <a:masterClrMapping/>
  </p:clrMapOvr>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核心用户画像</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先抓 4 类高意愿、高复购、高传播人群，不要一开始做全市场</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用户</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16</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减重白领女性</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25-38 岁，长期节食反复失败。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关注体重、代谢、颜值、肠胃与内分泌。</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愿意为“省脑子+有人跟进”付费。</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湿气焦虑型人群</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长期感觉水肿、乏力、困倦、肠胃差。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对“祛湿”“体质调理”认知强。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更适合第二圈冷启动。</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熬夜应酬男士</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30-45 岁，护肝、睡眠、男性健康都是高频痛点。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更偏向私域成交，重视隐私、效率和体面表达。</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家庭健康采购者</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习惯为伴侣、父母、孩子采购健康产品。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更看重品牌可信、组合管理、长期配送和售后稳定。</a:t>
            </a:r>
            <a:endParaRPr lang="en-US" sz="1356" dirty="0"/>
          </a:p>
        </p:txBody>
      </p:sp>
    </p:spTree>
  </p:cSld>
  <p:clrMapOvr>
    <a:masterClrMapping/>
  </p:clrMapOvr>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用户真实需求：他们不是想买产品，而是想买确定性</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解决“不会选、怕踩坑、没人跟进”比单纯卖功能更重要</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用户</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17</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想省决策成本</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用户不想自己查功效、成分和禁忌。</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他们想要的是“直接告诉我该用什么、怎么用、多久见效”。</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想降低试错风险</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健康消费最怕买错、吃错、坚持不了。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所以评估、陪伴、提醒、复盘都必须内置进服务里。</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想要有人盯进展</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如果只有商品链接，没有跟进，用户很快流失。</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企微顾问与 AI 随访决定了复购率上限。</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想在私密环境成交</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减重、生发、男性健康等需求天然私密。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成交环境必须从公域内容转向私域咨询和可追踪的服务链路。</a:t>
            </a:r>
            <a:endParaRPr lang="en-US" sz="1356" dirty="0"/>
          </a:p>
        </p:txBody>
      </p:sp>
    </p:spTree>
  </p:cSld>
  <p:clrMapOvr>
    <a:masterClrMapping/>
  </p:clrMapOvr>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渠道漏斗设计</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让每个渠道只承担自己最擅长的一段，而不是所有事情都做</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18</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公域触达</a:t>
            </a:r>
            <a:endParaRPr lang="en-US" sz="1550" dirty="0"/>
          </a:p>
        </p:txBody>
      </p:sp>
      <p:sp>
        <p:nvSpPr>
          <p:cNvPr id="13" name="Text 11"/>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小红书、抖音、公众号、视频号、朋友圈广告。</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负责认知和兴趣，不负责最后成交。</a:t>
            </a:r>
            <a:endParaRPr lang="en-US" sz="1356" dirty="0"/>
          </a:p>
        </p:txBody>
      </p:sp>
      <p:sp>
        <p:nvSpPr>
          <p:cNvPr id="14" name="Shape 12"/>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留资转私域</a:t>
            </a:r>
            <a:endParaRPr lang="en-US" sz="1550" dirty="0"/>
          </a:p>
        </p:txBody>
      </p:sp>
      <p:sp>
        <p:nvSpPr>
          <p:cNvPr id="17" name="Text 15"/>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H5 留资、关键词回复、企微加粉、社群引导。</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目标是留下可持续触达的关系资产。</a:t>
            </a:r>
            <a:endParaRPr lang="en-US" sz="1356" dirty="0"/>
          </a:p>
        </p:txBody>
      </p:sp>
      <p:sp>
        <p:nvSpPr>
          <p:cNvPr id="18" name="Shape 16"/>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评估与分层</a:t>
            </a:r>
            <a:endParaRPr lang="en-US" sz="1550" dirty="0"/>
          </a:p>
        </p:txBody>
      </p:sp>
      <p:sp>
        <p:nvSpPr>
          <p:cNvPr id="21" name="Text 19"/>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AI 问卷把人分成处方类、药食同源类、营养补充类。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不同人走不同转化路径。</a:t>
            </a:r>
            <a:endParaRPr lang="en-US" sz="1356" dirty="0"/>
          </a:p>
        </p:txBody>
      </p:sp>
      <p:sp>
        <p:nvSpPr>
          <p:cNvPr id="22" name="Shape 20"/>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24" name="Text 22"/>
          <p:cNvSpPr/>
          <p:nvPr/>
        </p:nvSpPr>
        <p:spPr>
          <a:xfrm>
            <a:off x="694944"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成交转化</a:t>
            </a:r>
            <a:endParaRPr lang="en-US" sz="1550" dirty="0"/>
          </a:p>
        </p:txBody>
      </p:sp>
      <p:sp>
        <p:nvSpPr>
          <p:cNvPr id="25" name="Text 23"/>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健康顾问+方案说明+支付引导。</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处方类进入互联网医院；非处方类直接成单。</a:t>
            </a:r>
            <a:endParaRPr lang="en-US" sz="1356" dirty="0"/>
          </a:p>
        </p:txBody>
      </p:sp>
      <p:sp>
        <p:nvSpPr>
          <p:cNvPr id="26" name="Shape 24"/>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28" name="Text 26"/>
          <p:cNvSpPr/>
          <p:nvPr/>
        </p:nvSpPr>
        <p:spPr>
          <a:xfrm>
            <a:off x="4471416"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复购与加购</a:t>
            </a:r>
            <a:endParaRPr lang="en-US" sz="1550" dirty="0"/>
          </a:p>
        </p:txBody>
      </p:sp>
      <p:sp>
        <p:nvSpPr>
          <p:cNvPr id="29" name="Text 2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Day 21 提醒、周跟进、场景加购、组合盒升级。</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没有复购，漏斗就会塌。</a:t>
            </a:r>
            <a:endParaRPr lang="en-US" sz="1356" dirty="0"/>
          </a:p>
        </p:txBody>
      </p:sp>
      <p:sp>
        <p:nvSpPr>
          <p:cNvPr id="30" name="Shape 2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32" name="Text 30"/>
          <p:cNvSpPr/>
          <p:nvPr/>
        </p:nvSpPr>
        <p:spPr>
          <a:xfrm>
            <a:off x="8247888"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裂变</a:t>
            </a:r>
            <a:endParaRPr lang="en-US" sz="1550" dirty="0"/>
          </a:p>
        </p:txBody>
      </p:sp>
      <p:sp>
        <p:nvSpPr>
          <p:cNvPr id="33" name="Text 31"/>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优惠券、试用装、健康大使、区域合伙人。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裂变不是冷启动核心，但会成为后期 ROI 放大器。</a:t>
            </a:r>
            <a:endParaRPr lang="en-US" sz="1356" dirty="0"/>
          </a:p>
        </p:txBody>
      </p:sp>
    </p:spTree>
  </p:cSld>
  <p:clrMapOvr>
    <a:masterClrMapping/>
  </p:clrMapOvr>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完整用户旅程：从触达到裂变的 9 步</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每一步都要有动作、系统状态和负责主体</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19</a:t>
            </a:r>
            <a:endParaRPr lang="en-US" sz="950" dirty="0"/>
          </a:p>
        </p:txBody>
      </p:sp>
      <p:sp>
        <p:nvSpPr>
          <p:cNvPr id="10" name="Shape 8"/>
          <p:cNvSpPr/>
          <p:nvPr/>
        </p:nvSpPr>
        <p:spPr>
          <a:xfrm>
            <a:off x="530352" y="1133856"/>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1 触达</a:t>
            </a:r>
            <a:endParaRPr lang="en-US" sz="1550" dirty="0"/>
          </a:p>
        </p:txBody>
      </p:sp>
      <p:sp>
        <p:nvSpPr>
          <p:cNvPr id="13" name="Shape 11"/>
          <p:cNvSpPr/>
          <p:nvPr/>
        </p:nvSpPr>
        <p:spPr>
          <a:xfrm>
            <a:off x="3008376"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14" name="Text 12"/>
          <p:cNvSpPr/>
          <p:nvPr/>
        </p:nvSpPr>
        <p:spPr>
          <a:xfrm>
            <a:off x="3008376" y="1307592"/>
            <a:ext cx="868680" cy="146304"/>
          </a:xfrm>
          <a:prstGeom prst="rect">
            <a:avLst/>
          </a:prstGeom>
          <a:noFill/>
          <a:ln/>
        </p:spPr>
        <p:txBody>
          <a:bodyPr wrap="square" lIns="0" tIns="0" rIns="0" bIns="0" rtlCol="0" anchor="ctr"/>
          <a:lstStyle/>
          <a:p>
            <a:pPr algn="ctr" indent="0" marL="0">
              <a:buNone/>
            </a:pPr>
            <a:r>
              <a:rPr lang="en-US" sz="850" b="1" dirty="0">
                <a:solidFill>
                  <a:srgbClr val="2C6E68"/>
                </a:solidFill>
                <a:latin typeface="Heiti SC" pitchFamily="34" charset="0"/>
                <a:ea typeface="Heiti SC" pitchFamily="34" charset="-122"/>
                <a:cs typeface="Heiti SC" pitchFamily="34" charset="-120"/>
              </a:rPr>
              <a:t>Step</a:t>
            </a:r>
            <a:endParaRPr lang="en-US" sz="850" dirty="0"/>
          </a:p>
        </p:txBody>
      </p:sp>
      <p:sp>
        <p:nvSpPr>
          <p:cNvPr id="15" name="Text 13"/>
          <p:cNvSpPr/>
          <p:nvPr/>
        </p:nvSpPr>
        <p:spPr>
          <a:xfrm>
            <a:off x="694944" y="1664208"/>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社交媒体广告、社群推荐、口碑传播。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目标：获取注意力和第一兴趣。</a:t>
            </a:r>
            <a:endParaRPr lang="en-US" sz="1356" dirty="0"/>
          </a:p>
        </p:txBody>
      </p:sp>
      <p:sp>
        <p:nvSpPr>
          <p:cNvPr id="16" name="Shape 14"/>
          <p:cNvSpPr/>
          <p:nvPr/>
        </p:nvSpPr>
        <p:spPr>
          <a:xfrm>
            <a:off x="4306824" y="1133856"/>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7" name="Shape 15"/>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8" name="Text 16"/>
          <p:cNvSpPr/>
          <p:nvPr/>
        </p:nvSpPr>
        <p:spPr>
          <a:xfrm>
            <a:off x="4471416"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2 落地</a:t>
            </a:r>
            <a:endParaRPr lang="en-US" sz="1550" dirty="0"/>
          </a:p>
        </p:txBody>
      </p:sp>
      <p:sp>
        <p:nvSpPr>
          <p:cNvPr id="19" name="Shape 17"/>
          <p:cNvSpPr/>
          <p:nvPr/>
        </p:nvSpPr>
        <p:spPr>
          <a:xfrm>
            <a:off x="6784848"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20" name="Text 18"/>
          <p:cNvSpPr/>
          <p:nvPr/>
        </p:nvSpPr>
        <p:spPr>
          <a:xfrm>
            <a:off x="6784848" y="1307592"/>
            <a:ext cx="868680" cy="146304"/>
          </a:xfrm>
          <a:prstGeom prst="rect">
            <a:avLst/>
          </a:prstGeom>
          <a:noFill/>
          <a:ln/>
        </p:spPr>
        <p:txBody>
          <a:bodyPr wrap="square" lIns="0" tIns="0" rIns="0" bIns="0" rtlCol="0" anchor="ctr"/>
          <a:lstStyle/>
          <a:p>
            <a:pPr algn="ctr" indent="0" marL="0">
              <a:buNone/>
            </a:pPr>
            <a:r>
              <a:rPr lang="en-US" sz="850" b="1" dirty="0">
                <a:solidFill>
                  <a:srgbClr val="4A8F74"/>
                </a:solidFill>
                <a:latin typeface="Heiti SC" pitchFamily="34" charset="0"/>
                <a:ea typeface="Heiti SC" pitchFamily="34" charset="-122"/>
                <a:cs typeface="Heiti SC" pitchFamily="34" charset="-120"/>
              </a:rPr>
              <a:t>Step</a:t>
            </a:r>
            <a:endParaRPr lang="en-US" sz="850" dirty="0"/>
          </a:p>
        </p:txBody>
      </p:sp>
      <p:sp>
        <p:nvSpPr>
          <p:cNvPr id="21" name="Text 19"/>
          <p:cNvSpPr/>
          <p:nvPr/>
        </p:nvSpPr>
        <p:spPr>
          <a:xfrm>
            <a:off x="4471416" y="1664208"/>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H5 落地页、企微社群、朋友推荐。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目标：把流量变成线索。</a:t>
            </a:r>
            <a:endParaRPr lang="en-US" sz="1356" dirty="0"/>
          </a:p>
        </p:txBody>
      </p:sp>
      <p:sp>
        <p:nvSpPr>
          <p:cNvPr id="22" name="Shape 20"/>
          <p:cNvSpPr/>
          <p:nvPr/>
        </p:nvSpPr>
        <p:spPr>
          <a:xfrm>
            <a:off x="8083296" y="1133856"/>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4" name="Text 22"/>
          <p:cNvSpPr/>
          <p:nvPr/>
        </p:nvSpPr>
        <p:spPr>
          <a:xfrm>
            <a:off x="8247888"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3 评估</a:t>
            </a:r>
            <a:endParaRPr lang="en-US" sz="1550" dirty="0"/>
          </a:p>
        </p:txBody>
      </p:sp>
      <p:sp>
        <p:nvSpPr>
          <p:cNvPr id="25" name="Shape 23"/>
          <p:cNvSpPr/>
          <p:nvPr/>
        </p:nvSpPr>
        <p:spPr>
          <a:xfrm>
            <a:off x="10561320"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26" name="Text 24"/>
          <p:cNvSpPr/>
          <p:nvPr/>
        </p:nvSpPr>
        <p:spPr>
          <a:xfrm>
            <a:off x="10561320" y="1307592"/>
            <a:ext cx="868680" cy="146304"/>
          </a:xfrm>
          <a:prstGeom prst="rect">
            <a:avLst/>
          </a:prstGeom>
          <a:noFill/>
          <a:ln/>
        </p:spPr>
        <p:txBody>
          <a:bodyPr wrap="square" lIns="0" tIns="0" rIns="0" bIns="0" rtlCol="0" anchor="ctr"/>
          <a:lstStyle/>
          <a:p>
            <a:pPr algn="ctr" indent="0" marL="0">
              <a:buNone/>
            </a:pPr>
            <a:r>
              <a:rPr lang="en-US" sz="850" b="1" dirty="0">
                <a:solidFill>
                  <a:srgbClr val="B3883B"/>
                </a:solidFill>
                <a:latin typeface="Heiti SC" pitchFamily="34" charset="0"/>
                <a:ea typeface="Heiti SC" pitchFamily="34" charset="-122"/>
                <a:cs typeface="Heiti SC" pitchFamily="34" charset="-120"/>
              </a:rPr>
              <a:t>Step</a:t>
            </a:r>
            <a:endParaRPr lang="en-US" sz="850" dirty="0"/>
          </a:p>
        </p:txBody>
      </p:sp>
      <p:sp>
        <p:nvSpPr>
          <p:cNvPr id="27" name="Text 25"/>
          <p:cNvSpPr/>
          <p:nvPr/>
        </p:nvSpPr>
        <p:spPr>
          <a:xfrm>
            <a:off x="8247888" y="1664208"/>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AI 问卷 5 分钟完成。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根据症状、体质、需求进入不同方案流。</a:t>
            </a:r>
            <a:endParaRPr lang="en-US" sz="1356" dirty="0"/>
          </a:p>
        </p:txBody>
      </p:sp>
      <p:sp>
        <p:nvSpPr>
          <p:cNvPr id="28" name="Shape 26"/>
          <p:cNvSpPr/>
          <p:nvPr/>
        </p:nvSpPr>
        <p:spPr>
          <a:xfrm>
            <a:off x="530352" y="2898648"/>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9" name="Shape 27"/>
          <p:cNvSpPr/>
          <p:nvPr/>
        </p:nvSpPr>
        <p:spPr>
          <a:xfrm>
            <a:off x="530352" y="2898648"/>
            <a:ext cx="3557016" cy="109728"/>
          </a:xfrm>
          <a:prstGeom prst="rect">
            <a:avLst/>
          </a:prstGeom>
          <a:solidFill>
            <a:srgbClr val="5078A5"/>
          </a:solidFill>
          <a:ln w="12700">
            <a:solidFill>
              <a:srgbClr val="5078A5">
                <a:alpha val="0"/>
              </a:srgbClr>
            </a:solidFill>
            <a:prstDash val="solid"/>
          </a:ln>
        </p:spPr>
      </p:sp>
      <p:sp>
        <p:nvSpPr>
          <p:cNvPr id="30" name="Text 28"/>
          <p:cNvSpPr/>
          <p:nvPr/>
        </p:nvSpPr>
        <p:spPr>
          <a:xfrm>
            <a:off x="694944" y="3063240"/>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4 方案</a:t>
            </a:r>
            <a:endParaRPr lang="en-US" sz="1550" dirty="0"/>
          </a:p>
        </p:txBody>
      </p:sp>
      <p:sp>
        <p:nvSpPr>
          <p:cNvPr id="31" name="Shape 29"/>
          <p:cNvSpPr/>
          <p:nvPr/>
        </p:nvSpPr>
        <p:spPr>
          <a:xfrm>
            <a:off x="3008376" y="3044952"/>
            <a:ext cx="868680" cy="219456"/>
          </a:xfrm>
          <a:prstGeom prst="roundRect">
            <a:avLst>
              <a:gd name="adj" fmla="val 16667"/>
            </a:avLst>
          </a:prstGeom>
          <a:solidFill>
            <a:srgbClr val="F4F0E7"/>
          </a:solidFill>
          <a:ln w="12700">
            <a:solidFill>
              <a:srgbClr val="E6E1D8">
                <a:alpha val="0"/>
              </a:srgbClr>
            </a:solidFill>
            <a:prstDash val="solid"/>
          </a:ln>
        </p:spPr>
      </p:sp>
      <p:sp>
        <p:nvSpPr>
          <p:cNvPr id="32" name="Text 30"/>
          <p:cNvSpPr/>
          <p:nvPr/>
        </p:nvSpPr>
        <p:spPr>
          <a:xfrm>
            <a:off x="3008376" y="3072384"/>
            <a:ext cx="868680" cy="146304"/>
          </a:xfrm>
          <a:prstGeom prst="rect">
            <a:avLst/>
          </a:prstGeom>
          <a:noFill/>
          <a:ln/>
        </p:spPr>
        <p:txBody>
          <a:bodyPr wrap="square" lIns="0" tIns="0" rIns="0" bIns="0" rtlCol="0" anchor="ctr"/>
          <a:lstStyle/>
          <a:p>
            <a:pPr algn="ctr" indent="0" marL="0">
              <a:buNone/>
            </a:pPr>
            <a:r>
              <a:rPr lang="en-US" sz="850" b="1" dirty="0">
                <a:solidFill>
                  <a:srgbClr val="5078A5"/>
                </a:solidFill>
                <a:latin typeface="Heiti SC" pitchFamily="34" charset="0"/>
                <a:ea typeface="Heiti SC" pitchFamily="34" charset="-122"/>
                <a:cs typeface="Heiti SC" pitchFamily="34" charset="-120"/>
              </a:rPr>
              <a:t>Step</a:t>
            </a:r>
            <a:endParaRPr lang="en-US" sz="850" dirty="0"/>
          </a:p>
        </p:txBody>
      </p:sp>
      <p:sp>
        <p:nvSpPr>
          <p:cNvPr id="33" name="Text 31"/>
          <p:cNvSpPr/>
          <p:nvPr/>
        </p:nvSpPr>
        <p:spPr>
          <a:xfrm>
            <a:off x="694944" y="3429000"/>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AI 生成初步方案，必要时交医师审核。</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目标：让用户看到清晰路径。</a:t>
            </a:r>
            <a:endParaRPr lang="en-US" sz="1356" dirty="0"/>
          </a:p>
        </p:txBody>
      </p:sp>
      <p:sp>
        <p:nvSpPr>
          <p:cNvPr id="34" name="Shape 32"/>
          <p:cNvSpPr/>
          <p:nvPr/>
        </p:nvSpPr>
        <p:spPr>
          <a:xfrm>
            <a:off x="4306824" y="2898648"/>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5" name="Shape 33"/>
          <p:cNvSpPr/>
          <p:nvPr/>
        </p:nvSpPr>
        <p:spPr>
          <a:xfrm>
            <a:off x="4306824" y="2898648"/>
            <a:ext cx="3557016" cy="109728"/>
          </a:xfrm>
          <a:prstGeom prst="rect">
            <a:avLst/>
          </a:prstGeom>
          <a:solidFill>
            <a:srgbClr val="B65C49"/>
          </a:solidFill>
          <a:ln w="12700">
            <a:solidFill>
              <a:srgbClr val="B65C49">
                <a:alpha val="0"/>
              </a:srgbClr>
            </a:solidFill>
            <a:prstDash val="solid"/>
          </a:ln>
        </p:spPr>
      </p:sp>
      <p:sp>
        <p:nvSpPr>
          <p:cNvPr id="36" name="Text 34"/>
          <p:cNvSpPr/>
          <p:nvPr/>
        </p:nvSpPr>
        <p:spPr>
          <a:xfrm>
            <a:off x="4471416" y="3063240"/>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5 下单</a:t>
            </a:r>
            <a:endParaRPr lang="en-US" sz="1550" dirty="0"/>
          </a:p>
        </p:txBody>
      </p:sp>
      <p:sp>
        <p:nvSpPr>
          <p:cNvPr id="37" name="Shape 35"/>
          <p:cNvSpPr/>
          <p:nvPr/>
        </p:nvSpPr>
        <p:spPr>
          <a:xfrm>
            <a:off x="6784848" y="3044952"/>
            <a:ext cx="868680" cy="219456"/>
          </a:xfrm>
          <a:prstGeom prst="roundRect">
            <a:avLst>
              <a:gd name="adj" fmla="val 16667"/>
            </a:avLst>
          </a:prstGeom>
          <a:solidFill>
            <a:srgbClr val="F4F0E7"/>
          </a:solidFill>
          <a:ln w="12700">
            <a:solidFill>
              <a:srgbClr val="E6E1D8">
                <a:alpha val="0"/>
              </a:srgbClr>
            </a:solidFill>
            <a:prstDash val="solid"/>
          </a:ln>
        </p:spPr>
      </p:sp>
      <p:sp>
        <p:nvSpPr>
          <p:cNvPr id="38" name="Text 36"/>
          <p:cNvSpPr/>
          <p:nvPr/>
        </p:nvSpPr>
        <p:spPr>
          <a:xfrm>
            <a:off x="6784848" y="3072384"/>
            <a:ext cx="868680" cy="146304"/>
          </a:xfrm>
          <a:prstGeom prst="rect">
            <a:avLst/>
          </a:prstGeom>
          <a:noFill/>
          <a:ln/>
        </p:spPr>
        <p:txBody>
          <a:bodyPr wrap="square" lIns="0" tIns="0" rIns="0" bIns="0" rtlCol="0" anchor="ctr"/>
          <a:lstStyle/>
          <a:p>
            <a:pPr algn="ctr" indent="0" marL="0">
              <a:buNone/>
            </a:pPr>
            <a:r>
              <a:rPr lang="en-US" sz="850" b="1" dirty="0">
                <a:solidFill>
                  <a:srgbClr val="B65C49"/>
                </a:solidFill>
                <a:latin typeface="Heiti SC" pitchFamily="34" charset="0"/>
                <a:ea typeface="Heiti SC" pitchFamily="34" charset="-122"/>
                <a:cs typeface="Heiti SC" pitchFamily="34" charset="-120"/>
              </a:rPr>
              <a:t>Step</a:t>
            </a:r>
            <a:endParaRPr lang="en-US" sz="850" dirty="0"/>
          </a:p>
        </p:txBody>
      </p:sp>
      <p:sp>
        <p:nvSpPr>
          <p:cNvPr id="39" name="Text 37"/>
          <p:cNvSpPr/>
          <p:nvPr/>
        </p:nvSpPr>
        <p:spPr>
          <a:xfrm>
            <a:off x="4471416" y="3429000"/>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微信支付 / 支付宝。</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目标：降低支付摩擦和退款风险。</a:t>
            </a:r>
            <a:endParaRPr lang="en-US" sz="1356" dirty="0"/>
          </a:p>
        </p:txBody>
      </p:sp>
      <p:sp>
        <p:nvSpPr>
          <p:cNvPr id="40" name="Shape 38"/>
          <p:cNvSpPr/>
          <p:nvPr/>
        </p:nvSpPr>
        <p:spPr>
          <a:xfrm>
            <a:off x="8083296" y="2898648"/>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41" name="Shape 39"/>
          <p:cNvSpPr/>
          <p:nvPr/>
        </p:nvSpPr>
        <p:spPr>
          <a:xfrm>
            <a:off x="8083296" y="2898648"/>
            <a:ext cx="3557016" cy="109728"/>
          </a:xfrm>
          <a:prstGeom prst="rect">
            <a:avLst/>
          </a:prstGeom>
          <a:solidFill>
            <a:srgbClr val="8DB4A0"/>
          </a:solidFill>
          <a:ln w="12700">
            <a:solidFill>
              <a:srgbClr val="8DB4A0">
                <a:alpha val="0"/>
              </a:srgbClr>
            </a:solidFill>
            <a:prstDash val="solid"/>
          </a:ln>
        </p:spPr>
      </p:sp>
      <p:sp>
        <p:nvSpPr>
          <p:cNvPr id="42" name="Text 40"/>
          <p:cNvSpPr/>
          <p:nvPr/>
        </p:nvSpPr>
        <p:spPr>
          <a:xfrm>
            <a:off x="8247888" y="3063240"/>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6 履约</a:t>
            </a:r>
            <a:endParaRPr lang="en-US" sz="1550" dirty="0"/>
          </a:p>
        </p:txBody>
      </p:sp>
      <p:sp>
        <p:nvSpPr>
          <p:cNvPr id="43" name="Shape 41"/>
          <p:cNvSpPr/>
          <p:nvPr/>
        </p:nvSpPr>
        <p:spPr>
          <a:xfrm>
            <a:off x="10561320" y="3044952"/>
            <a:ext cx="868680" cy="219456"/>
          </a:xfrm>
          <a:prstGeom prst="roundRect">
            <a:avLst>
              <a:gd name="adj" fmla="val 16667"/>
            </a:avLst>
          </a:prstGeom>
          <a:solidFill>
            <a:srgbClr val="F4F0E7"/>
          </a:solidFill>
          <a:ln w="12700">
            <a:solidFill>
              <a:srgbClr val="E6E1D8">
                <a:alpha val="0"/>
              </a:srgbClr>
            </a:solidFill>
            <a:prstDash val="solid"/>
          </a:ln>
        </p:spPr>
      </p:sp>
      <p:sp>
        <p:nvSpPr>
          <p:cNvPr id="44" name="Text 42"/>
          <p:cNvSpPr/>
          <p:nvPr/>
        </p:nvSpPr>
        <p:spPr>
          <a:xfrm>
            <a:off x="10561320" y="3072384"/>
            <a:ext cx="868680" cy="146304"/>
          </a:xfrm>
          <a:prstGeom prst="rect">
            <a:avLst/>
          </a:prstGeom>
          <a:noFill/>
          <a:ln/>
        </p:spPr>
        <p:txBody>
          <a:bodyPr wrap="square" lIns="0" tIns="0" rIns="0" bIns="0" rtlCol="0" anchor="ctr"/>
          <a:lstStyle/>
          <a:p>
            <a:pPr algn="ctr" indent="0" marL="0">
              <a:buNone/>
            </a:pPr>
            <a:r>
              <a:rPr lang="en-US" sz="850" b="1" dirty="0">
                <a:solidFill>
                  <a:srgbClr val="8DB4A0"/>
                </a:solidFill>
                <a:latin typeface="Heiti SC" pitchFamily="34" charset="0"/>
                <a:ea typeface="Heiti SC" pitchFamily="34" charset="-122"/>
                <a:cs typeface="Heiti SC" pitchFamily="34" charset="-120"/>
              </a:rPr>
              <a:t>Step</a:t>
            </a:r>
            <a:endParaRPr lang="en-US" sz="850" dirty="0"/>
          </a:p>
        </p:txBody>
      </p:sp>
      <p:sp>
        <p:nvSpPr>
          <p:cNvPr id="45" name="Text 43"/>
          <p:cNvSpPr/>
          <p:nvPr/>
        </p:nvSpPr>
        <p:spPr>
          <a:xfrm>
            <a:off x="8247888" y="3429000"/>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处方类走医院和药房；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药食同源/保健品走工厂或仓库。</a:t>
            </a:r>
            <a:endParaRPr lang="en-US" sz="1356" dirty="0"/>
          </a:p>
        </p:txBody>
      </p:sp>
      <p:sp>
        <p:nvSpPr>
          <p:cNvPr id="46" name="Shape 44"/>
          <p:cNvSpPr/>
          <p:nvPr/>
        </p:nvSpPr>
        <p:spPr>
          <a:xfrm>
            <a:off x="530352" y="4663440"/>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47" name="Shape 45"/>
          <p:cNvSpPr/>
          <p:nvPr/>
        </p:nvSpPr>
        <p:spPr>
          <a:xfrm>
            <a:off x="530352" y="4663440"/>
            <a:ext cx="3557016" cy="109728"/>
          </a:xfrm>
          <a:prstGeom prst="rect">
            <a:avLst/>
          </a:prstGeom>
          <a:solidFill>
            <a:srgbClr val="2C6E68"/>
          </a:solidFill>
          <a:ln w="12700">
            <a:solidFill>
              <a:srgbClr val="2C6E68">
                <a:alpha val="0"/>
              </a:srgbClr>
            </a:solidFill>
            <a:prstDash val="solid"/>
          </a:ln>
        </p:spPr>
      </p:sp>
      <p:sp>
        <p:nvSpPr>
          <p:cNvPr id="48" name="Text 46"/>
          <p:cNvSpPr/>
          <p:nvPr/>
        </p:nvSpPr>
        <p:spPr>
          <a:xfrm>
            <a:off x="694944" y="4828032"/>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7 随访</a:t>
            </a:r>
            <a:endParaRPr lang="en-US" sz="1550" dirty="0"/>
          </a:p>
        </p:txBody>
      </p:sp>
      <p:sp>
        <p:nvSpPr>
          <p:cNvPr id="49" name="Shape 47"/>
          <p:cNvSpPr/>
          <p:nvPr/>
        </p:nvSpPr>
        <p:spPr>
          <a:xfrm>
            <a:off x="3008376" y="4809744"/>
            <a:ext cx="868680" cy="219456"/>
          </a:xfrm>
          <a:prstGeom prst="roundRect">
            <a:avLst>
              <a:gd name="adj" fmla="val 16667"/>
            </a:avLst>
          </a:prstGeom>
          <a:solidFill>
            <a:srgbClr val="F4F0E7"/>
          </a:solidFill>
          <a:ln w="12700">
            <a:solidFill>
              <a:srgbClr val="E6E1D8">
                <a:alpha val="0"/>
              </a:srgbClr>
            </a:solidFill>
            <a:prstDash val="solid"/>
          </a:ln>
        </p:spPr>
      </p:sp>
      <p:sp>
        <p:nvSpPr>
          <p:cNvPr id="50" name="Text 48"/>
          <p:cNvSpPr/>
          <p:nvPr/>
        </p:nvSpPr>
        <p:spPr>
          <a:xfrm>
            <a:off x="3008376" y="4837176"/>
            <a:ext cx="868680" cy="146304"/>
          </a:xfrm>
          <a:prstGeom prst="rect">
            <a:avLst/>
          </a:prstGeom>
          <a:noFill/>
          <a:ln/>
        </p:spPr>
        <p:txBody>
          <a:bodyPr wrap="square" lIns="0" tIns="0" rIns="0" bIns="0" rtlCol="0" anchor="ctr"/>
          <a:lstStyle/>
          <a:p>
            <a:pPr algn="ctr" indent="0" marL="0">
              <a:buNone/>
            </a:pPr>
            <a:r>
              <a:rPr lang="en-US" sz="850" b="1" dirty="0">
                <a:solidFill>
                  <a:srgbClr val="2C6E68"/>
                </a:solidFill>
                <a:latin typeface="Heiti SC" pitchFamily="34" charset="0"/>
                <a:ea typeface="Heiti SC" pitchFamily="34" charset="-122"/>
                <a:cs typeface="Heiti SC" pitchFamily="34" charset="-120"/>
              </a:rPr>
              <a:t>Step</a:t>
            </a:r>
            <a:endParaRPr lang="en-US" sz="850" dirty="0"/>
          </a:p>
        </p:txBody>
      </p:sp>
      <p:sp>
        <p:nvSpPr>
          <p:cNvPr id="51" name="Text 49"/>
          <p:cNvSpPr/>
          <p:nvPr/>
        </p:nvSpPr>
        <p:spPr>
          <a:xfrm>
            <a:off x="694944" y="5193792"/>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企微顾问 1 对 1 跟踪。</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配合 AI 每周打卡和效果复盘。</a:t>
            </a:r>
            <a:endParaRPr lang="en-US" sz="1356" dirty="0"/>
          </a:p>
        </p:txBody>
      </p:sp>
      <p:sp>
        <p:nvSpPr>
          <p:cNvPr id="52" name="Shape 50"/>
          <p:cNvSpPr/>
          <p:nvPr/>
        </p:nvSpPr>
        <p:spPr>
          <a:xfrm>
            <a:off x="4306824" y="4663440"/>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53" name="Shape 51"/>
          <p:cNvSpPr/>
          <p:nvPr/>
        </p:nvSpPr>
        <p:spPr>
          <a:xfrm>
            <a:off x="4306824" y="4663440"/>
            <a:ext cx="3557016" cy="109728"/>
          </a:xfrm>
          <a:prstGeom prst="rect">
            <a:avLst/>
          </a:prstGeom>
          <a:solidFill>
            <a:srgbClr val="4A8F74"/>
          </a:solidFill>
          <a:ln w="12700">
            <a:solidFill>
              <a:srgbClr val="4A8F74">
                <a:alpha val="0"/>
              </a:srgbClr>
            </a:solidFill>
            <a:prstDash val="solid"/>
          </a:ln>
        </p:spPr>
      </p:sp>
      <p:sp>
        <p:nvSpPr>
          <p:cNvPr id="54" name="Text 52"/>
          <p:cNvSpPr/>
          <p:nvPr/>
        </p:nvSpPr>
        <p:spPr>
          <a:xfrm>
            <a:off x="4471416" y="4828032"/>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8 复购</a:t>
            </a:r>
            <a:endParaRPr lang="en-US" sz="1550" dirty="0"/>
          </a:p>
        </p:txBody>
      </p:sp>
      <p:sp>
        <p:nvSpPr>
          <p:cNvPr id="55" name="Shape 53"/>
          <p:cNvSpPr/>
          <p:nvPr/>
        </p:nvSpPr>
        <p:spPr>
          <a:xfrm>
            <a:off x="6784848" y="4809744"/>
            <a:ext cx="868680" cy="219456"/>
          </a:xfrm>
          <a:prstGeom prst="roundRect">
            <a:avLst>
              <a:gd name="adj" fmla="val 16667"/>
            </a:avLst>
          </a:prstGeom>
          <a:solidFill>
            <a:srgbClr val="F4F0E7"/>
          </a:solidFill>
          <a:ln w="12700">
            <a:solidFill>
              <a:srgbClr val="E6E1D8">
                <a:alpha val="0"/>
              </a:srgbClr>
            </a:solidFill>
            <a:prstDash val="solid"/>
          </a:ln>
        </p:spPr>
      </p:sp>
      <p:sp>
        <p:nvSpPr>
          <p:cNvPr id="56" name="Text 54"/>
          <p:cNvSpPr/>
          <p:nvPr/>
        </p:nvSpPr>
        <p:spPr>
          <a:xfrm>
            <a:off x="6784848" y="4837176"/>
            <a:ext cx="868680" cy="146304"/>
          </a:xfrm>
          <a:prstGeom prst="rect">
            <a:avLst/>
          </a:prstGeom>
          <a:noFill/>
          <a:ln/>
        </p:spPr>
        <p:txBody>
          <a:bodyPr wrap="square" lIns="0" tIns="0" rIns="0" bIns="0" rtlCol="0" anchor="ctr"/>
          <a:lstStyle/>
          <a:p>
            <a:pPr algn="ctr" indent="0" marL="0">
              <a:buNone/>
            </a:pPr>
            <a:r>
              <a:rPr lang="en-US" sz="850" b="1" dirty="0">
                <a:solidFill>
                  <a:srgbClr val="4A8F74"/>
                </a:solidFill>
                <a:latin typeface="Heiti SC" pitchFamily="34" charset="0"/>
                <a:ea typeface="Heiti SC" pitchFamily="34" charset="-122"/>
                <a:cs typeface="Heiti SC" pitchFamily="34" charset="-120"/>
              </a:rPr>
              <a:t>Step</a:t>
            </a:r>
            <a:endParaRPr lang="en-US" sz="850" dirty="0"/>
          </a:p>
        </p:txBody>
      </p:sp>
      <p:sp>
        <p:nvSpPr>
          <p:cNvPr id="57" name="Text 55"/>
          <p:cNvSpPr/>
          <p:nvPr/>
        </p:nvSpPr>
        <p:spPr>
          <a:xfrm>
            <a:off x="4471416" y="5193792"/>
            <a:ext cx="3227832" cy="832104"/>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Day 21 自动提醒。</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一键续费和自动发货，降低决策中断。</a:t>
            </a:r>
            <a:endParaRPr lang="en-US" sz="1356" dirty="0"/>
          </a:p>
        </p:txBody>
      </p:sp>
      <p:sp>
        <p:nvSpPr>
          <p:cNvPr id="58" name="Shape 56"/>
          <p:cNvSpPr/>
          <p:nvPr/>
        </p:nvSpPr>
        <p:spPr>
          <a:xfrm>
            <a:off x="8083296" y="4663440"/>
            <a:ext cx="3557016" cy="1545336"/>
          </a:xfrm>
          <a:prstGeom prst="roundRect">
            <a:avLst>
              <a:gd name="adj" fmla="val 4734"/>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59" name="Shape 57"/>
          <p:cNvSpPr/>
          <p:nvPr/>
        </p:nvSpPr>
        <p:spPr>
          <a:xfrm>
            <a:off x="8083296" y="4663440"/>
            <a:ext cx="3557016" cy="109728"/>
          </a:xfrm>
          <a:prstGeom prst="rect">
            <a:avLst/>
          </a:prstGeom>
          <a:solidFill>
            <a:srgbClr val="B3883B"/>
          </a:solidFill>
          <a:ln w="12700">
            <a:solidFill>
              <a:srgbClr val="B3883B">
                <a:alpha val="0"/>
              </a:srgbClr>
            </a:solidFill>
            <a:prstDash val="solid"/>
          </a:ln>
        </p:spPr>
      </p:sp>
      <p:sp>
        <p:nvSpPr>
          <p:cNvPr id="60" name="Text 58"/>
          <p:cNvSpPr/>
          <p:nvPr/>
        </p:nvSpPr>
        <p:spPr>
          <a:xfrm>
            <a:off x="8247888" y="4828032"/>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9 裂变</a:t>
            </a:r>
            <a:endParaRPr lang="en-US" sz="1550" dirty="0"/>
          </a:p>
        </p:txBody>
      </p:sp>
      <p:sp>
        <p:nvSpPr>
          <p:cNvPr id="61" name="Shape 59"/>
          <p:cNvSpPr/>
          <p:nvPr/>
        </p:nvSpPr>
        <p:spPr>
          <a:xfrm>
            <a:off x="10561320" y="4809744"/>
            <a:ext cx="868680" cy="219456"/>
          </a:xfrm>
          <a:prstGeom prst="roundRect">
            <a:avLst>
              <a:gd name="adj" fmla="val 16667"/>
            </a:avLst>
          </a:prstGeom>
          <a:solidFill>
            <a:srgbClr val="F4F0E7"/>
          </a:solidFill>
          <a:ln w="12700">
            <a:solidFill>
              <a:srgbClr val="E6E1D8">
                <a:alpha val="0"/>
              </a:srgbClr>
            </a:solidFill>
            <a:prstDash val="solid"/>
          </a:ln>
        </p:spPr>
      </p:sp>
      <p:sp>
        <p:nvSpPr>
          <p:cNvPr id="62" name="Text 60"/>
          <p:cNvSpPr/>
          <p:nvPr/>
        </p:nvSpPr>
        <p:spPr>
          <a:xfrm>
            <a:off x="10561320" y="4837176"/>
            <a:ext cx="868680" cy="146304"/>
          </a:xfrm>
          <a:prstGeom prst="rect">
            <a:avLst/>
          </a:prstGeom>
          <a:noFill/>
          <a:ln/>
        </p:spPr>
        <p:txBody>
          <a:bodyPr wrap="square" lIns="0" tIns="0" rIns="0" bIns="0" rtlCol="0" anchor="ctr"/>
          <a:lstStyle/>
          <a:p>
            <a:pPr algn="ctr" indent="0" marL="0">
              <a:buNone/>
            </a:pPr>
            <a:r>
              <a:rPr lang="en-US" sz="850" b="1" dirty="0">
                <a:solidFill>
                  <a:srgbClr val="B3883B"/>
                </a:solidFill>
                <a:latin typeface="Heiti SC" pitchFamily="34" charset="0"/>
                <a:ea typeface="Heiti SC" pitchFamily="34" charset="-122"/>
                <a:cs typeface="Heiti SC" pitchFamily="34" charset="-120"/>
              </a:rPr>
              <a:t>Step</a:t>
            </a:r>
            <a:endParaRPr lang="en-US" sz="850" dirty="0"/>
          </a:p>
        </p:txBody>
      </p:sp>
      <p:sp>
        <p:nvSpPr>
          <p:cNvPr id="63" name="Text 61"/>
          <p:cNvSpPr/>
          <p:nvPr/>
        </p:nvSpPr>
        <p:spPr>
          <a:xfrm>
            <a:off x="8247888" y="5193792"/>
            <a:ext cx="3227832" cy="832104"/>
          </a:xfrm>
          <a:prstGeom prst="rect">
            <a:avLst/>
          </a:prstGeom>
          <a:noFill/>
          <a:ln/>
        </p:spPr>
        <p:txBody>
          <a:bodyPr wrap="square" lIns="0" tIns="0" rIns="0" bIns="0" rtlCol="0" anchor="t">
            <a:normAutofit/>
          </a:bodyPr>
          <a:lstStyle/>
          <a:p>
            <a:pPr indent="0" marL="0">
              <a:buNone/>
            </a:pPr>
            <a:r>
              <a:rPr lang="en-US" sz="1316" dirty="0">
                <a:solidFill>
                  <a:srgbClr val="18322F"/>
                </a:solidFill>
                <a:latin typeface="Heiti SC" pitchFamily="34" charset="0"/>
                <a:ea typeface="Heiti SC" pitchFamily="34" charset="-122"/>
                <a:cs typeface="Heiti SC" pitchFamily="34" charset="-120"/>
              </a:rPr>
              <a:t>邀请好友、优惠券、社群活动、用户故事。</a:t>
            </a:r>
            <a:endParaRPr lang="en-US" sz="1316" dirty="0"/>
          </a:p>
          <a:p>
            <a:pPr indent="0" marL="0">
              <a:buNone/>
            </a:pPr>
            <a:r>
              <a:rPr lang="en-US" sz="1316" dirty="0">
                <a:solidFill>
                  <a:srgbClr val="18322F"/>
                </a:solidFill>
                <a:latin typeface="Heiti SC" pitchFamily="34" charset="0"/>
                <a:ea typeface="Heiti SC" pitchFamily="34" charset="-122"/>
                <a:cs typeface="Heiti SC" pitchFamily="34" charset="-120"/>
              </a:rPr>
              <a:t>让满意用户变流量入口。</a:t>
            </a:r>
            <a:endParaRPr lang="en-US" sz="1316" dirty="0"/>
          </a:p>
        </p:txBody>
      </p:sp>
    </p:spTree>
  </p:cSld>
  <p:clrMapOvr>
    <a:masterClrMapping/>
  </p:clrMapOvr>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AI 评估与分诊引擎</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评估不是问卷装饰，而是成交前的第一道风控和推荐系统</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20</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评估输入</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基础信息、核心诉求、既往病史、过敏史、妊娠状态、当前用药、生活习惯。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不同品类补充不同题组。</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评估输出</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风险等级、适用品类、推荐方案、禁忌提醒、是否需要医师审核。</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用户必须看到“为什么推荐”。</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分诊规则</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高风险或处方类自动进入互联网医院链路。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中低风险用户进入药食同源或保健品成交链路。</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经营价值</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把用户从“随便问问”转成“已经理解自己问题的人”。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这一步直接决定支付转化率和投诉率。</a:t>
            </a:r>
            <a:endParaRPr lang="en-US" sz="1356" dirty="0"/>
          </a:p>
        </p:txBody>
      </p:sp>
    </p:spTree>
  </p:cSld>
  <p:clrMapOvr>
    <a:masterClrMapping/>
  </p:clrMapOvr>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AI 体质辨识：最重要的中国化能力</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它不是医学诊断，而是用户教育、推荐和复购的核心桥梁</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21</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平和质</a:t>
            </a:r>
            <a:endParaRPr lang="en-US" sz="1550" dirty="0"/>
          </a:p>
        </p:txBody>
      </p:sp>
      <p:sp>
        <p:nvSpPr>
          <p:cNvPr id="13" name="Text 11"/>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通用保健与季节管理。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适合作为组合盒的基础盘。</a:t>
            </a:r>
            <a:endParaRPr lang="en-US" sz="1356" dirty="0"/>
          </a:p>
        </p:txBody>
      </p:sp>
      <p:sp>
        <p:nvSpPr>
          <p:cNvPr id="14" name="Shape 12"/>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气虚质</a:t>
            </a:r>
            <a:endParaRPr lang="en-US" sz="1550" dirty="0"/>
          </a:p>
        </p:txBody>
      </p:sp>
      <p:sp>
        <p:nvSpPr>
          <p:cNvPr id="17" name="Text 15"/>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黄芪+党参+山药。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适合乏力、易疲劳、易感冒人群。</a:t>
            </a:r>
            <a:endParaRPr lang="en-US" sz="1356" dirty="0"/>
          </a:p>
        </p:txBody>
      </p:sp>
      <p:sp>
        <p:nvSpPr>
          <p:cNvPr id="18" name="Shape 16"/>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阳虚质</a:t>
            </a:r>
            <a:endParaRPr lang="en-US" sz="1550" dirty="0"/>
          </a:p>
        </p:txBody>
      </p:sp>
      <p:sp>
        <p:nvSpPr>
          <p:cNvPr id="21" name="Text 19"/>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肉桂+干姜+韭菜子。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适合怕冷、代谢低、畏寒人群。</a:t>
            </a:r>
            <a:endParaRPr lang="en-US" sz="1356" dirty="0"/>
          </a:p>
        </p:txBody>
      </p:sp>
      <p:sp>
        <p:nvSpPr>
          <p:cNvPr id="22" name="Shape 20"/>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24" name="Text 22"/>
          <p:cNvSpPr/>
          <p:nvPr/>
        </p:nvSpPr>
        <p:spPr>
          <a:xfrm>
            <a:off x="694944"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阴虚质</a:t>
            </a:r>
            <a:endParaRPr lang="en-US" sz="1550" dirty="0"/>
          </a:p>
        </p:txBody>
      </p:sp>
      <p:sp>
        <p:nvSpPr>
          <p:cNvPr id="25" name="Text 23"/>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百合+枸杞+石斛。</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适合熬夜、口干、烦热与长期耗损人群。</a:t>
            </a:r>
            <a:endParaRPr lang="en-US" sz="1356" dirty="0"/>
          </a:p>
        </p:txBody>
      </p:sp>
      <p:sp>
        <p:nvSpPr>
          <p:cNvPr id="26" name="Shape 24"/>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7" name="Shape 25"/>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28" name="Text 26"/>
          <p:cNvSpPr/>
          <p:nvPr/>
        </p:nvSpPr>
        <p:spPr>
          <a:xfrm>
            <a:off x="4471416"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痰湿 / 湿热</a:t>
            </a:r>
            <a:endParaRPr lang="en-US" sz="1550" dirty="0"/>
          </a:p>
        </p:txBody>
      </p:sp>
      <p:sp>
        <p:nvSpPr>
          <p:cNvPr id="29" name="Text 2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薏米+茯苓+陈皮 / 菊花+绿豆。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最适合轻体、祛湿与季节推广。</a:t>
            </a:r>
            <a:endParaRPr lang="en-US" sz="1356" dirty="0"/>
          </a:p>
        </p:txBody>
      </p:sp>
      <p:sp>
        <p:nvSpPr>
          <p:cNvPr id="30" name="Shape 2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1" name="Shape 2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32" name="Text 30"/>
          <p:cNvSpPr/>
          <p:nvPr/>
        </p:nvSpPr>
        <p:spPr>
          <a:xfrm>
            <a:off x="8247888" y="3945636"/>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血瘀 / 气郁 / 特禀</a:t>
            </a:r>
            <a:endParaRPr lang="en-US" sz="1550" dirty="0"/>
          </a:p>
        </p:txBody>
      </p:sp>
      <p:sp>
        <p:nvSpPr>
          <p:cNvPr id="33" name="Text 31"/>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活血、疏肝、过敏调理方向。</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适合作为长期管理与内容科普主题。</a:t>
            </a:r>
            <a:endParaRPr lang="en-US" sz="1356" dirty="0"/>
          </a:p>
        </p:txBody>
      </p:sp>
    </p:spTree>
  </p:cSld>
  <p:clrMapOvr>
    <a:masterClrMapping/>
  </p:clrMapOvr>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方案生成与医师审核</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用户感知的是“专业方案”，平台管理的是“风险与责任边界”</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22</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方案结构</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核心问题判断、目标周期、产品建议、服用说明、禁忌提醒、随访节点、复购建议。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每份方案都要可解释。</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何时必须医师审核</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处方需求、合并基础疾病、用药冲突、孕哺期、过敏高风险、症状超出轻管理范围。</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不能模糊处理。</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对用户的表达</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公开讲“方案建议”，私域讲“评估结果”，处方类明确说明“需医师进一步审核”。</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避免越界承诺。</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记录与追溯</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方案版本、审核结果、沟通记录、支付时间、物流信息都要可回溯。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这是后续投诉和复盘的基础。</a:t>
            </a:r>
            <a:endParaRPr lang="en-US" sz="1356" dirty="0"/>
          </a:p>
        </p:txBody>
      </p:sp>
    </p:spTree>
  </p:cSld>
  <p:clrMapOvr>
    <a:masterClrMapping/>
  </p:clrMapOvr>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订单状态机：15 个状态如何自动流转</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状态机不是技术细节，而是运营效率和风险控制的骨架</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23</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完整状态</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225" dirty="0">
                <a:solidFill>
                  <a:srgbClr val="18322F"/>
                </a:solidFill>
                <a:latin typeface="Heiti SC" pitchFamily="34" charset="0"/>
                <a:ea typeface="Heiti SC" pitchFamily="34" charset="-122"/>
                <a:cs typeface="Heiti SC" pitchFamily="34" charset="-120"/>
              </a:rPr>
              <a:t>new_lead → contacted → assessed → paid → ih_submitted → doctor_review → prescribed → pharmacy_order → dispensing → shipped → delivered → in_use → refill_reminder → refill_paid → cancelled</a:t>
            </a:r>
            <a:endParaRPr lang="en-US" sz="1225"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超时处理</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30 分钟未联系自动预警。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24 小时未审核自动催医师。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48 小时未发货自动升级到人工处理。</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自动动作</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状态变化同步消息、顾问待办、用户提醒、物流回写、复购触发。</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尽量不依赖人记忆推进流程。</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经营意义</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任何卡单、漏单、退款、投诉，最后都能回到状态机定位责任点。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这就是一人公司能放大的前提。</a:t>
            </a:r>
            <a:endParaRPr lang="en-US" sz="1356" dirty="0"/>
          </a:p>
        </p:txBody>
      </p:sp>
    </p:spTree>
  </p:cSld>
  <p:clrMapOvr>
    <a:masterClrMapping/>
  </p:clrMapOvr>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履约网络与服务承诺</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用户愿不愿意复购，很大程度取决于交付体验是否稳定</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24</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合作层分工</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互联网医院负责问诊开方；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药房负责配药与药品履约；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工厂/仓库负责药食同源与保健品直发；</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顺丰/京东负责末端配送。</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建议 SLA</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线索 30 分钟内首次联系。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处方审核 24 小时内完成。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非处方订单 24 小时内出库。</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用户 48-72 小时内收到货。</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包装要求</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隐私品类使用保密包装。</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配送内容、批次、有效期、客服二维码必须完整。</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用户收到即知道下一步做什么。</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异常处理</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缺货、晚发、拒收、破损、地址错误必须有标准分流。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不能让用户在客服里重复讲三次问题。</a:t>
            </a:r>
            <a:endParaRPr lang="en-US" sz="1356" dirty="0"/>
          </a:p>
        </p:txBody>
      </p:sp>
    </p:spTree>
  </p:cSld>
  <p:clrMapOvr>
    <a:masterClrMapping/>
  </p:clrMapOvr>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随访、复购与裂变</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真正拉开差距的不是首单成交，而是 28 天内有没有形成第二次动作</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运营</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25</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Day 0-7</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确认签收、解释用法、建立打卡关系。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目标：降低首次流失和误用风险。</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Day 8-20</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每周一次效果反馈。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收集体重、睡眠、食欲、精力、排便等关键变量。</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目标：建立“有人在盯我”的感知。</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Day 21-28</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系统自动提醒 + 顾问跟进效果 + 给出下周期建议。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处方类进入续方，非处方类进入续购或组合升级。</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裂变梯度</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邀请 1 人送券；</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邀请 3 人送月度产品；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邀请 10 人成为健康大使；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邀请 50 人成为区域合伙人。</a:t>
            </a:r>
            <a:endParaRPr lang="en-US" sz="1356" dirty="0"/>
          </a:p>
        </p:txBody>
      </p:sp>
    </p:spTree>
  </p:cSld>
  <p:clrMapOvr>
    <a:masterClrMapping/>
  </p:clrMapOvr>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公域增长总策略</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公域负责信任预热与线索获取，私域负责成交与复购</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26</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内容定位</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公开讲健康认知、体质管理、日常调理、营养补充、生活方式。</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避免直接讲药品效果和治疗承诺。</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预算逻辑</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预算优先给可验证 ROI 的小红书、抖音、微信生态。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冷启动阶段宁可内容重于投放，也不盲目烧广告。</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转化路径</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内容吸引兴趣 → 私信/评论引导 → H5 评估 → 企微沉淀 → 顾问成交。</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任何一步断开都会导致 CAC 虚高。</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优化方法</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每周只优化 3 件事：点击率、留资率、评估完成率。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先把前端漏斗跑顺，再扩预算。</a:t>
            </a:r>
            <a:endParaRPr lang="en-US" sz="1356" dirty="0"/>
          </a:p>
        </p:txBody>
      </p:sp>
    </p:spTree>
  </p:cSld>
  <p:clrMapOvr>
    <a:masterClrMapping/>
  </p:clrMapOvr>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微信生态打法</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微信是最重要的沉淀场，不只是一个流量入口</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27</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承接结构</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公众号做内容与关键词应答。</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企微做一对一成交和随访。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H5 做评估和支付。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未来小程序负责更完整的服务体验。</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入口设计</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所有内容都应有明确 CTA：领评估、领方案、领清单、加顾问、进社群。</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不能让阅读结束后没有动作。</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菜单建议</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健康评估、我的订单、咨询顾问三个一级入口足够。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复杂菜单会稀释转化注意力。</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经营角色</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微信是用户资产库，也是复购发动机。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要把渠道行为沉淀到可复用的关系链上，而不是只追单次阅读量。</a:t>
            </a:r>
            <a:endParaRPr lang="en-US" sz="1356" dirty="0"/>
          </a:p>
        </p:txBody>
      </p:sp>
    </p:spTree>
  </p:cSld>
  <p:clrMapOvr>
    <a:masterClrMapping/>
  </p:clrMapOvr>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企业微信 / 社群 SOP</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私域不是“多聊天”，而是用标准化陪伴换高复购率</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28</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顾问一对一节奏</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277" dirty="0">
                <a:solidFill>
                  <a:srgbClr val="18322F"/>
                </a:solidFill>
                <a:latin typeface="Heiti SC" pitchFamily="34" charset="0"/>
                <a:ea typeface="Heiti SC" pitchFamily="34" charset="-122"/>
                <a:cs typeface="Heiti SC" pitchFamily="34" charset="-120"/>
              </a:rPr>
              <a:t>Day 0 欢迎与评估解释。</a:t>
            </a:r>
            <a:endParaRPr lang="en-US" sz="1277" dirty="0"/>
          </a:p>
          <a:p>
            <a:pPr indent="0" marL="0">
              <a:buNone/>
            </a:pPr>
            <a:r>
              <a:rPr lang="en-US" sz="1277" dirty="0">
                <a:solidFill>
                  <a:srgbClr val="18322F"/>
                </a:solidFill>
                <a:latin typeface="Heiti SC" pitchFamily="34" charset="0"/>
                <a:ea typeface="Heiti SC" pitchFamily="34" charset="-122"/>
                <a:cs typeface="Heiti SC" pitchFamily="34" charset="-120"/>
              </a:rPr>
              <a:t>Day 1-3 指导使用。</a:t>
            </a:r>
            <a:endParaRPr lang="en-US" sz="1277" dirty="0"/>
          </a:p>
          <a:p>
            <a:pPr indent="0" marL="0">
              <a:buNone/>
            </a:pPr>
            <a:r>
              <a:rPr lang="en-US" sz="1277" dirty="0">
                <a:solidFill>
                  <a:srgbClr val="18322F"/>
                </a:solidFill>
                <a:latin typeface="Heiti SC" pitchFamily="34" charset="0"/>
                <a:ea typeface="Heiti SC" pitchFamily="34" charset="-122"/>
                <a:cs typeface="Heiti SC" pitchFamily="34" charset="-120"/>
              </a:rPr>
              <a:t>Day 7 第一次反馈。</a:t>
            </a:r>
            <a:endParaRPr lang="en-US" sz="1277" dirty="0"/>
          </a:p>
          <a:p>
            <a:pPr indent="0" marL="0">
              <a:buNone/>
            </a:pPr>
            <a:r>
              <a:rPr lang="en-US" sz="1277" dirty="0">
                <a:solidFill>
                  <a:srgbClr val="18322F"/>
                </a:solidFill>
                <a:latin typeface="Heiti SC" pitchFamily="34" charset="0"/>
                <a:ea typeface="Heiti SC" pitchFamily="34" charset="-122"/>
                <a:cs typeface="Heiti SC" pitchFamily="34" charset="-120"/>
              </a:rPr>
              <a:t>Day 14 复盘感受。</a:t>
            </a:r>
            <a:endParaRPr lang="en-US" sz="1277" dirty="0"/>
          </a:p>
          <a:p>
            <a:pPr indent="0" marL="0">
              <a:buNone/>
            </a:pPr>
            <a:r>
              <a:rPr lang="en-US" sz="1277" dirty="0">
                <a:solidFill>
                  <a:srgbClr val="18322F"/>
                </a:solidFill>
                <a:latin typeface="Heiti SC" pitchFamily="34" charset="0"/>
                <a:ea typeface="Heiti SC" pitchFamily="34" charset="-122"/>
                <a:cs typeface="Heiti SC" pitchFamily="34" charset="-120"/>
              </a:rPr>
              <a:t>Day 21 提前铺垫续费。</a:t>
            </a:r>
            <a:endParaRPr lang="en-US" sz="1277"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社群运营动作</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每日早报：一个知识点。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每周直播：医师答疑或专题讲解。</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每月活动：试用、打卡、晒单、节气主题。</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群内内容结构</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知识 40%，用户故事 20%，活动 20%，产品教育 20%。</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比例失衡就会变成纯广告群。</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关键指标</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加粉通过率、首条回复率、7 日留存、复购率、群内活跃率、转介绍率。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不看这些，私域会很快失控。</a:t>
            </a:r>
            <a:endParaRPr lang="en-US" sz="1356" dirty="0"/>
          </a:p>
        </p:txBody>
      </p:sp>
    </p:spTree>
  </p:cSld>
  <p:clrMapOvr>
    <a:masterClrMapping/>
  </p:clrMapOvr>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小红书 SOP</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小红书负责建立需求认知和生活方式场景，不负责做硬转化</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29</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账号矩阵</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1 个官方号 + 3 个人设号（减重 / 养生 / 医生科普）+ 10 个素人号。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矩阵的目的是覆盖多种表达方式。</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内容节奏</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早 8 点养生知识；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中 12 点案例或场景产品；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晚 8 点互动科普。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维持固定节奏比追爆款更重要。</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爆文公式</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标题 = 数字 + 痛点 + 方案。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封面 = 对比图、成分图、节气图。</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正文 = 故事 + 干货 + CTA。</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转化动作</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评论区引导“测一测”“领清单”。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私信引导到企微或 H5。</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所有话术都要避开处方药表达。</a:t>
            </a:r>
            <a:endParaRPr lang="en-US" sz="1356" dirty="0"/>
          </a:p>
        </p:txBody>
      </p:sp>
    </p:spTree>
  </p:cSld>
  <p:clrMapOvr>
    <a:masterClrMapping/>
  </p:clrMapOvr>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抖音 SOP</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抖音适合建立广谱认知与短周期放量，但要控制内容合规风险</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30</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账号配置</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1 个官方号 + 1 个达人/人设号。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官方号负责可信背书，人设号负责钩子与传播。</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视频公式</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前 3 秒钩子。</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中间痛点 + 方案 + 数据。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结尾 CTA：评论区扣 1、测评链接、进群领清单。</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直播策略</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先做轻直播：答疑、讲节气、讲产品组合。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不急于做硬卖货直播。</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先验证互动，再追求 GMV。</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风险控制</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短视频不要直接展示处方药、注射器、前后对比治疗承诺。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全部改写成健康管理与生活方式表达。</a:t>
            </a:r>
            <a:endParaRPr lang="en-US" sz="1356" dirty="0"/>
          </a:p>
        </p:txBody>
      </p:sp>
    </p:spTree>
  </p:cSld>
  <p:clrMapOvr>
    <a:masterClrMapping/>
  </p:clrMapOvr>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公众号与内容日历</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公众号是解释复杂问题、沉淀信任、串联微信生态的深度阵地</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31</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自动回复</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关注后发欢迎语 + AI 评估链接。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关键词回复产品介绍、体质测试、客服引导。</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其他问题统一导向企微。</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栏目结构</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节气养生、轻体管理、女性调养、护肝睡眠、营养补充、用户故事。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栏目固定，用户预期才会稳定。</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内容日历</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周二发认知科普。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周四发案例拆解。</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周六发清单式内容。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大促和节气单独做专题页。</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经营目的</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公众号的作用不是阅读量本身，而是让用户完成“看懂问题-愿意加顾问-愿意长期跟”的心理转变。</a:t>
            </a:r>
            <a:endParaRPr lang="en-US" sz="1356" dirty="0"/>
          </a:p>
        </p:txBody>
      </p:sp>
    </p:spTree>
  </p:cSld>
  <p:clrMapOvr>
    <a:masterClrMapping/>
  </p:clrMapOvr>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内容生产工厂</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一人公司不能靠灵感写内容，必须靠模板、素材库和 AI 流程</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增长</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32</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内容来源</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用户提问、客服高频问题、节气节点、品类卖点、真实案例、竞品高赞内容。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选题必须从真实需求出发。</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生产流程</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选题池 → Prompt 模板 → AI 初稿 → 合规过滤 → 视觉封面 → 发布 → 数据回流。</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每一步都可自动化。</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基础素材库</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标题模板、封面模板、成分素材、节气图、体质卡、FAQ、直播脚本、评论区回复模板。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素材重复使用才能提效。</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周产能目标</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小红书 20-30 条，抖音 7-10 条，公众号 2-3 篇，社群话题 7 组。</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先追稳定产能，再追单篇爆发。</a:t>
            </a:r>
            <a:endParaRPr lang="en-US" sz="1356" dirty="0"/>
          </a:p>
        </p:txBody>
      </p:sp>
    </p:spTree>
  </p:cSld>
  <p:clrMapOvr>
    <a:masterClrMapping/>
  </p:clrMapOvr>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AI 四层架构</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OPC 的本质不是人少，而是把重复性认知工作交给 AI 层</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系统</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33</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第一层：Agent 层</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内容生成 Agent、客服 Agent、数据分析 Agent、运营 Agent。</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7x24 自动运转，做重复性、高频、标准化任务。</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第二层：工具层</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评估系统、管理后台、业务流引擎、内容引擎、数据文件。</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工具层负责把抽象流程固化成操作界面和 API。</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第三层：合作层</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互联网医院、药房、食品工厂、物流、支付。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所有持牌能力和重履约能力全部放在这一层。</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第四层：人层</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创始人只做决策、谈判、关键节点把关、投诉升级和 AI 监督。</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人不再做机械执行。</a:t>
            </a:r>
            <a:endParaRPr lang="en-US" sz="1356" dirty="0"/>
          </a:p>
        </p:txBody>
      </p:sp>
    </p:spTree>
  </p:cSld>
  <p:clrMapOvr>
    <a:masterClrMapping/>
  </p:clrMapOvr>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现有系统资产与缺口</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先从现有仓库能力出发，不假装自己已经有完整平台</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系统</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34</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已具备</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主站与评估能力：app.py。</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管理后台：admin.py。</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模板页：评估、流程、后台界面。</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内容引擎：批量生成与追踪。</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已沉淀数据</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users、crm_users、leads、orders 等 JSON 数据文件。</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这意味着已具备最小 CRM 和订单资产结构。</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核心缺口</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互联网医院 / 药房 / 支付 API 实接。</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订阅管理中心。</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企微 SCRM 打通。</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体质辨识模块产品化。</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优先修补顺序</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先补支付与订单闭环。</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再补企微承接和复购提醒。</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最后补更复杂的伙伴 API 和小程序端。</a:t>
            </a:r>
            <a:endParaRPr lang="en-US" sz="1356" dirty="0"/>
          </a:p>
        </p:txBody>
      </p:sp>
    </p:spTree>
  </p:cSld>
  <p:clrMapOvr>
    <a:masterClrMapping/>
  </p:clrMapOvr>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AI 自动化清单</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让系统替代部门，而不是只替代几个零散动作</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系统</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35</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内容 Agent</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批量生成小红书、抖音、公众号、社群文案。</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输入：选题与模板；输出：多平台内容包。</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客服 Agent</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处理 FAQ、意向判断、禁忌提醒、分流到人工或顾问。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目标：把人工只留给高价值对话。</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运营 Agent</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发送跟进提醒、生成待办、触发续费、跟踪超时状态、推送活动。</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目标：把 Day 0-28 节奏固定住。</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数据 Agent</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每日汇总线索、成交、收入、复购、渠道 ROI。</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自动生成日报与预警，不靠手工导表。</a:t>
            </a:r>
            <a:endParaRPr lang="en-US" sz="1356" dirty="0"/>
          </a:p>
        </p:txBody>
      </p:sp>
    </p:spTree>
  </p:cSld>
  <p:clrMapOvr>
    <a:masterClrMapping/>
  </p:clrMapOvr>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OPC 组织模型</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创始人不应亲自做每件事，只应亲自决定关键事情</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组织</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36</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创始人必须亲自做</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战略取舍、关键合作谈判、合规边界、核心投诉、视频出镜、融资与现金流决策。</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AI 默认接手</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内容初稿、客服常见问题、日报周报、素材整理、任务提醒、活动模板、数据预警。</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合作方接手</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问诊开方、药品履约、工厂生产、仓储物流、部分法务与会计流程。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避免把低杠杆动作做在内部。</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组织原则</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凡是可 SOP 化的动作，就不靠老板记忆。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凡是需要持牌或重履约的动作，就不自己做。</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凡是高风险动作，必须有审批链。</a:t>
            </a:r>
            <a:endParaRPr lang="en-US" sz="1356" dirty="0"/>
          </a:p>
        </p:txBody>
      </p:sp>
    </p:spTree>
  </p:cSld>
  <p:clrMapOvr>
    <a:masterClrMapping/>
  </p:clrMapOvr>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阶段人力规划</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人不是越少越好，而是只在出现明确瓶颈时增加</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组织</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37</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 1：1 人 + AI</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创始人兼产品、增长、BD。</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AI 承担内容、客服和报表。</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目标是验证模型，而不是追求完美组织。</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 2：2-3 人</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补一个私域成交 / 运营执行位，再补一个内容/剪辑位。</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条件：月度线索量和订单量已稳定增长。</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阶段 3：4-5 人</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补供应链/合规协同、数据运营、内容负责人。</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条件：渠道扩张、多品类并行、合作方显著增多。</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招聘触发器</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当某项任务每周重复超过 8 小时且 AI/外包无法稳定完成时，才考虑内招。</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先算 ROI，再决定招人。</a:t>
            </a:r>
            <a:endParaRPr lang="en-US" sz="1356" dirty="0"/>
          </a:p>
        </p:txBody>
      </p:sp>
    </p:spTree>
  </p:cSld>
  <p:clrMapOvr>
    <a:masterClrMapping/>
  </p:clrMapOvr>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合作伙伴地图与准入标准</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合作方决定平台是否能长期稳定运转，不能只看价格</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组织</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38</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核心伙伴类型</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互联网医院、合规药房、食品工厂、保健品企业、物流、支付、内容/KOC 机构。</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每类都要至少有备选。</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准入标准</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资质齐全、SLA 明确、接口或对接流程清楚、结算规则透明、愿意配合售后与数据回写。</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合同要点</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责任边界、时效承诺、数据处理、价格保护、退换货流程、异常赔付、终止条款。</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这些都要在开始前写清楚。</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管理方式</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每月一次伙伴复盘：发货时效、投诉率、缺货率、结算误差、配合度。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不复盘，合作方会慢慢拖垮体验。</a:t>
            </a:r>
            <a:endParaRPr lang="en-US" sz="1356" dirty="0"/>
          </a:p>
        </p:txBody>
      </p:sp>
    </p:spTree>
  </p:cSld>
  <p:clrMapOvr>
    <a:masterClrMapping/>
  </p:clrMapOvr>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产品接入标准化 SOP</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每增加一个 SKU，都必须走同一条准入流程</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组织</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39</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Step 1 合规审核</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判断是否需处方、是否需广告审查、是否涉及特殊资质。</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不合规的品类，价格再高也不上。</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Step 2 供应链搭建</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找供应商、打样、确认批次、签合同、定价格、测交付周期。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同时准备备选供应方。</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Step 3 系统接入</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录入产品、定问卷、定规则、定物流、定售后、定活动标签。</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要让系统知道这件商品怎么卖。</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Step 4 内容与上线</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准备首批 50 条小红书、20 条抖音、5 篇公众号、顾问话术和 FAQ。</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先内测，再正式上线。</a:t>
            </a:r>
            <a:endParaRPr lang="en-US" sz="1356" dirty="0"/>
          </a:p>
        </p:txBody>
      </p:sp>
    </p:spTree>
  </p:cSld>
  <p:clrMapOvr>
    <a:masterClrMapping/>
  </p:clrMapOvr>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资金流与财务流程</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现金流是这套模式能不能活下来的第一约束</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财务</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40</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收款链路</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用户付款 → 微信 / 支付宝商户号 → 订单确认 → 按合同周期与合作方结算。</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平台尽量保持预收后付。</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结算逻辑</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处方类按医院与药房规则分账；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非处方类按采购与发货周期结算。</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建议保留 1-2 周安全垫。</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退款流程</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明确支付前、发货前、发货后、已使用不同阶段的退款规则。</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不要把退款标准交给客服临场判断。</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经营判断</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冷启动时最重要的不是利润率漂亮，而是现金回笼快、坏账少、应付周期稳定。</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正现金流优先于规模幻想。</a:t>
            </a:r>
            <a:endParaRPr lang="en-US" sz="1356" dirty="0"/>
          </a:p>
        </p:txBody>
      </p:sp>
    </p:spTree>
  </p:cSld>
  <p:clrMapOvr>
    <a:masterClrMapping/>
  </p:clrMapOvr>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单位经济模型</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每个圈层都要清楚地知道收入、成本和复购贡献</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财务</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41</a:t>
            </a:r>
            <a:endParaRPr lang="en-US" sz="950" dirty="0"/>
          </a:p>
        </p:txBody>
      </p:sp>
      <p:sp>
        <p:nvSpPr>
          <p:cNvPr id="10" name="Shape 8"/>
          <p:cNvSpPr/>
          <p:nvPr/>
        </p:nvSpPr>
        <p:spPr>
          <a:xfrm>
            <a:off x="530352" y="1133856"/>
            <a:ext cx="3557016" cy="5074920"/>
          </a:xfrm>
          <a:prstGeom prst="roundRect">
            <a:avLst>
              <a:gd name="adj" fmla="val 2057"/>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处方药单</a:t>
            </a:r>
            <a:endParaRPr lang="en-US" sz="1550" dirty="0"/>
          </a:p>
        </p:txBody>
      </p:sp>
      <p:sp>
        <p:nvSpPr>
          <p:cNvPr id="13" name="Text 11"/>
          <p:cNvSpPr/>
          <p:nvPr/>
        </p:nvSpPr>
        <p:spPr>
          <a:xfrm>
            <a:off x="694944" y="1664208"/>
            <a:ext cx="3227832" cy="4361688"/>
          </a:xfrm>
          <a:prstGeom prst="rect">
            <a:avLst/>
          </a:prstGeom>
          <a:noFill/>
          <a:ln/>
        </p:spPr>
        <p:txBody>
          <a:bodyPr wrap="square" lIns="0" tIns="0" rIns="0" bIns="0" rtlCol="0" anchor="t">
            <a:normAutofit/>
          </a:bodyPr>
          <a:lstStyle/>
          <a:p>
            <a:pPr indent="0" marL="0">
              <a:buNone/>
            </a:pPr>
            <a:r>
              <a:rPr lang="en-US" sz="1216" dirty="0">
                <a:solidFill>
                  <a:srgbClr val="18322F"/>
                </a:solidFill>
                <a:latin typeface="Heiti SC" pitchFamily="34" charset="0"/>
                <a:ea typeface="Heiti SC" pitchFamily="34" charset="-122"/>
                <a:cs typeface="Heiti SC" pitchFamily="34" charset="-120"/>
              </a:rPr>
              <a:t>收入：¥399 首月 / ¥599 续费。</a:t>
            </a:r>
            <a:endParaRPr lang="en-US" sz="1216" dirty="0"/>
          </a:p>
          <a:p>
            <a:pPr indent="0" marL="0">
              <a:buNone/>
            </a:pPr>
            <a:r>
              <a:rPr lang="en-US" sz="1216" dirty="0">
                <a:solidFill>
                  <a:srgbClr val="18322F"/>
                </a:solidFill>
                <a:latin typeface="Heiti SC" pitchFamily="34" charset="0"/>
                <a:ea typeface="Heiti SC" pitchFamily="34" charset="-122"/>
                <a:cs typeface="Heiti SC" pitchFamily="34" charset="-120"/>
              </a:rPr>
              <a:t>成本：药品 180 + 医院 40 + 物流 15 + CAC 80 + 运营 30。</a:t>
            </a:r>
            <a:endParaRPr lang="en-US" sz="1216" dirty="0"/>
          </a:p>
          <a:p>
            <a:pPr indent="0" marL="0">
              <a:buNone/>
            </a:pPr>
            <a:r>
              <a:rPr lang="en-US" sz="1216" dirty="0">
                <a:solidFill>
                  <a:srgbClr val="18322F"/>
                </a:solidFill>
                <a:latin typeface="Heiti SC" pitchFamily="34" charset="0"/>
                <a:ea typeface="Heiti SC" pitchFamily="34" charset="-122"/>
                <a:cs typeface="Heiti SC" pitchFamily="34" charset="-120"/>
              </a:rPr>
              <a:t>首月毛利 13.5%，续费毛利 42.4%。</a:t>
            </a:r>
            <a:endParaRPr lang="en-US" sz="1216" dirty="0"/>
          </a:p>
        </p:txBody>
      </p:sp>
      <p:sp>
        <p:nvSpPr>
          <p:cNvPr id="14" name="Shape 12"/>
          <p:cNvSpPr/>
          <p:nvPr/>
        </p:nvSpPr>
        <p:spPr>
          <a:xfrm>
            <a:off x="4306824" y="1133856"/>
            <a:ext cx="3557016" cy="5074920"/>
          </a:xfrm>
          <a:prstGeom prst="roundRect">
            <a:avLst>
              <a:gd name="adj" fmla="val 2057"/>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6" name="Text 14"/>
          <p:cNvSpPr/>
          <p:nvPr/>
        </p:nvSpPr>
        <p:spPr>
          <a:xfrm>
            <a:off x="4471416"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药食同源单</a:t>
            </a:r>
            <a:endParaRPr lang="en-US" sz="1550" dirty="0"/>
          </a:p>
        </p:txBody>
      </p:sp>
      <p:sp>
        <p:nvSpPr>
          <p:cNvPr id="17" name="Text 15"/>
          <p:cNvSpPr/>
          <p:nvPr/>
        </p:nvSpPr>
        <p:spPr>
          <a:xfrm>
            <a:off x="4471416" y="1664208"/>
            <a:ext cx="3227832" cy="4361688"/>
          </a:xfrm>
          <a:prstGeom prst="rect">
            <a:avLst/>
          </a:prstGeom>
          <a:noFill/>
          <a:ln/>
        </p:spPr>
        <p:txBody>
          <a:bodyPr wrap="square" lIns="0" tIns="0" rIns="0" bIns="0" rtlCol="0" anchor="t">
            <a:normAutofit/>
          </a:bodyPr>
          <a:lstStyle/>
          <a:p>
            <a:pPr indent="0" marL="0">
              <a:buNone/>
            </a:pPr>
            <a:r>
              <a:rPr lang="en-US" sz="1235" dirty="0">
                <a:solidFill>
                  <a:srgbClr val="18322F"/>
                </a:solidFill>
                <a:latin typeface="Heiti SC" pitchFamily="34" charset="0"/>
                <a:ea typeface="Heiti SC" pitchFamily="34" charset="-122"/>
                <a:cs typeface="Heiti SC" pitchFamily="34" charset="-120"/>
              </a:rPr>
              <a:t>收入：¥168 / 月。</a:t>
            </a:r>
            <a:endParaRPr lang="en-US" sz="1235" dirty="0"/>
          </a:p>
          <a:p>
            <a:pPr indent="0" marL="0">
              <a:buNone/>
            </a:pPr>
            <a:r>
              <a:rPr lang="en-US" sz="1235" dirty="0">
                <a:solidFill>
                  <a:srgbClr val="18322F"/>
                </a:solidFill>
                <a:latin typeface="Heiti SC" pitchFamily="34" charset="0"/>
                <a:ea typeface="Heiti SC" pitchFamily="34" charset="-122"/>
                <a:cs typeface="Heiti SC" pitchFamily="34" charset="-120"/>
              </a:rPr>
              <a:t>成本：原料 35 + 包装 10 + 物流 12 + CAC 40。</a:t>
            </a:r>
            <a:endParaRPr lang="en-US" sz="1235" dirty="0"/>
          </a:p>
          <a:p>
            <a:pPr indent="0" marL="0">
              <a:buNone/>
            </a:pPr>
            <a:r>
              <a:rPr lang="en-US" sz="1235" dirty="0">
                <a:solidFill>
                  <a:srgbClr val="18322F"/>
                </a:solidFill>
                <a:latin typeface="Heiti SC" pitchFamily="34" charset="0"/>
                <a:ea typeface="Heiti SC" pitchFamily="34" charset="-122"/>
                <a:cs typeface="Heiti SC" pitchFamily="34" charset="-120"/>
              </a:rPr>
              <a:t>月毛利约 42.3%，LTV 结构更健康。</a:t>
            </a:r>
            <a:endParaRPr lang="en-US" sz="1235" dirty="0"/>
          </a:p>
        </p:txBody>
      </p:sp>
      <p:sp>
        <p:nvSpPr>
          <p:cNvPr id="18" name="Shape 16"/>
          <p:cNvSpPr/>
          <p:nvPr/>
        </p:nvSpPr>
        <p:spPr>
          <a:xfrm>
            <a:off x="8083296" y="1133856"/>
            <a:ext cx="3557016" cy="5074920"/>
          </a:xfrm>
          <a:prstGeom prst="roundRect">
            <a:avLst>
              <a:gd name="adj" fmla="val 2057"/>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0" name="Text 18"/>
          <p:cNvSpPr/>
          <p:nvPr/>
        </p:nvSpPr>
        <p:spPr>
          <a:xfrm>
            <a:off x="8247888" y="1298448"/>
            <a:ext cx="322783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保健品单</a:t>
            </a:r>
            <a:endParaRPr lang="en-US" sz="1550" dirty="0"/>
          </a:p>
        </p:txBody>
      </p:sp>
      <p:sp>
        <p:nvSpPr>
          <p:cNvPr id="21" name="Text 19"/>
          <p:cNvSpPr/>
          <p:nvPr/>
        </p:nvSpPr>
        <p:spPr>
          <a:xfrm>
            <a:off x="8247888" y="1664208"/>
            <a:ext cx="3227832" cy="4361688"/>
          </a:xfrm>
          <a:prstGeom prst="rect">
            <a:avLst/>
          </a:prstGeom>
          <a:noFill/>
          <a:ln/>
        </p:spPr>
        <p:txBody>
          <a:bodyPr wrap="square" lIns="0" tIns="0" rIns="0" bIns="0" rtlCol="0" anchor="t">
            <a:normAutofit/>
          </a:bodyPr>
          <a:lstStyle/>
          <a:p>
            <a:pPr indent="0" marL="0">
              <a:buNone/>
            </a:pPr>
            <a:r>
              <a:rPr lang="en-US" sz="1235" dirty="0">
                <a:solidFill>
                  <a:srgbClr val="18322F"/>
                </a:solidFill>
                <a:latin typeface="Heiti SC" pitchFamily="34" charset="0"/>
                <a:ea typeface="Heiti SC" pitchFamily="34" charset="-122"/>
                <a:cs typeface="Heiti SC" pitchFamily="34" charset="-120"/>
              </a:rPr>
              <a:t>收入：¥198 / 月。</a:t>
            </a:r>
            <a:endParaRPr lang="en-US" sz="1235" dirty="0"/>
          </a:p>
          <a:p>
            <a:pPr indent="0" marL="0">
              <a:buNone/>
            </a:pPr>
            <a:r>
              <a:rPr lang="en-US" sz="1235" dirty="0">
                <a:solidFill>
                  <a:srgbClr val="18322F"/>
                </a:solidFill>
                <a:latin typeface="Heiti SC" pitchFamily="34" charset="0"/>
                <a:ea typeface="Heiti SC" pitchFamily="34" charset="-122"/>
                <a:cs typeface="Heiti SC" pitchFamily="34" charset="-120"/>
              </a:rPr>
              <a:t>成本：产品 45 + 物流 12 + CAC 50。</a:t>
            </a:r>
            <a:endParaRPr lang="en-US" sz="1235" dirty="0"/>
          </a:p>
          <a:p>
            <a:pPr indent="0" marL="0">
              <a:buNone/>
            </a:pPr>
            <a:r>
              <a:rPr lang="en-US" sz="1235" dirty="0">
                <a:solidFill>
                  <a:srgbClr val="18322F"/>
                </a:solidFill>
                <a:latin typeface="Heiti SC" pitchFamily="34" charset="0"/>
                <a:ea typeface="Heiti SC" pitchFamily="34" charset="-122"/>
                <a:cs typeface="Heiti SC" pitchFamily="34" charset="-120"/>
              </a:rPr>
              <a:t>毛利约 46%，适合做组合加购和长期维护。</a:t>
            </a:r>
            <a:endParaRPr lang="en-US" sz="1235" dirty="0"/>
          </a:p>
        </p:txBody>
      </p:sp>
    </p:spTree>
  </p:cSld>
  <p:clrMapOvr>
    <a:masterClrMapping/>
  </p:clrMapOvr>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12 个月收入预测</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以下为内部测算，核心用于管理节奏，不应用来掩盖模型风险</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财务</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42</a:t>
            </a:r>
            <a:endParaRPr lang="en-US" sz="950" dirty="0"/>
          </a:p>
        </p:txBody>
      </p:sp>
      <p:sp>
        <p:nvSpPr>
          <p:cNvPr id="10" name="Shape 8"/>
          <p:cNvSpPr/>
          <p:nvPr/>
        </p:nvSpPr>
        <p:spPr>
          <a:xfrm>
            <a:off x="530352"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3557016"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M1</a:t>
            </a:r>
            <a:endParaRPr lang="en-US" sz="1550" dirty="0"/>
          </a:p>
        </p:txBody>
      </p:sp>
      <p:sp>
        <p:nvSpPr>
          <p:cNvPr id="13" name="Shape 11"/>
          <p:cNvSpPr/>
          <p:nvPr/>
        </p:nvSpPr>
        <p:spPr>
          <a:xfrm>
            <a:off x="3008376"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14" name="Text 12"/>
          <p:cNvSpPr/>
          <p:nvPr/>
        </p:nvSpPr>
        <p:spPr>
          <a:xfrm>
            <a:off x="3008376" y="1307592"/>
            <a:ext cx="868680" cy="146304"/>
          </a:xfrm>
          <a:prstGeom prst="rect">
            <a:avLst/>
          </a:prstGeom>
          <a:noFill/>
          <a:ln/>
        </p:spPr>
        <p:txBody>
          <a:bodyPr wrap="square" lIns="0" tIns="0" rIns="0" bIns="0" rtlCol="0" anchor="ctr"/>
          <a:lstStyle/>
          <a:p>
            <a:pPr algn="ctr" indent="0" marL="0">
              <a:buNone/>
            </a:pPr>
            <a:r>
              <a:rPr lang="en-US" sz="850" b="1" dirty="0">
                <a:solidFill>
                  <a:srgbClr val="2C6E68"/>
                </a:solidFill>
                <a:latin typeface="Heiti SC" pitchFamily="34" charset="0"/>
                <a:ea typeface="Heiti SC" pitchFamily="34" charset="-122"/>
                <a:cs typeface="Heiti SC" pitchFamily="34" charset="-120"/>
              </a:rPr>
              <a:t>冷启动</a:t>
            </a:r>
            <a:endParaRPr lang="en-US" sz="850" dirty="0"/>
          </a:p>
        </p:txBody>
      </p:sp>
      <p:sp>
        <p:nvSpPr>
          <p:cNvPr id="15" name="Text 13"/>
          <p:cNvSpPr/>
          <p:nvPr/>
        </p:nvSpPr>
        <p:spPr>
          <a:xfrm>
            <a:off x="694944"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100 付费用户。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月收入约 7.65 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目标是找到首条稳定链路，而不是追数字。</a:t>
            </a:r>
            <a:endParaRPr lang="en-US" sz="1356" dirty="0"/>
          </a:p>
        </p:txBody>
      </p:sp>
      <p:sp>
        <p:nvSpPr>
          <p:cNvPr id="16" name="Shape 14"/>
          <p:cNvSpPr/>
          <p:nvPr/>
        </p:nvSpPr>
        <p:spPr>
          <a:xfrm>
            <a:off x="4306824"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7" name="Shape 15"/>
          <p:cNvSpPr/>
          <p:nvPr/>
        </p:nvSpPr>
        <p:spPr>
          <a:xfrm>
            <a:off x="4306824" y="1133856"/>
            <a:ext cx="3557016" cy="109728"/>
          </a:xfrm>
          <a:prstGeom prst="rect">
            <a:avLst/>
          </a:prstGeom>
          <a:solidFill>
            <a:srgbClr val="4A8F74"/>
          </a:solidFill>
          <a:ln w="12700">
            <a:solidFill>
              <a:srgbClr val="4A8F74">
                <a:alpha val="0"/>
              </a:srgbClr>
            </a:solidFill>
            <a:prstDash val="solid"/>
          </a:ln>
        </p:spPr>
      </p:sp>
      <p:sp>
        <p:nvSpPr>
          <p:cNvPr id="18" name="Text 16"/>
          <p:cNvSpPr/>
          <p:nvPr/>
        </p:nvSpPr>
        <p:spPr>
          <a:xfrm>
            <a:off x="4471416"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M3</a:t>
            </a:r>
            <a:endParaRPr lang="en-US" sz="1550" dirty="0"/>
          </a:p>
        </p:txBody>
      </p:sp>
      <p:sp>
        <p:nvSpPr>
          <p:cNvPr id="19" name="Shape 17"/>
          <p:cNvSpPr/>
          <p:nvPr/>
        </p:nvSpPr>
        <p:spPr>
          <a:xfrm>
            <a:off x="6784848"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20" name="Text 18"/>
          <p:cNvSpPr/>
          <p:nvPr/>
        </p:nvSpPr>
        <p:spPr>
          <a:xfrm>
            <a:off x="6784848" y="1307592"/>
            <a:ext cx="868680" cy="146304"/>
          </a:xfrm>
          <a:prstGeom prst="rect">
            <a:avLst/>
          </a:prstGeom>
          <a:noFill/>
          <a:ln/>
        </p:spPr>
        <p:txBody>
          <a:bodyPr wrap="square" lIns="0" tIns="0" rIns="0" bIns="0" rtlCol="0" anchor="ctr"/>
          <a:lstStyle/>
          <a:p>
            <a:pPr algn="ctr" indent="0" marL="0">
              <a:buNone/>
            </a:pPr>
            <a:r>
              <a:rPr lang="en-US" sz="850" b="1" dirty="0">
                <a:solidFill>
                  <a:srgbClr val="4A8F74"/>
                </a:solidFill>
                <a:latin typeface="Heiti SC" pitchFamily="34" charset="0"/>
                <a:ea typeface="Heiti SC" pitchFamily="34" charset="-122"/>
                <a:cs typeface="Heiti SC" pitchFamily="34" charset="-120"/>
              </a:rPr>
              <a:t>验证</a:t>
            </a:r>
            <a:endParaRPr lang="en-US" sz="850" dirty="0"/>
          </a:p>
        </p:txBody>
      </p:sp>
      <p:sp>
        <p:nvSpPr>
          <p:cNvPr id="21" name="Text 19"/>
          <p:cNvSpPr/>
          <p:nvPr/>
        </p:nvSpPr>
        <p:spPr>
          <a:xfrm>
            <a:off x="4471416"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500 付费用户。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月收入约 38.25 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应开始观察哪个品类先跑出来。</a:t>
            </a:r>
            <a:endParaRPr lang="en-US" sz="1356" dirty="0"/>
          </a:p>
        </p:txBody>
      </p:sp>
      <p:sp>
        <p:nvSpPr>
          <p:cNvPr id="22" name="Shape 20"/>
          <p:cNvSpPr/>
          <p:nvPr/>
        </p:nvSpPr>
        <p:spPr>
          <a:xfrm>
            <a:off x="8083296" y="1133856"/>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8083296" y="1133856"/>
            <a:ext cx="3557016" cy="109728"/>
          </a:xfrm>
          <a:prstGeom prst="rect">
            <a:avLst/>
          </a:prstGeom>
          <a:solidFill>
            <a:srgbClr val="B3883B"/>
          </a:solidFill>
          <a:ln w="12700">
            <a:solidFill>
              <a:srgbClr val="B3883B">
                <a:alpha val="0"/>
              </a:srgbClr>
            </a:solidFill>
            <a:prstDash val="solid"/>
          </a:ln>
        </p:spPr>
      </p:sp>
      <p:sp>
        <p:nvSpPr>
          <p:cNvPr id="24" name="Text 22"/>
          <p:cNvSpPr/>
          <p:nvPr/>
        </p:nvSpPr>
        <p:spPr>
          <a:xfrm>
            <a:off x="8247888" y="1298448"/>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M6</a:t>
            </a:r>
            <a:endParaRPr lang="en-US" sz="1550" dirty="0"/>
          </a:p>
        </p:txBody>
      </p:sp>
      <p:sp>
        <p:nvSpPr>
          <p:cNvPr id="25" name="Shape 23"/>
          <p:cNvSpPr/>
          <p:nvPr/>
        </p:nvSpPr>
        <p:spPr>
          <a:xfrm>
            <a:off x="10561320" y="1280160"/>
            <a:ext cx="868680" cy="219456"/>
          </a:xfrm>
          <a:prstGeom prst="roundRect">
            <a:avLst>
              <a:gd name="adj" fmla="val 16667"/>
            </a:avLst>
          </a:prstGeom>
          <a:solidFill>
            <a:srgbClr val="F4F0E7"/>
          </a:solidFill>
          <a:ln w="12700">
            <a:solidFill>
              <a:srgbClr val="E6E1D8">
                <a:alpha val="0"/>
              </a:srgbClr>
            </a:solidFill>
            <a:prstDash val="solid"/>
          </a:ln>
        </p:spPr>
      </p:sp>
      <p:sp>
        <p:nvSpPr>
          <p:cNvPr id="26" name="Text 24"/>
          <p:cNvSpPr/>
          <p:nvPr/>
        </p:nvSpPr>
        <p:spPr>
          <a:xfrm>
            <a:off x="10561320" y="1307592"/>
            <a:ext cx="868680" cy="146304"/>
          </a:xfrm>
          <a:prstGeom prst="rect">
            <a:avLst/>
          </a:prstGeom>
          <a:noFill/>
          <a:ln/>
        </p:spPr>
        <p:txBody>
          <a:bodyPr wrap="square" lIns="0" tIns="0" rIns="0" bIns="0" rtlCol="0" anchor="ctr"/>
          <a:lstStyle/>
          <a:p>
            <a:pPr algn="ctr" indent="0" marL="0">
              <a:buNone/>
            </a:pPr>
            <a:r>
              <a:rPr lang="en-US" sz="850" b="1" dirty="0">
                <a:solidFill>
                  <a:srgbClr val="B3883B"/>
                </a:solidFill>
                <a:latin typeface="Heiti SC" pitchFamily="34" charset="0"/>
                <a:ea typeface="Heiti SC" pitchFamily="34" charset="-122"/>
                <a:cs typeface="Heiti SC" pitchFamily="34" charset="-120"/>
              </a:rPr>
              <a:t>复制</a:t>
            </a:r>
            <a:endParaRPr lang="en-US" sz="850" dirty="0"/>
          </a:p>
        </p:txBody>
      </p:sp>
      <p:sp>
        <p:nvSpPr>
          <p:cNvPr id="27" name="Text 25"/>
          <p:cNvSpPr/>
          <p:nvPr/>
        </p:nvSpPr>
        <p:spPr>
          <a:xfrm>
            <a:off x="8247888" y="1664208"/>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2,000 付费用户。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月收入约 153 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必须形成稳定复购机制。</a:t>
            </a:r>
            <a:endParaRPr lang="en-US" sz="1356" dirty="0"/>
          </a:p>
        </p:txBody>
      </p:sp>
      <p:sp>
        <p:nvSpPr>
          <p:cNvPr id="28" name="Shape 26"/>
          <p:cNvSpPr/>
          <p:nvPr/>
        </p:nvSpPr>
        <p:spPr>
          <a:xfrm>
            <a:off x="530352"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9" name="Shape 27"/>
          <p:cNvSpPr/>
          <p:nvPr/>
        </p:nvSpPr>
        <p:spPr>
          <a:xfrm>
            <a:off x="530352" y="3781044"/>
            <a:ext cx="3557016" cy="109728"/>
          </a:xfrm>
          <a:prstGeom prst="rect">
            <a:avLst/>
          </a:prstGeom>
          <a:solidFill>
            <a:srgbClr val="5078A5"/>
          </a:solidFill>
          <a:ln w="12700">
            <a:solidFill>
              <a:srgbClr val="5078A5">
                <a:alpha val="0"/>
              </a:srgbClr>
            </a:solidFill>
            <a:prstDash val="solid"/>
          </a:ln>
        </p:spPr>
      </p:sp>
      <p:sp>
        <p:nvSpPr>
          <p:cNvPr id="30" name="Text 28"/>
          <p:cNvSpPr/>
          <p:nvPr/>
        </p:nvSpPr>
        <p:spPr>
          <a:xfrm>
            <a:off x="694944" y="3945636"/>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M9</a:t>
            </a:r>
            <a:endParaRPr lang="en-US" sz="1550" dirty="0"/>
          </a:p>
        </p:txBody>
      </p:sp>
      <p:sp>
        <p:nvSpPr>
          <p:cNvPr id="31" name="Shape 29"/>
          <p:cNvSpPr/>
          <p:nvPr/>
        </p:nvSpPr>
        <p:spPr>
          <a:xfrm>
            <a:off x="3008376"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32" name="Text 30"/>
          <p:cNvSpPr/>
          <p:nvPr/>
        </p:nvSpPr>
        <p:spPr>
          <a:xfrm>
            <a:off x="3008376" y="3954780"/>
            <a:ext cx="868680" cy="146304"/>
          </a:xfrm>
          <a:prstGeom prst="rect">
            <a:avLst/>
          </a:prstGeom>
          <a:noFill/>
          <a:ln/>
        </p:spPr>
        <p:txBody>
          <a:bodyPr wrap="square" lIns="0" tIns="0" rIns="0" bIns="0" rtlCol="0" anchor="ctr"/>
          <a:lstStyle/>
          <a:p>
            <a:pPr algn="ctr" indent="0" marL="0">
              <a:buNone/>
            </a:pPr>
            <a:r>
              <a:rPr lang="en-US" sz="850" b="1" dirty="0">
                <a:solidFill>
                  <a:srgbClr val="5078A5"/>
                </a:solidFill>
                <a:latin typeface="Heiti SC" pitchFamily="34" charset="0"/>
                <a:ea typeface="Heiti SC" pitchFamily="34" charset="-122"/>
                <a:cs typeface="Heiti SC" pitchFamily="34" charset="-120"/>
              </a:rPr>
              <a:t>放大</a:t>
            </a:r>
            <a:endParaRPr lang="en-US" sz="850" dirty="0"/>
          </a:p>
        </p:txBody>
      </p:sp>
      <p:sp>
        <p:nvSpPr>
          <p:cNvPr id="33" name="Text 31"/>
          <p:cNvSpPr/>
          <p:nvPr/>
        </p:nvSpPr>
        <p:spPr>
          <a:xfrm>
            <a:off x="694944"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5,000 付费用户。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月收入约 382.5 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组织要切换为系统驱动。</a:t>
            </a:r>
            <a:endParaRPr lang="en-US" sz="1356" dirty="0"/>
          </a:p>
        </p:txBody>
      </p:sp>
      <p:sp>
        <p:nvSpPr>
          <p:cNvPr id="34" name="Shape 32"/>
          <p:cNvSpPr/>
          <p:nvPr/>
        </p:nvSpPr>
        <p:spPr>
          <a:xfrm>
            <a:off x="4306824"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35" name="Shape 33"/>
          <p:cNvSpPr/>
          <p:nvPr/>
        </p:nvSpPr>
        <p:spPr>
          <a:xfrm>
            <a:off x="4306824" y="3781044"/>
            <a:ext cx="3557016" cy="109728"/>
          </a:xfrm>
          <a:prstGeom prst="rect">
            <a:avLst/>
          </a:prstGeom>
          <a:solidFill>
            <a:srgbClr val="B65C49"/>
          </a:solidFill>
          <a:ln w="12700">
            <a:solidFill>
              <a:srgbClr val="B65C49">
                <a:alpha val="0"/>
              </a:srgbClr>
            </a:solidFill>
            <a:prstDash val="solid"/>
          </a:ln>
        </p:spPr>
      </p:sp>
      <p:sp>
        <p:nvSpPr>
          <p:cNvPr id="36" name="Text 34"/>
          <p:cNvSpPr/>
          <p:nvPr/>
        </p:nvSpPr>
        <p:spPr>
          <a:xfrm>
            <a:off x="4471416" y="3945636"/>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M12</a:t>
            </a:r>
            <a:endParaRPr lang="en-US" sz="1550" dirty="0"/>
          </a:p>
        </p:txBody>
      </p:sp>
      <p:sp>
        <p:nvSpPr>
          <p:cNvPr id="37" name="Shape 35"/>
          <p:cNvSpPr/>
          <p:nvPr/>
        </p:nvSpPr>
        <p:spPr>
          <a:xfrm>
            <a:off x="6784848"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38" name="Text 36"/>
          <p:cNvSpPr/>
          <p:nvPr/>
        </p:nvSpPr>
        <p:spPr>
          <a:xfrm>
            <a:off x="6784848" y="3954780"/>
            <a:ext cx="868680" cy="146304"/>
          </a:xfrm>
          <a:prstGeom prst="rect">
            <a:avLst/>
          </a:prstGeom>
          <a:noFill/>
          <a:ln/>
        </p:spPr>
        <p:txBody>
          <a:bodyPr wrap="square" lIns="0" tIns="0" rIns="0" bIns="0" rtlCol="0" anchor="ctr"/>
          <a:lstStyle/>
          <a:p>
            <a:pPr algn="ctr" indent="0" marL="0">
              <a:buNone/>
            </a:pPr>
            <a:r>
              <a:rPr lang="en-US" sz="850" b="1" dirty="0">
                <a:solidFill>
                  <a:srgbClr val="B65C49"/>
                </a:solidFill>
                <a:latin typeface="Heiti SC" pitchFamily="34" charset="0"/>
                <a:ea typeface="Heiti SC" pitchFamily="34" charset="-122"/>
                <a:cs typeface="Heiti SC" pitchFamily="34" charset="-120"/>
              </a:rPr>
              <a:t>规模</a:t>
            </a:r>
            <a:endParaRPr lang="en-US" sz="850" dirty="0"/>
          </a:p>
        </p:txBody>
      </p:sp>
      <p:sp>
        <p:nvSpPr>
          <p:cNvPr id="39" name="Text 37"/>
          <p:cNvSpPr/>
          <p:nvPr/>
        </p:nvSpPr>
        <p:spPr>
          <a:xfrm>
            <a:off x="4471416"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10,000 付费用户。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月收入约 765 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净利率内部目标 25-30%。</a:t>
            </a:r>
            <a:endParaRPr lang="en-US" sz="1356" dirty="0"/>
          </a:p>
        </p:txBody>
      </p:sp>
      <p:sp>
        <p:nvSpPr>
          <p:cNvPr id="40" name="Shape 38"/>
          <p:cNvSpPr/>
          <p:nvPr/>
        </p:nvSpPr>
        <p:spPr>
          <a:xfrm>
            <a:off x="8083296" y="3781044"/>
            <a:ext cx="3557016"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41" name="Shape 39"/>
          <p:cNvSpPr/>
          <p:nvPr/>
        </p:nvSpPr>
        <p:spPr>
          <a:xfrm>
            <a:off x="8083296" y="3781044"/>
            <a:ext cx="3557016" cy="109728"/>
          </a:xfrm>
          <a:prstGeom prst="rect">
            <a:avLst/>
          </a:prstGeom>
          <a:solidFill>
            <a:srgbClr val="8DB4A0"/>
          </a:solidFill>
          <a:ln w="12700">
            <a:solidFill>
              <a:srgbClr val="8DB4A0">
                <a:alpha val="0"/>
              </a:srgbClr>
            </a:solidFill>
            <a:prstDash val="solid"/>
          </a:ln>
        </p:spPr>
      </p:sp>
      <p:sp>
        <p:nvSpPr>
          <p:cNvPr id="42" name="Text 40"/>
          <p:cNvSpPr/>
          <p:nvPr/>
        </p:nvSpPr>
        <p:spPr>
          <a:xfrm>
            <a:off x="8247888" y="3945636"/>
            <a:ext cx="2130552"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关键假设</a:t>
            </a:r>
            <a:endParaRPr lang="en-US" sz="1550" dirty="0"/>
          </a:p>
        </p:txBody>
      </p:sp>
      <p:sp>
        <p:nvSpPr>
          <p:cNvPr id="43" name="Shape 41"/>
          <p:cNvSpPr/>
          <p:nvPr/>
        </p:nvSpPr>
        <p:spPr>
          <a:xfrm>
            <a:off x="10561320" y="3927348"/>
            <a:ext cx="868680" cy="219456"/>
          </a:xfrm>
          <a:prstGeom prst="roundRect">
            <a:avLst>
              <a:gd name="adj" fmla="val 16667"/>
            </a:avLst>
          </a:prstGeom>
          <a:solidFill>
            <a:srgbClr val="F4F0E7"/>
          </a:solidFill>
          <a:ln w="12700">
            <a:solidFill>
              <a:srgbClr val="E6E1D8">
                <a:alpha val="0"/>
              </a:srgbClr>
            </a:solidFill>
            <a:prstDash val="solid"/>
          </a:ln>
        </p:spPr>
      </p:sp>
      <p:sp>
        <p:nvSpPr>
          <p:cNvPr id="44" name="Text 42"/>
          <p:cNvSpPr/>
          <p:nvPr/>
        </p:nvSpPr>
        <p:spPr>
          <a:xfrm>
            <a:off x="10561320" y="3954780"/>
            <a:ext cx="868680" cy="146304"/>
          </a:xfrm>
          <a:prstGeom prst="rect">
            <a:avLst/>
          </a:prstGeom>
          <a:noFill/>
          <a:ln/>
        </p:spPr>
        <p:txBody>
          <a:bodyPr wrap="square" lIns="0" tIns="0" rIns="0" bIns="0" rtlCol="0" anchor="ctr"/>
          <a:lstStyle/>
          <a:p>
            <a:pPr algn="ctr" indent="0" marL="0">
              <a:buNone/>
            </a:pPr>
            <a:r>
              <a:rPr lang="en-US" sz="850" b="1" dirty="0">
                <a:solidFill>
                  <a:srgbClr val="8DB4A0"/>
                </a:solidFill>
                <a:latin typeface="Heiti SC" pitchFamily="34" charset="0"/>
                <a:ea typeface="Heiti SC" pitchFamily="34" charset="-122"/>
                <a:cs typeface="Heiti SC" pitchFamily="34" charset="-120"/>
              </a:rPr>
              <a:t>前提</a:t>
            </a:r>
            <a:endParaRPr lang="en-US" sz="850" dirty="0"/>
          </a:p>
        </p:txBody>
      </p:sp>
      <p:sp>
        <p:nvSpPr>
          <p:cNvPr id="45" name="Text 43"/>
          <p:cNvSpPr/>
          <p:nvPr/>
        </p:nvSpPr>
        <p:spPr>
          <a:xfrm>
            <a:off x="8247888" y="4311396"/>
            <a:ext cx="3227832"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线索持续增长、支付转化成立、30 日复购成立、供应稳定、无重大合规事件。</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任一假设失效都要重算模型。</a:t>
            </a:r>
            <a:endParaRPr lang="en-US" sz="1356" dirty="0"/>
          </a:p>
        </p:txBody>
      </p:sp>
    </p:spTree>
  </p:cSld>
  <p:clrMapOvr>
    <a:masterClrMapping/>
  </p:clrMapOvr>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数据看板与核心指标</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所有争论最后都应该回到指标，而不是回到感觉</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治理</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43</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每日必看 5 指标</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新增线索数、新订单数、今日收入、线索到订单转化率、MRR。</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 5 个指标决定今天有没有跑偏。</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渠道指标</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CAC、LTV、ROI、留资率、评估完成率、加企微率、成交率。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每个渠道必须独立算账。</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产品指标</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首单占比、复购率、加购率、退款率、投诉率、库存周转。</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不拆产品看数据，会错把渠道问题当产品问题。</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服务指标</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首次响应时长、发货时长、签收率、咨询满意度、复购触达率。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运营不是只看 GMV。</a:t>
            </a:r>
            <a:endParaRPr lang="en-US" sz="1356" dirty="0"/>
          </a:p>
        </p:txBody>
      </p:sp>
    </p:spTree>
  </p:cSld>
  <p:clrMapOvr>
    <a:masterClrMapping/>
  </p:clrMapOvr>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经营节奏：日、周、月怎么开会</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没有经营节奏，再好的策略也会在琐事里失真</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治理</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44</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每日 15 分钟</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看昨天线索、成交、发货、投诉、预警。</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只处理异常，不讨论长问题。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输出当天 3 个优先事项。</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每周经营会</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复盘渠道 ROI、成交漏斗、复购、内容表现、伙伴履约、风险清单。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同时更新这份行动方针 deck。</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每月财务会</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复盘现金流、预算、利润结构、SKU 表现和应收应付。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重新排序下月投放与品类计划。</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每季度战略会</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决定是否扩渠道、扩品类、扩团队。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只有在模型跑顺后，才讨论规模化加速。</a:t>
            </a:r>
            <a:endParaRPr lang="en-US" sz="1356" dirty="0"/>
          </a:p>
        </p:txBody>
      </p:sp>
    </p:spTree>
  </p:cSld>
  <p:clrMapOvr>
    <a:masterClrMapping/>
  </p:clrMapOvr>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合规框架</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合规不是法务部门的任务，而是平台商业模式的一部分</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合规</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45</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法规底座</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互联网诊疗管理办法、药品管理法、食品安全法、广告法、个保法、反不正当竞争法。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所有动作都要能落回法规依据。</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主体结构</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公司主体做健康咨询、技术服务、食品销售等。</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持牌互联网医院负责处方。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持牌药房负责药品经营。</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宣传边界</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不说根治、最佳、唯一、国家级。</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不夸大、不暗示治疗结果、不伪造医患关系。</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公域只做可公开表述的内容。</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数据边界</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最小化采集、境内存储、分级授权、可追溯审计。</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用户数据不是拿来“多卖货”，而是拿来提高服务质量。</a:t>
            </a:r>
            <a:endParaRPr lang="en-US" sz="1356" dirty="0"/>
          </a:p>
        </p:txBody>
      </p:sp>
    </p:spTree>
  </p:cSld>
  <p:clrMapOvr>
    <a:masterClrMapping/>
  </p:clrMapOvr>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合规检查清单</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任何新动作上线前，都先走这张检查表</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合规</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46</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公司层面</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营业执照经营范围是否覆盖。</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食品经营许可证是否齐备。</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ICP/小程序/商户号是否合规配置。</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产品层面</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是否需要处方。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是否需要蓝帽子或特殊资质。</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标签、批次、说明书、供应商资质是否完整。</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营销层面</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话术是否含禁词。</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案例是否有授权。</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是否存在效果夸大、前后对比误导、处方药公开营销。</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数据与售后层面</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是否有用户授权。</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是否设定退款与投诉流程。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是否能留存沟通、支付、履约、审核记录。</a:t>
            </a:r>
            <a:endParaRPr lang="en-US" sz="1356" dirty="0"/>
          </a:p>
        </p:txBody>
      </p:sp>
    </p:spTree>
  </p:cSld>
  <p:clrMapOvr>
    <a:masterClrMapping/>
  </p:clrMapOvr>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风险矩阵</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把风险分级，才能把资源花在真正会致命的地方</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风控</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47</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致命级</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无牌行医、假药风险、严重数据泄露。</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处理原则：宁可停业务，也不能冒险上线。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必须由创始人直接把关。</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重大级</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广告违规、合作医院终止、供应中断、平台封号、集中投诉。</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处理原则：预案前置，至少保留一个备份方案。</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中等级</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内容表现波动、客服响应下滑、个别渠道 ROI 下滑、个别产品退款偏高。</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处理原则：通过数据与 SOP 快速修正。</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风险共识</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凡是可能伤害资质、现金流、口碑和核心伙伴关系的风险，都不能用短期 GMV 去换。</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这是经营底线。</a:t>
            </a:r>
            <a:endParaRPr lang="en-US" sz="1356" dirty="0"/>
          </a:p>
        </p:txBody>
      </p:sp>
    </p:spTree>
  </p:cSld>
  <p:clrMapOvr>
    <a:masterClrMapping/>
  </p:clrMapOvr>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应急手册</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最怕的不是出问题，而是出了问题没有统一动作</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风控</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48</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平台封号 / 限流</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立即停违规内容，切流量到其他平台与私域。</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复盘违规素材和标题模板。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保留备用账号矩阵。</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合作方突然中断</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启动备选互联网医院 / 供应商 / 药房。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冻结新单，优先服务已付款用户。</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对外统一口径，避免信任塌陷。</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用户集中投诉</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统一接诉窗口，核查问题批次、方案、话术和履约记录。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必要时先退费再复盘，绝不让投诉升级成舆情。</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数据与隐私事件</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立即止损、封禁权限、排查日志、通知相关方。</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形成书面复盘，更新权限与加密流程。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这类问题只能零容忍。</a:t>
            </a:r>
            <a:endParaRPr lang="en-US" sz="1356" dirty="0"/>
          </a:p>
        </p:txBody>
      </p:sp>
    </p:spTree>
  </p:cSld>
  <p:clrMapOvr>
    <a:masterClrMapping/>
  </p:clrMapOvr>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30 天启动计划</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第一个月不是把所有事情做完，而是把关键链路跑通</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执行</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49</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Week 1 产品与系统</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确认商业模型、评估流程、下单流程、后台看板。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把当前仓库能力整理成可演示、可内测版本。</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Week 2 供应链与合规</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联系 2-3 家互联网医院。</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敲定药食同源和保健品供应商。</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同步推进资质与合同模板。</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Week 3 内容与流量</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搭小红书矩阵、抖音号、公众号与企微社群。</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准备第一批内容和转化路径。</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开始小规模测试。</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Week 4 内测与上线</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邀请 100 人内测。</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修问题、补 FAQ、看数据。</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在确认履约和投诉可控后，再开始正式投放。</a:t>
            </a:r>
            <a:endParaRPr lang="en-US" sz="1356" dirty="0"/>
          </a:p>
        </p:txBody>
      </p:sp>
    </p:spTree>
  </p:cSld>
  <p:clrMapOvr>
    <a:masterClrMapping/>
  </p:clrMapOvr>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C6E68"/>
          </a:solidFill>
          <a:ln w="12700">
            <a:solidFill>
              <a:srgbClr val="2C6E68">
                <a:alpha val="0"/>
              </a:srgbClr>
            </a:solidFill>
            <a:prstDash val="solid"/>
          </a:ln>
        </p:spPr>
      </p:sp>
      <p:sp>
        <p:nvSpPr>
          <p:cNvPr id="3" name="Text 1"/>
          <p:cNvSpPr/>
          <p:nvPr/>
        </p:nvSpPr>
        <p:spPr>
          <a:xfrm>
            <a:off x="530352" y="256032"/>
            <a:ext cx="8412480" cy="411480"/>
          </a:xfrm>
          <a:prstGeom prst="rect">
            <a:avLst/>
          </a:prstGeom>
          <a:noFill/>
          <a:ln/>
        </p:spPr>
        <p:txBody>
          <a:bodyPr wrap="square" lIns="0" tIns="0" rIns="0" bIns="0" rtlCol="0" anchor="ctr"/>
          <a:lstStyle/>
          <a:p>
            <a:pPr indent="0" marL="0">
              <a:buNone/>
            </a:pPr>
            <a:r>
              <a:rPr lang="en-US" sz="2400" b="1" dirty="0">
                <a:solidFill>
                  <a:srgbClr val="18322F"/>
                </a:solidFill>
                <a:latin typeface="Heiti SC" pitchFamily="34" charset="0"/>
                <a:ea typeface="Heiti SC" pitchFamily="34" charset="-122"/>
                <a:cs typeface="Heiti SC" pitchFamily="34" charset="-120"/>
              </a:rPr>
              <a:t>未来 90 天路线与行动方针</a:t>
            </a:r>
            <a:endParaRPr lang="en-US" sz="2400" dirty="0"/>
          </a:p>
        </p:txBody>
      </p:sp>
      <p:sp>
        <p:nvSpPr>
          <p:cNvPr id="4" name="Text 2"/>
          <p:cNvSpPr/>
          <p:nvPr/>
        </p:nvSpPr>
        <p:spPr>
          <a:xfrm>
            <a:off x="530352" y="694944"/>
            <a:ext cx="8961120" cy="256032"/>
          </a:xfrm>
          <a:prstGeom prst="rect">
            <a:avLst/>
          </a:prstGeom>
          <a:noFill/>
          <a:ln/>
        </p:spPr>
        <p:txBody>
          <a:bodyPr wrap="square" lIns="0" tIns="0" rIns="0" bIns="0" rtlCol="0" anchor="ctr"/>
          <a:lstStyle/>
          <a:p>
            <a:pPr indent="0" marL="0">
              <a:buNone/>
            </a:pPr>
            <a:r>
              <a:rPr lang="en-US" sz="950" dirty="0">
                <a:solidFill>
                  <a:srgbClr val="6A7573"/>
                </a:solidFill>
                <a:latin typeface="Heiti SC" pitchFamily="34" charset="0"/>
                <a:ea typeface="Heiti SC" pitchFamily="34" charset="-122"/>
                <a:cs typeface="Heiti SC" pitchFamily="34" charset="-120"/>
              </a:rPr>
              <a:t>最后一页不是总结，而是未来 3 个月的决策标准</a:t>
            </a:r>
            <a:endParaRPr lang="en-US" sz="950" dirty="0"/>
          </a:p>
        </p:txBody>
      </p:sp>
      <p:sp>
        <p:nvSpPr>
          <p:cNvPr id="5" name="Shape 3"/>
          <p:cNvSpPr/>
          <p:nvPr/>
        </p:nvSpPr>
        <p:spPr>
          <a:xfrm>
            <a:off x="9893808" y="256032"/>
            <a:ext cx="1417320" cy="329184"/>
          </a:xfrm>
          <a:prstGeom prst="roundRect">
            <a:avLst>
              <a:gd name="adj" fmla="val 22222"/>
            </a:avLst>
          </a:prstGeom>
          <a:solidFill>
            <a:srgbClr val="DCEFE8"/>
          </a:solidFill>
          <a:ln w="12700">
            <a:solidFill>
              <a:srgbClr val="E6E1D8">
                <a:alpha val="0"/>
              </a:srgbClr>
            </a:solidFill>
            <a:prstDash val="solid"/>
          </a:ln>
        </p:spPr>
      </p:sp>
      <p:sp>
        <p:nvSpPr>
          <p:cNvPr id="6" name="Text 4"/>
          <p:cNvSpPr/>
          <p:nvPr/>
        </p:nvSpPr>
        <p:spPr>
          <a:xfrm>
            <a:off x="9893808" y="301752"/>
            <a:ext cx="1417320" cy="182880"/>
          </a:xfrm>
          <a:prstGeom prst="rect">
            <a:avLst/>
          </a:prstGeom>
          <a:noFill/>
          <a:ln/>
        </p:spPr>
        <p:txBody>
          <a:bodyPr wrap="square" lIns="0" tIns="0" rIns="0" bIns="0" rtlCol="0" anchor="ctr"/>
          <a:lstStyle/>
          <a:p>
            <a:pPr algn="ctr" indent="0" marL="0">
              <a:buNone/>
            </a:pPr>
            <a:r>
              <a:rPr lang="en-US" sz="1000" b="1" dirty="0">
                <a:solidFill>
                  <a:srgbClr val="2C6E68"/>
                </a:solidFill>
                <a:latin typeface="Heiti SC" pitchFamily="34" charset="0"/>
                <a:ea typeface="Heiti SC" pitchFamily="34" charset="-122"/>
                <a:cs typeface="Heiti SC" pitchFamily="34" charset="-120"/>
              </a:rPr>
              <a:t>执行</a:t>
            </a:r>
            <a:endParaRPr lang="en-US" sz="1000" dirty="0"/>
          </a:p>
        </p:txBody>
      </p:sp>
      <p:sp>
        <p:nvSpPr>
          <p:cNvPr id="7" name="Shape 5"/>
          <p:cNvSpPr/>
          <p:nvPr/>
        </p:nvSpPr>
        <p:spPr>
          <a:xfrm>
            <a:off x="530352" y="6473952"/>
            <a:ext cx="11109960" cy="0"/>
          </a:xfrm>
          <a:prstGeom prst="line">
            <a:avLst/>
          </a:prstGeom>
          <a:noFill/>
          <a:ln w="13970">
            <a:solidFill>
              <a:srgbClr val="E6E1D8"/>
            </a:solidFill>
            <a:prstDash val="solid"/>
          </a:ln>
        </p:spPr>
      </p:sp>
      <p:sp>
        <p:nvSpPr>
          <p:cNvPr id="8" name="Text 6"/>
          <p:cNvSpPr/>
          <p:nvPr/>
        </p:nvSpPr>
        <p:spPr>
          <a:xfrm>
            <a:off x="530352" y="6519672"/>
            <a:ext cx="8778240" cy="164592"/>
          </a:xfrm>
          <a:prstGeom prst="rect">
            <a:avLst/>
          </a:prstGeom>
          <a:noFill/>
          <a:ln/>
        </p:spPr>
        <p:txBody>
          <a:bodyPr wrap="square" lIns="0" tIns="0" rIns="0" bIns="0" rtlCol="0" anchor="ctr"/>
          <a:lstStyle/>
          <a:p>
            <a:pPr indent="0" marL="0">
              <a:buNone/>
            </a:pPr>
            <a:r>
              <a:rPr lang="en-US" sz="800" dirty="0">
                <a:solidFill>
                  <a:srgbClr val="6A7573"/>
                </a:solidFill>
                <a:latin typeface="Heiti SC" pitchFamily="34" charset="0"/>
                <a:ea typeface="Heiti SC" pitchFamily="34" charset="-122"/>
                <a:cs typeface="Heiti SC" pitchFamily="34" charset="-120"/>
              </a:rPr>
              <a:t>内部行动方针版 | 来源：MediSlim-商业方案-v1.0 / MediSlim-OPC运营手册-v1.0 / 仓库业务文档</a:t>
            </a:r>
            <a:endParaRPr lang="en-US" sz="800" dirty="0"/>
          </a:p>
        </p:txBody>
      </p:sp>
      <p:sp>
        <p:nvSpPr>
          <p:cNvPr id="9" name="Text 7"/>
          <p:cNvSpPr/>
          <p:nvPr/>
        </p:nvSpPr>
        <p:spPr>
          <a:xfrm>
            <a:off x="11082528" y="6473952"/>
            <a:ext cx="548640" cy="201168"/>
          </a:xfrm>
          <a:prstGeom prst="rect">
            <a:avLst/>
          </a:prstGeom>
          <a:noFill/>
          <a:ln/>
        </p:spPr>
        <p:txBody>
          <a:bodyPr wrap="square" lIns="0" tIns="0" rIns="0" bIns="0" rtlCol="0" anchor="ctr"/>
          <a:lstStyle/>
          <a:p>
            <a:pPr algn="r" indent="0" marL="0">
              <a:buNone/>
            </a:pPr>
            <a:r>
              <a:rPr lang="en-US" sz="950" b="1" dirty="0">
                <a:solidFill>
                  <a:srgbClr val="2C6E68"/>
                </a:solidFill>
                <a:latin typeface="Heiti SC" pitchFamily="34" charset="0"/>
                <a:ea typeface="Heiti SC" pitchFamily="34" charset="-122"/>
                <a:cs typeface="Heiti SC" pitchFamily="34" charset="-120"/>
              </a:rPr>
              <a:t>50</a:t>
            </a:r>
            <a:endParaRPr lang="en-US" sz="950" dirty="0"/>
          </a:p>
        </p:txBody>
      </p:sp>
      <p:sp>
        <p:nvSpPr>
          <p:cNvPr id="10" name="Shape 8"/>
          <p:cNvSpPr/>
          <p:nvPr/>
        </p:nvSpPr>
        <p:spPr>
          <a:xfrm>
            <a:off x="530352"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1" name="Shape 9"/>
          <p:cNvSpPr/>
          <p:nvPr/>
        </p:nvSpPr>
        <p:spPr>
          <a:xfrm>
            <a:off x="530352" y="1133856"/>
            <a:ext cx="5445252" cy="109728"/>
          </a:xfrm>
          <a:prstGeom prst="rect">
            <a:avLst/>
          </a:prstGeom>
          <a:solidFill>
            <a:srgbClr val="2C6E68"/>
          </a:solidFill>
          <a:ln w="12700">
            <a:solidFill>
              <a:srgbClr val="2C6E68">
                <a:alpha val="0"/>
              </a:srgbClr>
            </a:solidFill>
            <a:prstDash val="solid"/>
          </a:ln>
        </p:spPr>
      </p:sp>
      <p:sp>
        <p:nvSpPr>
          <p:cNvPr id="12" name="Text 10"/>
          <p:cNvSpPr/>
          <p:nvPr/>
        </p:nvSpPr>
        <p:spPr>
          <a:xfrm>
            <a:off x="694944"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D1-D30</a:t>
            </a:r>
            <a:endParaRPr lang="en-US" sz="1550" dirty="0"/>
          </a:p>
        </p:txBody>
      </p:sp>
      <p:sp>
        <p:nvSpPr>
          <p:cNvPr id="13" name="Text 11"/>
          <p:cNvSpPr/>
          <p:nvPr/>
        </p:nvSpPr>
        <p:spPr>
          <a:xfrm>
            <a:off x="694944"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完成最小闭环：内容 → 留资 → 评估 → 支付 → 履约 → 随访。</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目标：证明这不是只会出内容的空系统。</a:t>
            </a:r>
            <a:endParaRPr lang="en-US" sz="1356" dirty="0"/>
          </a:p>
        </p:txBody>
      </p:sp>
      <p:sp>
        <p:nvSpPr>
          <p:cNvPr id="14" name="Shape 12"/>
          <p:cNvSpPr/>
          <p:nvPr/>
        </p:nvSpPr>
        <p:spPr>
          <a:xfrm>
            <a:off x="6195060" y="1133856"/>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5" name="Shape 13"/>
          <p:cNvSpPr/>
          <p:nvPr/>
        </p:nvSpPr>
        <p:spPr>
          <a:xfrm>
            <a:off x="6195060" y="1133856"/>
            <a:ext cx="5445252" cy="109728"/>
          </a:xfrm>
          <a:prstGeom prst="rect">
            <a:avLst/>
          </a:prstGeom>
          <a:solidFill>
            <a:srgbClr val="4A8F74"/>
          </a:solidFill>
          <a:ln w="12700">
            <a:solidFill>
              <a:srgbClr val="4A8F74">
                <a:alpha val="0"/>
              </a:srgbClr>
            </a:solidFill>
            <a:prstDash val="solid"/>
          </a:ln>
        </p:spPr>
      </p:sp>
      <p:sp>
        <p:nvSpPr>
          <p:cNvPr id="16" name="Text 14"/>
          <p:cNvSpPr/>
          <p:nvPr/>
        </p:nvSpPr>
        <p:spPr>
          <a:xfrm>
            <a:off x="6359652" y="1298448"/>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D31-D60</a:t>
            </a:r>
            <a:endParaRPr lang="en-US" sz="1550" dirty="0"/>
          </a:p>
        </p:txBody>
      </p:sp>
      <p:sp>
        <p:nvSpPr>
          <p:cNvPr id="17" name="Text 15"/>
          <p:cNvSpPr/>
          <p:nvPr/>
        </p:nvSpPr>
        <p:spPr>
          <a:xfrm>
            <a:off x="6359652" y="1664208"/>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固定主打品类与主打渠道。</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补齐企微节奏、顾问话术、自动提醒、伙伴协同。</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目标：跑出第一条可复制链路。</a:t>
            </a:r>
            <a:endParaRPr lang="en-US" sz="1356" dirty="0"/>
          </a:p>
        </p:txBody>
      </p:sp>
      <p:sp>
        <p:nvSpPr>
          <p:cNvPr id="18" name="Shape 16"/>
          <p:cNvSpPr/>
          <p:nvPr/>
        </p:nvSpPr>
        <p:spPr>
          <a:xfrm>
            <a:off x="530352"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19" name="Shape 17"/>
          <p:cNvSpPr/>
          <p:nvPr/>
        </p:nvSpPr>
        <p:spPr>
          <a:xfrm>
            <a:off x="530352" y="3781044"/>
            <a:ext cx="5445252" cy="109728"/>
          </a:xfrm>
          <a:prstGeom prst="rect">
            <a:avLst/>
          </a:prstGeom>
          <a:solidFill>
            <a:srgbClr val="B3883B"/>
          </a:solidFill>
          <a:ln w="12700">
            <a:solidFill>
              <a:srgbClr val="B3883B">
                <a:alpha val="0"/>
              </a:srgbClr>
            </a:solidFill>
            <a:prstDash val="solid"/>
          </a:ln>
        </p:spPr>
      </p:sp>
      <p:sp>
        <p:nvSpPr>
          <p:cNvPr id="20" name="Text 18"/>
          <p:cNvSpPr/>
          <p:nvPr/>
        </p:nvSpPr>
        <p:spPr>
          <a:xfrm>
            <a:off x="694944"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D61-D90</a:t>
            </a:r>
            <a:endParaRPr lang="en-US" sz="1550" dirty="0"/>
          </a:p>
        </p:txBody>
      </p:sp>
      <p:sp>
        <p:nvSpPr>
          <p:cNvPr id="21" name="Text 19"/>
          <p:cNvSpPr/>
          <p:nvPr/>
        </p:nvSpPr>
        <p:spPr>
          <a:xfrm>
            <a:off x="694944"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放大第二圈和第三圈，谨慎导入处方类私域服务。</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开始看 MRR、复购和组合盒表现。</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目标：形成正向经营飞轮。</a:t>
            </a:r>
            <a:endParaRPr lang="en-US" sz="1356" dirty="0"/>
          </a:p>
        </p:txBody>
      </p:sp>
      <p:sp>
        <p:nvSpPr>
          <p:cNvPr id="22" name="Shape 20"/>
          <p:cNvSpPr/>
          <p:nvPr/>
        </p:nvSpPr>
        <p:spPr>
          <a:xfrm>
            <a:off x="6195060" y="3781044"/>
            <a:ext cx="5445252" cy="2427732"/>
          </a:xfrm>
          <a:prstGeom prst="roundRect">
            <a:avLst>
              <a:gd name="adj" fmla="val 3013"/>
            </a:avLst>
          </a:prstGeom>
          <a:solidFill>
            <a:srgbClr val="FFFFFF"/>
          </a:solidFill>
          <a:ln w="12700">
            <a:solidFill>
              <a:srgbClr val="E6E1D8"/>
            </a:solidFill>
            <a:prstDash val="solid"/>
          </a:ln>
          <a:effectLst>
            <a:outerShdw sx="100000" sy="100000" kx="0" ky="0" algn="bl" rotWithShape="0" blurRad="19050" dist="10160" dir="2700000">
              <a:srgbClr val="7F8C88">
                <a:alpha val="12000"/>
              </a:srgbClr>
            </a:outerShdw>
          </a:effectLst>
        </p:spPr>
      </p:sp>
      <p:sp>
        <p:nvSpPr>
          <p:cNvPr id="23" name="Shape 21"/>
          <p:cNvSpPr/>
          <p:nvPr/>
        </p:nvSpPr>
        <p:spPr>
          <a:xfrm>
            <a:off x="6195060" y="3781044"/>
            <a:ext cx="5445252" cy="109728"/>
          </a:xfrm>
          <a:prstGeom prst="rect">
            <a:avLst/>
          </a:prstGeom>
          <a:solidFill>
            <a:srgbClr val="5078A5"/>
          </a:solidFill>
          <a:ln w="12700">
            <a:solidFill>
              <a:srgbClr val="5078A5">
                <a:alpha val="0"/>
              </a:srgbClr>
            </a:solidFill>
            <a:prstDash val="solid"/>
          </a:ln>
        </p:spPr>
      </p:sp>
      <p:sp>
        <p:nvSpPr>
          <p:cNvPr id="24" name="Text 22"/>
          <p:cNvSpPr/>
          <p:nvPr/>
        </p:nvSpPr>
        <p:spPr>
          <a:xfrm>
            <a:off x="6359652" y="3945636"/>
            <a:ext cx="5116068" cy="310896"/>
          </a:xfrm>
          <a:prstGeom prst="rect">
            <a:avLst/>
          </a:prstGeom>
          <a:noFill/>
          <a:ln/>
        </p:spPr>
        <p:txBody>
          <a:bodyPr wrap="square" lIns="0" tIns="0" rIns="0" bIns="0" rtlCol="0" anchor="ctr"/>
          <a:lstStyle/>
          <a:p>
            <a:pPr indent="0" marL="0">
              <a:buNone/>
            </a:pPr>
            <a:r>
              <a:rPr lang="en-US" sz="1550" b="1" dirty="0">
                <a:solidFill>
                  <a:srgbClr val="18322F"/>
                </a:solidFill>
                <a:latin typeface="Heiti SC" pitchFamily="34" charset="0"/>
                <a:ea typeface="Heiti SC" pitchFamily="34" charset="-122"/>
                <a:cs typeface="Heiti SC" pitchFamily="34" charset="-120"/>
              </a:rPr>
              <a:t>6 条行动方针</a:t>
            </a:r>
            <a:endParaRPr lang="en-US" sz="1550" dirty="0"/>
          </a:p>
        </p:txBody>
      </p:sp>
      <p:sp>
        <p:nvSpPr>
          <p:cNvPr id="25" name="Text 23"/>
          <p:cNvSpPr/>
          <p:nvPr/>
        </p:nvSpPr>
        <p:spPr>
          <a:xfrm>
            <a:off x="6359652" y="4311396"/>
            <a:ext cx="5116068" cy="1714500"/>
          </a:xfrm>
          <a:prstGeom prst="rect">
            <a:avLst/>
          </a:prstGeom>
          <a:noFill/>
          <a:ln/>
        </p:spPr>
        <p:txBody>
          <a:bodyPr wrap="square" lIns="0" tIns="0" rIns="0" bIns="0" rtlCol="0" anchor="t">
            <a:normAutofit/>
          </a:bodyPr>
          <a:lstStyle/>
          <a:p>
            <a:pPr indent="0" marL="0">
              <a:buNone/>
            </a:pPr>
            <a:r>
              <a:rPr lang="en-US" sz="1356" dirty="0">
                <a:solidFill>
                  <a:srgbClr val="18322F"/>
                </a:solidFill>
                <a:latin typeface="Heiti SC" pitchFamily="34" charset="0"/>
                <a:ea typeface="Heiti SC" pitchFamily="34" charset="-122"/>
                <a:cs typeface="Heiti SC" pitchFamily="34" charset="-120"/>
              </a:rPr>
              <a:t>合规优先于规模；</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复购优先于首单；</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现金流优先于利润幻想；</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系统优先于人肉补洞；</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数据优先于感觉；</a:t>
            </a:r>
            <a:endParaRPr lang="en-US" sz="1356" dirty="0"/>
          </a:p>
          <a:p>
            <a:pPr indent="0" marL="0">
              <a:buNone/>
            </a:pPr>
            <a:r>
              <a:rPr lang="en-US" sz="1356" dirty="0">
                <a:solidFill>
                  <a:srgbClr val="18322F"/>
                </a:solidFill>
                <a:latin typeface="Heiti SC" pitchFamily="34" charset="0"/>
                <a:ea typeface="Heiti SC" pitchFamily="34" charset="-122"/>
                <a:cs typeface="Heiti SC" pitchFamily="34" charset="-120"/>
              </a:rPr>
              <a:t>慢一点没关系，但边界不能错。</a:t>
            </a:r>
            <a:endParaRPr lang="en-US" sz="1356" dirty="0"/>
          </a:p>
        </p:txBody>
      </p:sp>
    </p:spTree>
  </p:cSld>
  <p:clrMapOvr>
    <a:masterClrMapping/>
  </p:clrMapOvr>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53633"/>
        </a:solidFill>
      </p:bgPr>
    </p:bg>
    <p:spTree>
      <p:nvGrpSpPr>
        <p:cNvPr id="1" name=""/>
        <p:cNvGrpSpPr/>
        <p:nvPr/>
      </p:nvGrpSpPr>
      <p:grpSpPr/>
      <p:sp>
        <p:nvSpPr>
          <p:cNvPr id="2" name="Shape 0"/>
          <p:cNvSpPr/>
          <p:nvPr/>
        </p:nvSpPr>
        <p:spPr>
          <a:xfrm>
            <a:off x="0" y="0"/>
            <a:ext cx="12191695" cy="164592"/>
          </a:xfrm>
          <a:prstGeom prst="rect">
            <a:avLst/>
          </a:prstGeom>
          <a:solidFill>
            <a:srgbClr val="B98A3C"/>
          </a:solidFill>
          <a:ln w="12700">
            <a:solidFill>
              <a:srgbClr val="B98A3C">
                <a:alpha val="0"/>
              </a:srgbClr>
            </a:solidFill>
            <a:prstDash val="solid"/>
          </a:ln>
        </p:spPr>
      </p:sp>
      <p:sp>
        <p:nvSpPr>
          <p:cNvPr id="3" name="Text 1"/>
          <p:cNvSpPr/>
          <p:nvPr/>
        </p:nvSpPr>
        <p:spPr>
          <a:xfrm>
            <a:off x="658368" y="603504"/>
            <a:ext cx="3474720" cy="402336"/>
          </a:xfrm>
          <a:prstGeom prst="rect">
            <a:avLst/>
          </a:prstGeom>
          <a:noFill/>
          <a:ln/>
        </p:spPr>
        <p:txBody>
          <a:bodyPr wrap="square" lIns="0" tIns="0" rIns="0" bIns="0" rtlCol="0" anchor="ctr"/>
          <a:lstStyle/>
          <a:p>
            <a:pPr indent="0" marL="0">
              <a:buNone/>
            </a:pPr>
            <a:r>
              <a:rPr lang="en-US" sz="2800" b="1" dirty="0">
                <a:solidFill>
                  <a:srgbClr val="FFFFFF"/>
                </a:solidFill>
                <a:latin typeface="Heiti SC" pitchFamily="34" charset="0"/>
                <a:ea typeface="Heiti SC" pitchFamily="34" charset="-122"/>
                <a:cs typeface="Heiti SC" pitchFamily="34" charset="-120"/>
              </a:rPr>
              <a:t>MediSlim</a:t>
            </a:r>
            <a:endParaRPr lang="en-US" sz="2800" dirty="0"/>
          </a:p>
        </p:txBody>
      </p:sp>
      <p:sp>
        <p:nvSpPr>
          <p:cNvPr id="4" name="Text 2"/>
          <p:cNvSpPr/>
          <p:nvPr/>
        </p:nvSpPr>
        <p:spPr>
          <a:xfrm>
            <a:off x="658368" y="1243584"/>
            <a:ext cx="5303520" cy="493776"/>
          </a:xfrm>
          <a:prstGeom prst="rect">
            <a:avLst/>
          </a:prstGeom>
          <a:noFill/>
          <a:ln/>
        </p:spPr>
        <p:txBody>
          <a:bodyPr wrap="square" lIns="0" tIns="0" rIns="0" bIns="0" rtlCol="0" anchor="ctr"/>
          <a:lstStyle/>
          <a:p>
            <a:pPr indent="0" marL="0">
              <a:buNone/>
            </a:pPr>
            <a:r>
              <a:rPr lang="en-US" sz="2400" b="1" dirty="0">
                <a:solidFill>
                  <a:srgbClr val="FFFFFF"/>
                </a:solidFill>
                <a:latin typeface="Heiti SC" pitchFamily="34" charset="0"/>
                <a:ea typeface="Heiti SC" pitchFamily="34" charset="-122"/>
                <a:cs typeface="Heiti SC" pitchFamily="34" charset="-120"/>
              </a:rPr>
              <a:t>技术能力与技术壁垒</a:t>
            </a:r>
            <a:endParaRPr lang="en-US" sz="2400" dirty="0"/>
          </a:p>
        </p:txBody>
      </p:sp>
      <p:sp>
        <p:nvSpPr>
          <p:cNvPr id="5" name="Text 3"/>
          <p:cNvSpPr/>
          <p:nvPr/>
        </p:nvSpPr>
        <p:spPr>
          <a:xfrm>
            <a:off x="658368" y="1865376"/>
            <a:ext cx="6035040" cy="749808"/>
          </a:xfrm>
          <a:prstGeom prst="rect">
            <a:avLst/>
          </a:prstGeom>
          <a:noFill/>
          <a:ln/>
        </p:spPr>
        <p:txBody>
          <a:bodyPr wrap="square" lIns="0" tIns="0" rIns="0" bIns="0" rtlCol="0" anchor="ctr"/>
          <a:lstStyle/>
          <a:p>
            <a:pPr indent="0" marL="0">
              <a:buNone/>
            </a:pPr>
            <a:r>
              <a:rPr lang="en-US" sz="1550" dirty="0">
                <a:solidFill>
                  <a:srgbClr val="D8E8E4"/>
                </a:solidFill>
                <a:latin typeface="Heiti SC" pitchFamily="34" charset="0"/>
                <a:ea typeface="Heiti SC" pitchFamily="34" charset="-122"/>
                <a:cs typeface="Heiti SC" pitchFamily="34" charset="-120"/>
              </a:rPr>
              <a:t>10 页版本：说明我们今天已经做成了什么系统，以及这些系统为什么有机会积累成真正的壁垒</a:t>
            </a:r>
            <a:endParaRPr lang="en-US" sz="1550" dirty="0"/>
          </a:p>
        </p:txBody>
      </p:sp>
      <p:sp>
        <p:nvSpPr>
          <p:cNvPr id="6" name="Shape 4"/>
          <p:cNvSpPr/>
          <p:nvPr/>
        </p:nvSpPr>
        <p:spPr>
          <a:xfrm>
            <a:off x="658368" y="4005072"/>
            <a:ext cx="1783080" cy="1115568"/>
          </a:xfrm>
          <a:prstGeom prst="roundRect">
            <a:avLst>
              <a:gd name="adj" fmla="val 6557"/>
            </a:avLst>
          </a:prstGeom>
          <a:solidFill>
            <a:srgbClr val="2D6D67"/>
          </a:solidFill>
          <a:ln w="12700">
            <a:solidFill>
              <a:srgbClr val="2D6D67">
                <a:alpha val="0"/>
              </a:srgbClr>
            </a:solidFill>
            <a:prstDash val="solid"/>
          </a:ln>
        </p:spPr>
      </p:sp>
      <p:sp>
        <p:nvSpPr>
          <p:cNvPr id="7" name="Text 5"/>
          <p:cNvSpPr/>
          <p:nvPr/>
        </p:nvSpPr>
        <p:spPr>
          <a:xfrm>
            <a:off x="768096"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交易引擎</a:t>
            </a:r>
            <a:endParaRPr lang="en-US" sz="1100" dirty="0"/>
          </a:p>
        </p:txBody>
      </p:sp>
      <p:sp>
        <p:nvSpPr>
          <p:cNvPr id="8" name="Text 6"/>
          <p:cNvSpPr/>
          <p:nvPr/>
        </p:nvSpPr>
        <p:spPr>
          <a:xfrm>
            <a:off x="749808"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评估 → 订单 → 状态机 → 履约</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不是单页面 Demo，而是流程系统</a:t>
            </a:r>
            <a:endParaRPr lang="en-US" sz="860" dirty="0"/>
          </a:p>
        </p:txBody>
      </p:sp>
      <p:sp>
        <p:nvSpPr>
          <p:cNvPr id="9" name="Shape 7"/>
          <p:cNvSpPr/>
          <p:nvPr/>
        </p:nvSpPr>
        <p:spPr>
          <a:xfrm>
            <a:off x="2651760" y="4005072"/>
            <a:ext cx="1783080" cy="1115568"/>
          </a:xfrm>
          <a:prstGeom prst="roundRect">
            <a:avLst>
              <a:gd name="adj" fmla="val 6557"/>
            </a:avLst>
          </a:prstGeom>
          <a:solidFill>
            <a:srgbClr val="4D9077"/>
          </a:solidFill>
          <a:ln w="12700">
            <a:solidFill>
              <a:srgbClr val="4D9077">
                <a:alpha val="0"/>
              </a:srgbClr>
            </a:solidFill>
            <a:prstDash val="solid"/>
          </a:ln>
        </p:spPr>
      </p:sp>
      <p:sp>
        <p:nvSpPr>
          <p:cNvPr id="10" name="Text 8"/>
          <p:cNvSpPr/>
          <p:nvPr/>
        </p:nvSpPr>
        <p:spPr>
          <a:xfrm>
            <a:off x="2761488"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增长引擎</a:t>
            </a:r>
            <a:endParaRPr lang="en-US" sz="1100" dirty="0"/>
          </a:p>
        </p:txBody>
      </p:sp>
      <p:sp>
        <p:nvSpPr>
          <p:cNvPr id="11" name="Text 9"/>
          <p:cNvSpPr/>
          <p:nvPr/>
        </p:nvSpPr>
        <p:spPr>
          <a:xfrm>
            <a:off x="2743200"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内容生成 → 追踪 → 漏斗 → 排期 → A/B</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从素材到转化形成闭环</a:t>
            </a:r>
            <a:endParaRPr lang="en-US" sz="860" dirty="0"/>
          </a:p>
        </p:txBody>
      </p:sp>
      <p:sp>
        <p:nvSpPr>
          <p:cNvPr id="12" name="Shape 10"/>
          <p:cNvSpPr/>
          <p:nvPr/>
        </p:nvSpPr>
        <p:spPr>
          <a:xfrm>
            <a:off x="4645152" y="4005072"/>
            <a:ext cx="1783080" cy="1115568"/>
          </a:xfrm>
          <a:prstGeom prst="roundRect">
            <a:avLst>
              <a:gd name="adj" fmla="val 6557"/>
            </a:avLst>
          </a:prstGeom>
          <a:solidFill>
            <a:srgbClr val="B98A3C"/>
          </a:solidFill>
          <a:ln w="12700">
            <a:solidFill>
              <a:srgbClr val="B98A3C">
                <a:alpha val="0"/>
              </a:srgbClr>
            </a:solidFill>
            <a:prstDash val="solid"/>
          </a:ln>
        </p:spPr>
      </p:sp>
      <p:sp>
        <p:nvSpPr>
          <p:cNvPr id="13" name="Text 11"/>
          <p:cNvSpPr/>
          <p:nvPr/>
        </p:nvSpPr>
        <p:spPr>
          <a:xfrm>
            <a:off x="4754880"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壁垒方向</a:t>
            </a:r>
            <a:endParaRPr lang="en-US" sz="1100" dirty="0"/>
          </a:p>
        </p:txBody>
      </p:sp>
      <p:sp>
        <p:nvSpPr>
          <p:cNvPr id="14" name="Text 12"/>
          <p:cNvSpPr/>
          <p:nvPr/>
        </p:nvSpPr>
        <p:spPr>
          <a:xfrm>
            <a:off x="4736592"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结构化健康数据</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运营自动化</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伙伴抽象层</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内容-成交飞轮</a:t>
            </a:r>
            <a:endParaRPr lang="en-US" sz="860" dirty="0"/>
          </a:p>
        </p:txBody>
      </p:sp>
      <p:sp>
        <p:nvSpPr>
          <p:cNvPr id="15" name="Shape 13"/>
          <p:cNvSpPr/>
          <p:nvPr/>
        </p:nvSpPr>
        <p:spPr>
          <a:xfrm>
            <a:off x="7726680" y="914400"/>
            <a:ext cx="3803904" cy="4572000"/>
          </a:xfrm>
          <a:prstGeom prst="roundRect">
            <a:avLst>
              <a:gd name="adj" fmla="val 2885"/>
            </a:avLst>
          </a:prstGeom>
          <a:solidFill>
            <a:srgbClr val="244B46"/>
          </a:solidFill>
          <a:ln w="12700">
            <a:solidFill>
              <a:srgbClr val="3C5A56"/>
            </a:solidFill>
            <a:prstDash val="solid"/>
          </a:ln>
        </p:spPr>
      </p:sp>
      <p:sp>
        <p:nvSpPr>
          <p:cNvPr id="16" name="Text 14"/>
          <p:cNvSpPr/>
          <p:nvPr/>
        </p:nvSpPr>
        <p:spPr>
          <a:xfrm>
            <a:off x="8046720" y="1316736"/>
            <a:ext cx="2011680" cy="219456"/>
          </a:xfrm>
          <a:prstGeom prst="rect">
            <a:avLst/>
          </a:prstGeom>
          <a:noFill/>
          <a:ln/>
        </p:spPr>
        <p:txBody>
          <a:bodyPr wrap="square" lIns="0" tIns="0" rIns="0" bIns="0" rtlCol="0" anchor="ctr"/>
          <a:lstStyle/>
          <a:p>
            <a:pPr indent="0" marL="0">
              <a:buNone/>
            </a:pPr>
            <a:r>
              <a:rPr lang="en-US" sz="1600" b="1" dirty="0">
                <a:solidFill>
                  <a:srgbClr val="FFFFFF"/>
                </a:solidFill>
                <a:latin typeface="Heiti SC" pitchFamily="34" charset="0"/>
                <a:ea typeface="Heiti SC" pitchFamily="34" charset="-122"/>
                <a:cs typeface="Heiti SC" pitchFamily="34" charset="-120"/>
              </a:rPr>
              <a:t>一句话技术 thesis</a:t>
            </a:r>
            <a:endParaRPr lang="en-US" sz="1600" dirty="0"/>
          </a:p>
        </p:txBody>
      </p:sp>
      <p:sp>
        <p:nvSpPr>
          <p:cNvPr id="17" name="Text 15"/>
          <p:cNvSpPr/>
          <p:nvPr/>
        </p:nvSpPr>
        <p:spPr>
          <a:xfrm>
            <a:off x="8046720" y="1773936"/>
            <a:ext cx="3090672" cy="3401568"/>
          </a:xfrm>
          <a:prstGeom prst="rect">
            <a:avLst/>
          </a:prstGeom>
          <a:noFill/>
          <a:ln/>
        </p:spPr>
        <p:txBody>
          <a:bodyPr wrap="square" lIns="0" tIns="0" rIns="0" bIns="0" rtlCol="0" anchor="t">
            <a:normAutofit/>
          </a:bodyPr>
          <a:lstStyle/>
          <a:p>
            <a:pPr indent="0" marL="0">
              <a:buNone/>
            </a:pPr>
            <a:r>
              <a:rPr lang="en-US" sz="1497" dirty="0">
                <a:solidFill>
                  <a:srgbClr val="E6F0ED"/>
                </a:solidFill>
                <a:latin typeface="Heiti SC" pitchFamily="34" charset="0"/>
                <a:ea typeface="Heiti SC" pitchFamily="34" charset="-122"/>
                <a:cs typeface="Heiti SC" pitchFamily="34" charset="-120"/>
              </a:rPr>
              <a:t>MediSlim 的技术并不是一个孤立 AI 聊天工具，而是一套围绕“获客、评估、成交、履约、复购、再获客”建立的运营系统。真正的壁垒不是大模型本身，而是这套系统持续沉淀出来的用户画像、流程数据、转化经验和伙伴协同能力。</a:t>
            </a:r>
            <a:endParaRPr lang="en-US" sz="1497" dirty="0"/>
          </a:p>
        </p:txBody>
      </p:sp>
      <p:sp>
        <p:nvSpPr>
          <p:cNvPr id="18" name="Text 16"/>
          <p:cNvSpPr/>
          <p:nvPr/>
        </p:nvSpPr>
        <p:spPr>
          <a:xfrm>
            <a:off x="658368" y="6272784"/>
            <a:ext cx="7498080" cy="164592"/>
          </a:xfrm>
          <a:prstGeom prst="rect">
            <a:avLst/>
          </a:prstGeom>
          <a:noFill/>
          <a:ln/>
        </p:spPr>
        <p:txBody>
          <a:bodyPr wrap="square" lIns="0" tIns="0" rIns="0" bIns="0" rtlCol="0" anchor="ctr"/>
          <a:lstStyle/>
          <a:p>
            <a:pPr indent="0" marL="0">
              <a:buNone/>
            </a:pPr>
            <a:r>
              <a:rPr lang="en-US" sz="860" dirty="0">
                <a:solidFill>
                  <a:srgbClr val="C8D7D3"/>
                </a:solidFill>
                <a:latin typeface="Heiti SC" pitchFamily="34" charset="0"/>
                <a:ea typeface="Heiti SC" pitchFamily="34" charset="-122"/>
                <a:cs typeface="Heiti SC" pitchFamily="34" charset="-120"/>
              </a:rPr>
              <a:t>证据来源：当前仓库中的 app.py / admin.py / order_flow.py / content_engine/* / data/*</a:t>
            </a:r>
            <a:endParaRPr lang="en-US" sz="860" dirty="0"/>
          </a:p>
        </p:txBody>
      </p:sp>
      <p:sp>
        <p:nvSpPr>
          <p:cNvPr id="19" name="Text 17"/>
          <p:cNvSpPr/>
          <p:nvPr/>
        </p:nvSpPr>
        <p:spPr>
          <a:xfrm>
            <a:off x="11045952" y="6455664"/>
            <a:ext cx="585216" cy="164592"/>
          </a:xfrm>
          <a:prstGeom prst="rect">
            <a:avLst/>
          </a:prstGeom>
          <a:noFill/>
          <a:ln/>
        </p:spPr>
        <p:txBody>
          <a:bodyPr wrap="square" lIns="0" tIns="0" rIns="0" bIns="0" rtlCol="0" anchor="ctr"/>
          <a:lstStyle/>
          <a:p>
            <a:pPr algn="r" indent="0" marL="0">
              <a:buNone/>
            </a:pPr>
            <a:r>
              <a:rPr lang="en-US" sz="950" b="1" dirty="0">
                <a:solidFill>
                  <a:srgbClr val="FFFFFF"/>
                </a:solidFill>
                <a:latin typeface="Heiti SC" pitchFamily="34" charset="0"/>
                <a:ea typeface="Heiti SC" pitchFamily="34" charset="-122"/>
                <a:cs typeface="Heiti SC" pitchFamily="34" charset="-120"/>
              </a:rPr>
              <a:t>01</a:t>
            </a:r>
            <a:endParaRPr lang="en-US" sz="950" dirty="0"/>
          </a:p>
        </p:txBody>
      </p:sp>
    </p:spTree>
  </p:cSld>
  <p:clrMapOvr>
    <a:masterClrMapping/>
  </p:clrMapOvr>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当前技术架构总览</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从代码看，MediSlim 已经具备“前台交易 + 后台运营 + 内容增长 + 数据存储”的四层骨架</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架构</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02</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前台交易层</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app.py 提供产品展示、评估问卷、下单、订单状态、合作医院/药房信息等接口。它是用户侧主入口。</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后台控制层</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admin.py 负责 CRM、订单总览、内容管理、平台配置、系统健康检查，是运营控制平面。</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增长引擎层</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content_engine 下有 copywriter、batch_generator、tracking、scheduler、ab_testing、preview_server、card_renderer，说明增长系统是独立模块。</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数据与流程层</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storage.py、order_flow.py、data/users.json、crm_users.json、leads.json、orders.json 组成了最小但完整的交易与画像数据底座。</a:t>
            </a:r>
            <a:endParaRPr lang="en-US" sz="1316" dirty="0"/>
          </a:p>
        </p:txBody>
      </p:sp>
    </p:spTree>
  </p:cSld>
  <p:clrMapOvr>
    <a:masterClrMapping/>
  </p:clrMapOvr>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交易系统能力：从评估到订单履约</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这部分是最接近收入的核心技术能力，也是未来平台 API 化的基础</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交易</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03</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多品类评估引擎</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app.py 中已为 glp1、hair、skin、mens、sleep 配置不同评估题组。说明系统已经具备多业务线的规则化评估能力。</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订单生命周期引擎</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order_flow.py 将订单拆成 pending_payment、paid、doctor_review、approved、pharmacy_processing、shipped、delivered、completed 等状态，并支持合法动作推进。</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时间线与可追溯</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每个订单记录 timeline、payment、doctor_review、fulfillment、attribution。也就是说，平台已经把“发生过什么”做成了结构化事件。</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伙伴抽象层</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医院、药房、物流等都被表达成合作节点，而不是写死在页面里。这是未来对接真实互联网医院/药房 API 的基础。</a:t>
            </a:r>
            <a:endParaRPr lang="en-US" sz="1316" dirty="0"/>
          </a:p>
        </p:txBody>
      </p:sp>
    </p:spTree>
  </p:cSld>
  <p:clrMapOvr>
    <a:masterClrMapping/>
  </p:clrMapOvr>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控制平面能力：运营后台不是看板，而是调度台</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真正能支撑一人公司运转的，不是页面数量，而是后台能否成为控制中心</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控制</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04</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统一视图</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admin.py 会合并 users 与 crm_users，按手机号/用户 ID 统一用户视图。这意味着系统已经开始形成“一个人、一份全量视图”的基础。</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系统健康检查</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后台内置对主站、后台、内容工厂、转化追踪服务的健康检查。技术上已经在往“服务化运维”靠近。</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订单运营接口</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后台不仅能看订单，还能通过 /api/admin/orders/action 去推动状态变化，说明运营动作被设计成可调用接口。</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平台接入配置</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微信公众号、小程序、企业微信、小红书、抖音、支付宝、微信支付、顺丰等都被做成平台配置对象。这是标准化接入层的雏形。</a:t>
            </a:r>
            <a:endParaRPr lang="en-US" sz="1316" dirty="0"/>
          </a:p>
        </p:txBody>
      </p:sp>
    </p:spTree>
  </p:cSld>
  <p:clrMapOvr>
    <a:masterClrMapping/>
  </p:clrMapOvr>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内容工厂能力：不是发内容，而是工业化生成与分发</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这一层是 MediSlim 最明显区别于普通电商站点的能力</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增长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05</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文案引擎</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copywriter.py 把产品、痛点、收益、场景、钩子公式、风格模板组合起来，可自动生成大量变体。它不是单条文案写作，而是参数化文案生产。</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批量生成器</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batch_generator.py 把文案、配色、卡片渲染、追踪链接整合起来，能一次生成数百到上千套内容资产。</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视觉渲染引擎</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card_renderer.py 用 HTML 模板 + Playwright 截图生成小红书标准尺寸 PNG。说明视觉内容也被纳入自动化链路，而不是靠手工设计。</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预览与筛选</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preview_server.py 可浏览、筛选、预览已生成内容，说明内容库已经具备运营层面的可消费性，而不是只停留在脚本产物。</a:t>
            </a:r>
            <a:endParaRPr lang="en-US" sz="1316" dirty="0"/>
          </a:p>
        </p:txBody>
      </p:sp>
    </p:spTree>
  </p:cSld>
  <p:clrMapOvr>
    <a:masterClrMapping/>
  </p:clrMapOvr>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转化追踪与 A/B 优化：增长系统的真正价值在闭环</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如果没有这一层，内容工厂只是降本工具；有了这一层，它才开始变成壁垒</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增长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06</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UTM 与追踪码</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tracking.py 为每条内容生成 track_code、landing_url、CTA comments，并把平台、品类、内容 ID 编码进来源链路。</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事件模型</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系统已定义 impression、click、comment、landing、assess_start、assess_done、order_create、order_pay、reorder 等事件。这个模型直接覆盖从曝光到复购的漏斗。</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漏斗与排名</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tracking.py 和 ab_testing.py 可以按 track_code 和 product 统计漏斗、算权重得分、输出 top 内容与洞察。增长已经进入可量化优化阶段。</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智能排期</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scheduler.py 会结合内容得分、发布时间、历史表现自动生成每日发布计划。这表示平台开始从“内容生产”走向“内容调度”。</a:t>
            </a:r>
            <a:endParaRPr lang="en-US" sz="1316" dirty="0"/>
          </a:p>
        </p:txBody>
      </p:sp>
    </p:spTree>
  </p:cSld>
  <p:clrMapOvr>
    <a:masterClrMapping/>
  </p:clrMapOvr>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数据飞轮：什么数据正在沉淀，为什么它会变成资产</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壁垒来自结构化数据的持续积累，而不是模型调用次数</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数据</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07</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健康与需求数据</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评估问卷沉淀的是用户诉求、症状、风险和偏好。随着样本增加，推荐规则会越来越贴近真实成交逻辑。</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交易与履约数据</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订单状态、支付、审核、物流、完成与取消理由，会沉淀出一套真实的服务质量与转化数据集。</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营销与内容数据</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每条内容的追踪码、事件序列、转化得分，会让系统知道“什么内容吸引什么用户、最后带来什么订单”。</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用户生命周期数据</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CRM 用户池、lifecycle、orders、value_score 等字段说明平台正在形成“从线索到 VIP”的用户经营画像。这是长期护城河。</a:t>
            </a:r>
            <a:endParaRPr lang="en-US" sz="1316" dirty="0"/>
          </a:p>
        </p:txBody>
      </p:sp>
    </p:spTree>
  </p:cSld>
  <p:clrMapOvr>
    <a:masterClrMapping/>
  </p:clrMapOvr>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技术壁垒 1：流程系统化，而不是功能堆叠</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很多团队能做页面，但做不出可运营的系统；很多团队能接模型，但做不出可追踪的经营骨架</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壁垒</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08</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A：流程抽象能力</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评估题组、订单状态机、顾问动作、平台配置、内容模板、追踪事件都被写成了可复用结构，而不是零散页面逻辑。</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B：运营 API 化</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订单动作、后台总览、内容调度、追踪看板都在向 API 化靠近。这意味着未来无论换前端、加 Agent、接伙伴，都不会推倒重来。</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C：低成本可维护</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当前大量使用原生 Python 与轻量 HTTP 服务，虽然不是重型企业架构，但对 OPC 来说极具效率优势。低复杂度本身就是壁垒。</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D：内容到成交同源</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内容引擎和交易引擎在同一仓库内演化，这使增长与成交天然共享语义、数据和规则，不容易被割裂。</a:t>
            </a:r>
            <a:endParaRPr lang="en-US" sz="1316" dirty="0"/>
          </a:p>
        </p:txBody>
      </p:sp>
    </p:spTree>
  </p:cSld>
  <p:clrMapOvr>
    <a:masterClrMapping/>
  </p:clrMapOvr>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技术壁垒 2：数据、合规边界与伙伴抽象会越跑越厚</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真正难复制的不是某一段代码，而是代码与业务边界共同沉淀出来的知识体系</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壁垒</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09</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数据壁垒</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当评估、转化、复购、投诉、内容表现积累到足够样本，MediSlim 会得到一套跨健康需求、跨渠道、跨流程的经营知识图谱。</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合规壁垒</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我们不是把医疗直接写进系统，而是把“该交给谁做”写进系统。边界越清晰，越能稳定扩品类与扩伙伴。</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伙伴壁垒</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一旦互联网医院、药房、物流、支付都被标准化接入，后续新增品类的成本会下降。这是平台化而非项目化的关键。</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运营认知壁垒</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系统不仅记住用户，也记住什么内容、什么动作、什么时机会成交。这个“经营操作系统”比单纯 AI 推荐更难复制。</a:t>
            </a:r>
            <a:endParaRPr lang="en-US" sz="1316" dirty="0"/>
          </a:p>
        </p:txBody>
      </p:sp>
    </p:spTree>
  </p:cSld>
  <p:clrMapOvr>
    <a:masterClrMapping/>
  </p:clrMapOvr>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BF9F4"/>
        </a:solidFill>
      </p:bgPr>
    </p:bg>
    <p:spTree>
      <p:nvGrpSpPr>
        <p:cNvPr id="1" name=""/>
        <p:cNvGrpSpPr/>
        <p:nvPr/>
      </p:nvGrpSpPr>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未来 12 个月技术路线：把骨架做成真正的平台</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最后一页回答两件事：我们下一步补什么，以及壁垒会怎么继续长厚</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路线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10</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0-3 个月</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补齐支付闭环、企微承接、订阅管理、伙伴 API 接口、体质辨识模块，把已有骨架做成真实可跑的交易系统。</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3-6 个月</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把数据看板从单点统计升级成统一经营中心，打通线索、订单、内容、客服、复购，形成日/周/月经营自动报告。</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6-12 个月</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沉淀画像与推荐规则，形成“人群 x 内容 x 产品 x 时机”的决策引擎；同时将伙伴接入与新 SKU 接入彻底标准化。</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一句话结论</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MediSlim 当前最有价值的技术，不是某个模型调用，而是已经在代码层形成了一个围绕健康消费生意运转的最小操作系统。只要继续让数据和流程在这套系统里累积，技术壁垒会比页面和内容更快变厚。</a:t>
            </a:r>
            <a:endParaRPr lang="en-US" sz="1316" dirty="0"/>
          </a:p>
        </p:txBody>
      </p:sp>
    </p:spTree>
  </p:cSld>
  <p:clrMapOvr>
    <a:masterClrMapping/>
  </p:clrMapOvr>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